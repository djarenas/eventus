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5" r:id="rId2"/>
    <p:sldId id="266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-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20:42:07.17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0 24575,'7'1'0,"0"0"0,0 0 0,0 0 0,0 1 0,-1 0 0,1 1 0,-1-1 0,1 1 0,-1 0 0,0 1 0,10 7 0,8 7 0,32 32 0,-24-20 0,182 161 0,462 376 0,-573-499-1365,-72-49-5461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20:42:08.12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0 24575,'4'1'0,"0"0"0,0 1 0,0-1 0,0 0 0,0 1 0,0 0 0,-1 0 0,1 0 0,0 1 0,-1-1 0,0 1 0,1 0 0,3 5 0,3 0 0,579 476 0,34-40 0,129-30 0,-706-389 0,-1 3 0,-2 1 0,63 54 0,-13-9 0,224 129-1365,-289-186-5461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20:42:11.21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203 1 24575,'3'0'0,"0"1"0,0-1 0,0 1 0,0 0 0,0 0 0,0 0 0,0 1 0,-1-1 0,1 1 0,0-1 0,-1 1 0,1 0 0,-1 0 0,0 0 0,0 0 0,1 1 0,-1-1 0,-1 1 0,1-1 0,0 1 0,-1-1 0,1 1 0,1 5 0,5 11 0,-1-1 0,8 33 0,-8-26 0,-3-11 0,19 70 0,-21-76 0,-1 0 0,0 0 0,0 1 0,-1-1 0,0 0 0,0 0 0,-1 1 0,-2 8 0,2-13 0,-1-1 0,1 0 0,-1 1 0,0-1 0,0 0 0,0 0 0,-1 0 0,1 0 0,-1 0 0,1-1 0,-1 1 0,0-1 0,0 0 0,0 1 0,-1-1 0,-5 2 0,-64 23 0,52-20 0,-109 31-1365,74-24-5461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20:42:09.53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3971 0 24575,'-4'3'0,"0"-1"0,0 0 0,0 0 0,-1 0 0,1-1 0,-1 1 0,1-1 0,-1 0 0,1 0 0,-1-1 0,1 1 0,-1-1 0,0 0 0,-5-1 0,-16 2 0,-113 19 0,-217 60 0,232-49 0,-835 239 0,28 90 0,621-189 0,259-140 0,37-23 0,-1-1 0,0-1 0,0 0 0,-1 0 0,1-2 0,-18 3 0,-99 9 0,88-12 0,-57 11 0,43 0 0,0-3 0,-1-3 0,-108 4 0,-57-15-1365,188 2-5461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20:42:10.16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286 0 24575,'-25'24'0,"-2"-2"0,0 0 0,-53 31 0,-24 18 0,102-70 0,1 0 0,-1 0 0,1 0 0,-1 1 0,1-1 0,-1 0 0,1 1 0,0-1 0,0 1 0,0 0 0,0-1 0,0 1 0,0 0 0,0-1 0,0 1 0,1 0 0,-1 0 0,0 0 0,1 0 0,-1 3 0,2-3 0,-1-1 0,1 1 0,-1 0 0,1-1 0,0 1 0,0-1 0,0 1 0,0-1 0,0 0 0,0 1 0,0-1 0,0 0 0,0 0 0,0 1 0,1-1 0,-1 0 0,1 0 0,2 1 0,9 4 0,1 0 0,-1 0 0,1-2 0,20 5 0,-22-6 0,28 6 25,0-3 0,43 3 0,-1-1-1465,-59-5-5386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20:42:12.45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4662 0 24575,'0'18'0,"1"17"0,-1 1 0,-2 0 0,-2-1 0,-13 54 0,-5-18 0,-3-2 0,-3 0 0,-4-2 0,-2-2 0,-3-1 0,-2-2 0,-4-1 0,-2-2 0,-80 80 0,53-70 0,-3-3 0,-3-4 0,-2-3 0,-3-3 0,-2-5 0,-146 66 0,-265 83 0,1-1 0,182-64 0,-280 131 0,486-221 0,-3-4 0,-201 48 0,237-70 0,-120 32-107,-581 130-1151,737-175-5568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20:42:13.58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357 1 24575,'-3'1'0,"-1"0"0,1 0 0,0 0 0,0 1 0,0-1 0,0 1 0,0 0 0,0 0 0,0 0 0,0 0 0,0 0 0,1 1 0,0-1 0,-1 1 0,-2 4 0,-7 6 0,-99 80 0,76-67 0,2 2 0,0 2 0,-34 40 0,65-68 0,1 0 0,-1 0 0,1 0 0,-1 0 0,1 0 0,0 0 0,0 0 0,0 0 0,0 0 0,0 0 0,0 1 0,1-1 0,-1 0 0,1 0 0,0 1 0,-1-1 0,1 1 0,0-1 0,1 5 0,0-5 0,0 0 0,0 0 0,0 0 0,0 0 0,1 0 0,-1 0 0,0-1 0,1 1 0,0 0 0,-1-1 0,1 1 0,0-1 0,0 1 0,0-1 0,0 0 0,3 2 0,12 3 0,0 0 0,0-1 0,0-1 0,27 4 0,-13-3 0,293 64-1365,-271-60-5461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20:42:14.48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516 1 24575,'10'1'0,"0"1"0,0 0 0,0 1 0,-1 0 0,1 0 0,-1 1 0,0 1 0,0-1 0,-1 1 0,1 1 0,-1 0 0,0 0 0,0 0 0,-1 1 0,0 0 0,0 1 0,-1-1 0,0 1 0,0 1 0,6 11 0,-11-17 0,0 0 0,0 0 0,-1-1 0,1 1 0,-1 0 0,0 0 0,0 0 0,0 0 0,0 0 0,0 0 0,-1 0 0,1-1 0,-1 1 0,0 0 0,0 0 0,0 0 0,0-1 0,0 1 0,0-1 0,-1 1 0,0-1 0,1 1 0,-1-1 0,0 0 0,0 0 0,0 0 0,0 0 0,0 0 0,-4 2 0,-9 7 0,0-2 0,0 0 0,-31 12 0,30-13 0,-293 115 73,154-64-1511,60-21-5388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20:42:15.34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0 24575,'3'0'0,"1"6"0,0 9 0,-1 13 0,0 9 0,1 7 0,1 8 0,-1 5 0,3 2 0,-1 6 0,-1 2 0,1-2 0,1-2 0,-2-7 0,-1-5 0,-2-6 0,3-8 0,-1-9-8191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20:42:16.17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0 24575,'17'2'0,"-1"0"0,0 1 0,0 1 0,0 0 0,-1 2 0,20 8 0,-2-2 0,164 68 0,-109-41 0,1-5 0,118 29 0,-199-62 6,0 0 0,1 0-1,-1-1 1,1 0 0,-1-1-1,1 0 1,-1 0 0,0-1-1,0 0 1,1 0 0,-1-1-1,-1 0 1,1 0 0,0-1-1,-1 0 1,11-8 0,9-8-300,0-1 0,41-45 0,-50 48-286,16-16-6246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1T20:42:23.09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6208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BD98FE-2ECA-29F0-CBC6-27CDFF0C634B}"/>
              </a:ext>
            </a:extLst>
          </p:cNvPr>
          <p:cNvSpPr txBox="1"/>
          <p:nvPr/>
        </p:nvSpPr>
        <p:spPr>
          <a:xfrm>
            <a:off x="169817" y="634526"/>
            <a:ext cx="2468881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Semantics</a:t>
            </a:r>
          </a:p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"I know what columns mean"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D0BECE-032C-B05E-8016-6B42864B4776}"/>
              </a:ext>
            </a:extLst>
          </p:cNvPr>
          <p:cNvSpPr txBox="1"/>
          <p:nvPr/>
        </p:nvSpPr>
        <p:spPr>
          <a:xfrm>
            <a:off x="169816" y="1329034"/>
            <a:ext cx="2468881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Data Objects</a:t>
            </a:r>
          </a:p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"I hold clean/validated data"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37947-6237-1437-B713-3D564F8E3ED7}"/>
              </a:ext>
            </a:extLst>
          </p:cNvPr>
          <p:cNvSpPr txBox="1"/>
          <p:nvPr/>
        </p:nvSpPr>
        <p:spPr>
          <a:xfrm>
            <a:off x="169815" y="2002747"/>
            <a:ext cx="2468881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Analyzers</a:t>
            </a:r>
          </a:p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"I compute shareable stuff"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F159B6-AAD1-8C7B-FB9A-D5654E8FD269}"/>
              </a:ext>
            </a:extLst>
          </p:cNvPr>
          <p:cNvSpPr txBox="1"/>
          <p:nvPr/>
        </p:nvSpPr>
        <p:spPr>
          <a:xfrm>
            <a:off x="169814" y="2676460"/>
            <a:ext cx="2468881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Intermediates</a:t>
            </a:r>
          </a:p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"Pipe-delimited columnar contract"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98FD70-B53D-EFA2-F0F4-CE70E0B3D67C}"/>
              </a:ext>
            </a:extLst>
          </p:cNvPr>
          <p:cNvSpPr txBox="1"/>
          <p:nvPr/>
        </p:nvSpPr>
        <p:spPr>
          <a:xfrm>
            <a:off x="169817" y="3517334"/>
            <a:ext cx="2468881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Visualizers</a:t>
            </a:r>
          </a:p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"I draw pictures"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17D607-8AB3-D7CA-2898-CC19C4FAC22D}"/>
              </a:ext>
            </a:extLst>
          </p:cNvPr>
          <p:cNvSpPr txBox="1"/>
          <p:nvPr/>
        </p:nvSpPr>
        <p:spPr>
          <a:xfrm>
            <a:off x="2984862" y="726858"/>
            <a:ext cx="2847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  <a:cs typeface="Vrinda" panose="020B0502040204020203" pitchFamily="34" charset="0"/>
              </a:rPr>
              <a:t>EventSemantics, OccurrenceSemantics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C39483-E1D0-FA0F-7227-A0A4E5CD4E10}"/>
              </a:ext>
            </a:extLst>
          </p:cNvPr>
          <p:cNvSpPr txBox="1"/>
          <p:nvPr/>
        </p:nvSpPr>
        <p:spPr>
          <a:xfrm>
            <a:off x="2984862" y="1421366"/>
            <a:ext cx="5225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  <a:cs typeface="Vrinda" panose="020B0502040204020203" pitchFamily="34" charset="0"/>
              </a:rPr>
              <a:t>Events, EventsPerEntity, Spans, Occurrences, OccurrencesPerEntity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D248FF-441C-8730-A19A-C6709E01C765}"/>
              </a:ext>
            </a:extLst>
          </p:cNvPr>
          <p:cNvSpPr txBox="1"/>
          <p:nvPr/>
        </p:nvSpPr>
        <p:spPr>
          <a:xfrm>
            <a:off x="2984862" y="2001237"/>
            <a:ext cx="5989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  <a:cs typeface="Vrinda" panose="020B0502040204020203" pitchFamily="34" charset="0"/>
              </a:rPr>
              <a:t>EventsWithinSpanAnalyzer, OccurrencesWithinSpanAnalyzer, ***OccurrencesWithinEventsAnalyzer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E67F2D-B886-0FA2-5EAB-6CE2D88D6F8A}"/>
              </a:ext>
            </a:extLst>
          </p:cNvPr>
          <p:cNvSpPr txBox="1"/>
          <p:nvPr/>
        </p:nvSpPr>
        <p:spPr>
          <a:xfrm>
            <a:off x="2984861" y="2692503"/>
            <a:ext cx="5989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  <a:cs typeface="Vrinda" panose="020B0502040204020203" pitchFamily="34" charset="0"/>
              </a:rPr>
              <a:t>PipeDelimitedIntermediate, PipeDelimitedIntermediateEvents, PipeDelimitedIntermediateOccurrences, ***EventsOccurrences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F75954-011D-DEB2-35B2-808EF5106C86}"/>
              </a:ext>
            </a:extLst>
          </p:cNvPr>
          <p:cNvSpPr txBox="1"/>
          <p:nvPr/>
        </p:nvSpPr>
        <p:spPr>
          <a:xfrm>
            <a:off x="2984862" y="3562209"/>
            <a:ext cx="5989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  <a:cs typeface="Vrinda" panose="020B0502040204020203" pitchFamily="34" charset="0"/>
              </a:rPr>
              <a:t>StackedBarsPlotter(change name), ActivityOverTimePlotter, EventWithinSpanAnalysisHistogramPlotter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E8C2BE-F953-734F-60AF-10A9420782FC}"/>
              </a:ext>
            </a:extLst>
          </p:cNvPr>
          <p:cNvSpPr txBox="1"/>
          <p:nvPr/>
        </p:nvSpPr>
        <p:spPr>
          <a:xfrm>
            <a:off x="6936377" y="102716"/>
            <a:ext cx="2207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Five Abstractions</a:t>
            </a:r>
          </a:p>
        </p:txBody>
      </p:sp>
    </p:spTree>
    <p:extLst>
      <p:ext uri="{BB962C8B-B14F-4D97-AF65-F5344CB8AC3E}">
        <p14:creationId xmlns:p14="http://schemas.microsoft.com/office/powerpoint/2010/main" val="4279311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D58151-86B3-7A36-A1E3-A3FA01AC8F35}"/>
              </a:ext>
            </a:extLst>
          </p:cNvPr>
          <p:cNvSpPr txBox="1"/>
          <p:nvPr/>
        </p:nvSpPr>
        <p:spPr>
          <a:xfrm>
            <a:off x="6936377" y="102716"/>
            <a:ext cx="22076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Parallelism and Compositionism(?)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8B5AC-0557-001C-8981-09F1DA2189B7}"/>
              </a:ext>
            </a:extLst>
          </p:cNvPr>
          <p:cNvSpPr txBox="1"/>
          <p:nvPr/>
        </p:nvSpPr>
        <p:spPr>
          <a:xfrm>
            <a:off x="5183776" y="945088"/>
            <a:ext cx="2468881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Occurrences</a:t>
            </a:r>
          </a:p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(i.e. ED day, vaccine day)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CCE28A-7E1F-6D48-7A0B-140873068F91}"/>
              </a:ext>
            </a:extLst>
          </p:cNvPr>
          <p:cNvSpPr txBox="1"/>
          <p:nvPr/>
        </p:nvSpPr>
        <p:spPr>
          <a:xfrm>
            <a:off x="4998719" y="1873376"/>
            <a:ext cx="2838996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OccurrencesWithinSpanAnalyzer</a:t>
            </a:r>
          </a:p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.calc()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D228A2-6AFB-7FA5-A05D-ED480ED00FC2}"/>
              </a:ext>
            </a:extLst>
          </p:cNvPr>
          <p:cNvSpPr txBox="1"/>
          <p:nvPr/>
        </p:nvSpPr>
        <p:spPr>
          <a:xfrm>
            <a:off x="4761411" y="2776571"/>
            <a:ext cx="3370218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PipeDelimitedIntermediateOccurences</a:t>
            </a:r>
          </a:p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.self_analyze(), .print_summary()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9E06BB-A302-5214-11BE-E28285D805C5}"/>
              </a:ext>
            </a:extLst>
          </p:cNvPr>
          <p:cNvSpPr txBox="1"/>
          <p:nvPr/>
        </p:nvSpPr>
        <p:spPr>
          <a:xfrm>
            <a:off x="777239" y="945296"/>
            <a:ext cx="2468881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Events</a:t>
            </a:r>
            <a:b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</a:br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(i.e. insurance-coverage)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24CEA-30E5-5CBA-B6FD-8AD5009A90DA}"/>
              </a:ext>
            </a:extLst>
          </p:cNvPr>
          <p:cNvSpPr txBox="1"/>
          <p:nvPr/>
        </p:nvSpPr>
        <p:spPr>
          <a:xfrm>
            <a:off x="592182" y="1873584"/>
            <a:ext cx="2838996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EventsWithinSpanAnalyzer</a:t>
            </a:r>
          </a:p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.calc_active_vs_inactive()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E27686-F227-D7B9-185A-555BA080B570}"/>
              </a:ext>
            </a:extLst>
          </p:cNvPr>
          <p:cNvSpPr txBox="1"/>
          <p:nvPr/>
        </p:nvSpPr>
        <p:spPr>
          <a:xfrm>
            <a:off x="354874" y="2776779"/>
            <a:ext cx="3370218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PipeDelimitedIntermediateEvents</a:t>
            </a:r>
          </a:p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.self_analyze(), .tier1/2/3()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01D2B9-E328-98D6-72D3-A0C7AE802AC3}"/>
              </a:ext>
            </a:extLst>
          </p:cNvPr>
          <p:cNvSpPr txBox="1"/>
          <p:nvPr/>
        </p:nvSpPr>
        <p:spPr>
          <a:xfrm>
            <a:off x="3725092" y="3575281"/>
            <a:ext cx="7968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5CEDC0-9C5A-E38F-9BD7-C7E8C8B95AEA}"/>
              </a:ext>
            </a:extLst>
          </p:cNvPr>
          <p:cNvSpPr txBox="1"/>
          <p:nvPr/>
        </p:nvSpPr>
        <p:spPr>
          <a:xfrm>
            <a:off x="2582091" y="4281658"/>
            <a:ext cx="39798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visualizer</a:t>
            </a:r>
          </a:p>
          <a:p>
            <a:r>
              <a:rPr lang="en-US"/>
              <a:t>plot events, plot occurrences, plot both within span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7618054-AE0C-A05E-7520-88078A6F8EAB}"/>
              </a:ext>
            </a:extLst>
          </p:cNvPr>
          <p:cNvGrpSpPr/>
          <p:nvPr/>
        </p:nvGrpSpPr>
        <p:grpSpPr>
          <a:xfrm>
            <a:off x="2116029" y="3317811"/>
            <a:ext cx="4363920" cy="1075680"/>
            <a:chOff x="2116029" y="3317811"/>
            <a:chExt cx="4363920" cy="107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96C396D-6EAB-E5EE-09DD-67B820FE4518}"/>
                    </a:ext>
                  </a:extLst>
                </p14:cNvPr>
                <p14:cNvContentPartPr/>
                <p14:nvPr/>
              </p14:nvContentPartPr>
              <p14:xfrm>
                <a:off x="2873829" y="3422211"/>
                <a:ext cx="441360" cy="3520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96C396D-6EAB-E5EE-09DD-67B820FE451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867709" y="3416091"/>
                  <a:ext cx="45360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F88F4EB-7A78-0DFD-8B33-2C43159774C1}"/>
                    </a:ext>
                  </a:extLst>
                </p14:cNvPr>
                <p14:cNvContentPartPr/>
                <p14:nvPr/>
              </p14:nvContentPartPr>
              <p14:xfrm>
                <a:off x="2116029" y="3526971"/>
                <a:ext cx="975600" cy="6631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F88F4EB-7A78-0DFD-8B33-2C43159774C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109909" y="3520851"/>
                  <a:ext cx="987840" cy="67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DEF11E4-5EFB-9492-8012-68D5C2BF9FFE}"/>
                    </a:ext>
                  </a:extLst>
                </p14:cNvPr>
                <p14:cNvContentPartPr/>
                <p14:nvPr/>
              </p14:nvContentPartPr>
              <p14:xfrm>
                <a:off x="3395109" y="3670611"/>
                <a:ext cx="119520" cy="1724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DEF11E4-5EFB-9492-8012-68D5C2BF9FF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388989" y="3664491"/>
                  <a:ext cx="1317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3D81E33-FE18-69E4-C9A4-A70DFE59538B}"/>
                    </a:ext>
                  </a:extLst>
                </p14:cNvPr>
                <p14:cNvContentPartPr/>
                <p14:nvPr/>
              </p14:nvContentPartPr>
              <p14:xfrm>
                <a:off x="4435869" y="3409251"/>
                <a:ext cx="1429560" cy="3992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3D81E33-FE18-69E4-C9A4-A70DFE59538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429749" y="3403131"/>
                  <a:ext cx="144180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EBA67D8-7AC1-4E64-E93A-F3EE9FD4E8C6}"/>
                    </a:ext>
                  </a:extLst>
                </p14:cNvPr>
                <p14:cNvContentPartPr/>
                <p14:nvPr/>
              </p14:nvContentPartPr>
              <p14:xfrm>
                <a:off x="4299069" y="3716331"/>
                <a:ext cx="140760" cy="117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EBA67D8-7AC1-4E64-E93A-F3EE9FD4E8C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92949" y="3710211"/>
                  <a:ext cx="1530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43B50F9-8A76-A5AB-A996-FE08C5CC2BF7}"/>
                    </a:ext>
                  </a:extLst>
                </p14:cNvPr>
                <p14:cNvContentPartPr/>
                <p14:nvPr/>
              </p14:nvContentPartPr>
              <p14:xfrm>
                <a:off x="4800909" y="3317811"/>
                <a:ext cx="1679040" cy="9676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43B50F9-8A76-A5AB-A996-FE08C5CC2BF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794789" y="3311691"/>
                  <a:ext cx="1691280" cy="9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CD42570-DF2F-BFDE-EFF8-0F93CDCFA359}"/>
                    </a:ext>
                  </a:extLst>
                </p14:cNvPr>
                <p14:cNvContentPartPr/>
                <p14:nvPr/>
              </p14:nvContentPartPr>
              <p14:xfrm>
                <a:off x="4652229" y="4218891"/>
                <a:ext cx="198000" cy="1746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CD42570-DF2F-BFDE-EFF8-0F93CDCFA3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646109" y="4212771"/>
                  <a:ext cx="2102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AF404F0-C381-1094-1E81-5156F3880789}"/>
                    </a:ext>
                  </a:extLst>
                </p14:cNvPr>
                <p14:cNvContentPartPr/>
                <p14:nvPr/>
              </p14:nvContentPartPr>
              <p14:xfrm>
                <a:off x="3027549" y="4153731"/>
                <a:ext cx="251280" cy="1735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AF404F0-C381-1094-1E81-5156F388078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021429" y="4147611"/>
                  <a:ext cx="2635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9A059F5-B6AB-4AD1-9247-F3BB53788259}"/>
                    </a:ext>
                  </a:extLst>
                </p14:cNvPr>
                <p14:cNvContentPartPr/>
                <p14:nvPr/>
              </p14:nvContentPartPr>
              <p14:xfrm>
                <a:off x="3931509" y="3899211"/>
                <a:ext cx="29880" cy="2790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9A059F5-B6AB-4AD1-9247-F3BB5378825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925389" y="3893091"/>
                  <a:ext cx="4212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065FC9E-9001-D51D-3A21-8E9A4362638E}"/>
                    </a:ext>
                  </a:extLst>
                </p14:cNvPr>
                <p14:cNvContentPartPr/>
                <p14:nvPr/>
              </p14:nvContentPartPr>
              <p14:xfrm>
                <a:off x="3846909" y="4238691"/>
                <a:ext cx="384480" cy="961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065FC9E-9001-D51D-3A21-8E9A4362638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840789" y="4232571"/>
                  <a:ext cx="396720" cy="108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68DB5CBF-D701-D322-4416-C438505D842C}"/>
                  </a:ext>
                </a:extLst>
              </p14:cNvPr>
              <p14:cNvContentPartPr/>
              <p14:nvPr/>
            </p14:nvContentPartPr>
            <p14:xfrm>
              <a:off x="4036269" y="653091"/>
              <a:ext cx="360" cy="36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8DB5CBF-D701-D322-4416-C438505D842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030149" y="646971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17189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Domain-Agnostic Python Framework for Analyzing</a:t>
            </a:r>
            <a:endParaRPr lang="en-US" sz="2200" dirty="0"/>
          </a:p>
          <a:p>
            <a:pPr marL="0" indent="0" algn="l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Events, Spans, and Occurrences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206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0" y="2560320"/>
            <a:ext cx="2560320" cy="2560320"/>
          </a:xfrm>
          <a:prstGeom prst="ellipse">
            <a:avLst/>
          </a:prstGeom>
          <a:solidFill>
            <a:srgbClr val="028090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498080" y="1645920"/>
            <a:ext cx="1645920" cy="164592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Challenge Appears Everywhere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828800" cy="38404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377440" y="1051560"/>
            <a:ext cx="2011680" cy="38404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377440" y="10515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1051560"/>
            <a:ext cx="2011680" cy="38404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0" y="10515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766560" y="1051560"/>
            <a:ext cx="2011680" cy="38404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766560" y="10515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508760"/>
            <a:ext cx="18288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1508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377440" y="1508760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423160" y="15087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year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1508760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17720" y="15087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periods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508760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12280" y="15087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visits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2075688"/>
            <a:ext cx="182880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20756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377440" y="2075688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423160" y="207568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period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0" y="2075688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17720" y="207568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windows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66560" y="2075688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12280" y="207568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events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2642616"/>
            <a:ext cx="18288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1480" y="26426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Analytics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377440" y="2642616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423160" y="264261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period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0" y="2642616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617720" y="264261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enrollment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766560" y="2642616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812280" y="264261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changes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3209544"/>
            <a:ext cx="182880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1480" y="320954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377440" y="3209544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423160" y="32095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0" y="3209544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617720" y="32095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periods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766560" y="3209544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812280" y="32095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general-purpose Python tool existed for this structure — until eventus.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Four-Layer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389120" cy="59436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424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0759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EventSemantics, OccurrenceSemantics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377440" y="1600200"/>
            <a:ext cx="54864" cy="155448"/>
          </a:xfrm>
          <a:prstGeom prst="rect">
            <a:avLst/>
          </a:prstGeom>
          <a:solidFill>
            <a:srgbClr val="8A9B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65760" y="1755648"/>
            <a:ext cx="438912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7922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Objects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0574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Events, EventsPerEntity, Occurrences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377440" y="2350008"/>
            <a:ext cx="54864" cy="155448"/>
          </a:xfrm>
          <a:prstGeom prst="rect">
            <a:avLst/>
          </a:prstGeom>
          <a:solidFill>
            <a:srgbClr val="8A9B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2505456"/>
            <a:ext cx="4389120" cy="5943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54203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80720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EventsWithinSpansAnalyzer, OccurrencesWithinSpansAnalyzer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377440" y="3099816"/>
            <a:ext cx="54864" cy="155448"/>
          </a:xfrm>
          <a:prstGeom prst="rect">
            <a:avLst/>
          </a:prstGeom>
          <a:solidFill>
            <a:srgbClr val="8A9B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3255264"/>
            <a:ext cx="438912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29184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35570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PipeDelimitedIntermediateEvents + Occurrences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377440" y="3849624"/>
            <a:ext cx="54864" cy="155448"/>
          </a:xfrm>
          <a:prstGeom prst="rect">
            <a:avLst/>
          </a:prstGeom>
          <a:solidFill>
            <a:srgbClr val="8A9B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5760" y="4005072"/>
            <a:ext cx="438912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4041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430682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StackedEventsPlotter, ActivityOverTimePlotter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1005840"/>
            <a:ext cx="365760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212080" y="10515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know what columns mean"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12080" y="130759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Decouples logic from schema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120640" y="1755648"/>
            <a:ext cx="365760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212080" y="18013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data is validated"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12080" y="20574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rejected rows, audit trail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120640" y="2505456"/>
            <a:ext cx="365760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212080" y="255117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compute the analysis"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212080" y="28072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responsibility per analyzer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120640" y="3255264"/>
            <a:ext cx="365760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212080" y="33009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the handshake"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12080" y="355701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Pipe-delimited columnar contract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120640" y="4005072"/>
            <a:ext cx="365760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212080" y="40507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know how to draw"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212080" y="4306824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renderers, no data transforms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0" y="1005840"/>
            <a:ext cx="365760" cy="0"/>
          </a:xfrm>
          <a:prstGeom prst="line">
            <a:avLst/>
          </a:prstGeom>
          <a:noFill/>
          <a:ln w="12700">
            <a:solidFill>
              <a:srgbClr val="E8EFF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Hierarchy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2011680" cy="384048"/>
          </a:xfrm>
          <a:prstGeom prst="roundRect">
            <a:avLst>
              <a:gd name="adj" fmla="val 19048"/>
            </a:avLst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EventSemantics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14600" y="1143000"/>
            <a:ext cx="2286000" cy="384048"/>
          </a:xfrm>
          <a:prstGeom prst="roundRect">
            <a:avLst>
              <a:gd name="adj" fmla="val 19048"/>
            </a:avLst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514600" y="1143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OccurrenceSemantics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17320" y="1527048"/>
            <a:ext cx="0" cy="228600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0" y="1527048"/>
            <a:ext cx="0" cy="228600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783080"/>
            <a:ext cx="1280160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17830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783080" y="1783080"/>
            <a:ext cx="1737360" cy="384048"/>
          </a:xfrm>
          <a:prstGeom prst="roundRect">
            <a:avLst>
              <a:gd name="adj" fmla="val 19048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83080" y="17830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EventsPerEntity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11880" y="1783080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11880" y="17830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66360" y="1783080"/>
            <a:ext cx="2011680" cy="384048"/>
          </a:xfrm>
          <a:prstGeom prst="roundRect">
            <a:avLst>
              <a:gd name="adj" fmla="val 19048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166360" y="17830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OccurrencesPerEntity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2167128"/>
            <a:ext cx="0" cy="228600"/>
          </a:xfrm>
          <a:prstGeom prst="line">
            <a:avLst/>
          </a:prstGeom>
          <a:noFill/>
          <a:ln w="19050">
            <a:solidFill>
              <a:srgbClr val="02C39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09360" y="21671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build_span()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417320" y="2167128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343400" y="2167128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65760" y="2450592"/>
            <a:ext cx="283464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" y="24505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EventsWithinSpansAnalyzer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37560" y="2450592"/>
            <a:ext cx="283464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337560" y="24505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OccurrencesWithinSpansAnalyzer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783080" y="2834640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754880" y="2834640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65760" y="3090672"/>
            <a:ext cx="8412480" cy="384048"/>
          </a:xfrm>
          <a:prstGeom prst="rect">
            <a:avLst/>
          </a:prstGeom>
          <a:solidFill>
            <a:srgbClr val="E8EFF5"/>
          </a:solidFill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309067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PipeDelimitedIntermediate  (base — columnar contract + combine())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828800" y="3474720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400800" y="3474720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65760" y="3730752"/>
            <a:ext cx="3657600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65760" y="37307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PipeDelimitedIntermediateEvents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0" y="3730752"/>
            <a:ext cx="3840480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572000" y="37307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PipeDelimitedIntermediateOccurrences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194560" y="4114800"/>
            <a:ext cx="0" cy="256032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400800" y="4114800"/>
            <a:ext cx="0" cy="256032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365760" y="4370832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65760" y="437083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StackedEventsPlotter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017520" y="4370832"/>
            <a:ext cx="2468880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017520" y="437083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ActivityOverTimePlotter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577840" y="4370832"/>
            <a:ext cx="2926080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577840" y="43708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EventAnalysisHistogramPlotter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Pipe-Delimited Intermediate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entity. Columns follow strict naming conventions.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4937760" cy="47548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5389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entity_id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011680"/>
            <a:ext cx="4937760" cy="475488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0482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span_start / span_end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25856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pair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606040"/>
            <a:ext cx="4937760" cy="47548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64261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event_starts / event_ends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8529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pair (pipe-delimited)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200400"/>
            <a:ext cx="4937760" cy="475488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23697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occ_{identity}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44728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per occurrence type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77840" y="1051560"/>
            <a:ext cx="3200400" cy="3200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577840" y="1051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row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77840" y="1417320"/>
            <a:ext cx="320040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23560" y="145389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entity_id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145389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577840" y="1892808"/>
            <a:ext cx="3200400" cy="438912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23560" y="192938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span_start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040880" y="192938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2024-01-01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577840" y="2368296"/>
            <a:ext cx="320040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23560" y="240487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span_end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040880" y="24048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2024-12-31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577840" y="2843784"/>
            <a:ext cx="3200400" cy="438912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623560" y="28803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event_starts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040880" y="28803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2024-03-01 | 2024-07-01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7840" y="3319272"/>
            <a:ext cx="320040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623560" y="335584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event_ends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040880" y="33558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2024-05-31 | 2024-10-01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3794760"/>
            <a:ext cx="3200400" cy="438912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623560" y="383133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active_days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40880" y="383133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214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270248"/>
            <a:ext cx="320040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623560" y="430682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occ_hepb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040880" y="430682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2024-04-15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combine() merges intermediates for joint visualization →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eventus as a Framework, Not Just a Package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eventus organizes and connects existing analytical tools rather than duplicating them.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1645920" cy="47548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lifelines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57400" y="1700784"/>
            <a:ext cx="3657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468880" y="148132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analysis outputs map onto span-event 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468880" y="17099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PipeDelimitedIntermediateEvents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1645920" cy="47548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224028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57400" y="2478024"/>
            <a:ext cx="3657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468880" y="225856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Hawkes process models fit on occurrence inter-event times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68880" y="248716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PipeDelimitedIntermediateOccurrences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017520"/>
            <a:ext cx="1645920" cy="47548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301752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scikit-learn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057400" y="3255264"/>
            <a:ext cx="3657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468880" y="30358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matrices built from intermediate columns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68880" y="32644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Any ML pipeline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794760"/>
            <a:ext cx="1645920" cy="47548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5760" y="379476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statsmodels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057400" y="4032504"/>
            <a:ext cx="3657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468880" y="381304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on active_days, gap statistics, density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468880" y="404164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Any analyzer output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4572000"/>
            <a:ext cx="8412480" cy="384048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analyzer producing a PipeDelimitedIntermediate-compliant DataFrame participates in the eventus pipeline.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APIs and LLMs are Complementary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840480" cy="3474720"/>
          </a:xfrm>
          <a:prstGeom prst="rect">
            <a:avLst/>
          </a:prstGeom>
          <a:solidFill>
            <a:srgbClr val="1A1A2E"/>
          </a:solidFill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eventus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A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df['cov'] = (df['end'] - df['start']).dt.days
mask = df['cov'] &gt; 0
df2 = df[mask].groupby('id')...
# LLM must reverse-engineer intent
# from 200 lines of mutations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4251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Hard to reason about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2651760"/>
            <a:ext cx="5486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83480" y="1005840"/>
            <a:ext cx="3840480" cy="3474720"/>
          </a:xfrm>
          <a:prstGeom prst="rect">
            <a:avLst/>
          </a:prstGeom>
          <a:solidFill>
            <a:srgbClr val="0D3040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83480" y="1005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eventus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120640" y="150876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events = Events(df, sem)
result = analyzer
  .calc_active_vs_inactive()
# LLM reasons at object level:
# which class? which analyzer?
# which intermediate?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83480" y="4114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Readable concepts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Navigable by LLMs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"Packages provide the infrastructure. LLMs navigate it."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Pipeline to Insight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0233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023360" cy="3200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881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Events Bar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435608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bar per entity. Active (green), inactive (gray), gaps (red). Occurrence markers overlaid as lines or circles.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51560"/>
            <a:ext cx="40233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4023360" cy="3200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10881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Over Time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entities active at each relative day from span start. Up/down arrows show entries and exits.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017520"/>
            <a:ext cx="40233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3017520"/>
            <a:ext cx="4023360" cy="3200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3054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Days Histogram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401568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of active days across entities. Percentile lines at p25/p50/p75.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3017520"/>
            <a:ext cx="40233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3017520"/>
            <a:ext cx="4023360" cy="3200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46320" y="3054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Days Violin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3401568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Before/After/Middle/Total inactive days compared side by side. Width scaled by 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033272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OccurrencesWithinEventsAnalyzer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1280160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occurrence fall within an active event? Which one?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1801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CrossOccurrenceAnalyzer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between MMR and HepB — sequence, co-occurrence, lag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551176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25511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25328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OccurrencesPlotter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2779776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visualizations for occurrence distributions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300984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74320" y="33009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32826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Hawkes Process Integration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" y="3529584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Self-exciting point process modeling via tick or PoissonProcesses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4050792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74320" y="4050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2960" y="403250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eventus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4279392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__init__.py, pyproject.toml, pytest suite, PyPI release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789</Words>
  <Application>Microsoft Office PowerPoint</Application>
  <PresentationFormat>On-screen Show (16:9)</PresentationFormat>
  <Paragraphs>178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Consolas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eventus: Architecture</dc:title>
  <dc:subject>PptxGenJS Presentation</dc:subject>
  <dc:creator>PptxGenJS</dc:creator>
  <cp:lastModifiedBy>Daniel Arenas</cp:lastModifiedBy>
  <cp:revision>7</cp:revision>
  <dcterms:created xsi:type="dcterms:W3CDTF">2026-04-01T00:19:55Z</dcterms:created>
  <dcterms:modified xsi:type="dcterms:W3CDTF">2026-04-01T20:42:24Z</dcterms:modified>
</cp:coreProperties>
</file>