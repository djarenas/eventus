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5" r:id="rId2"/>
    <p:sldId id="266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6208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BD98FE-2ECA-29F0-CBC6-27CDFF0C634B}"/>
              </a:ext>
            </a:extLst>
          </p:cNvPr>
          <p:cNvSpPr txBox="1"/>
          <p:nvPr/>
        </p:nvSpPr>
        <p:spPr>
          <a:xfrm>
            <a:off x="169817" y="634526"/>
            <a:ext cx="2468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Semantics</a:t>
            </a:r>
          </a:p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"I know what columns mean"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D0BECE-032C-B05E-8016-6B42864B4776}"/>
              </a:ext>
            </a:extLst>
          </p:cNvPr>
          <p:cNvSpPr txBox="1"/>
          <p:nvPr/>
        </p:nvSpPr>
        <p:spPr>
          <a:xfrm>
            <a:off x="169816" y="1329034"/>
            <a:ext cx="2468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Data Objects</a:t>
            </a:r>
          </a:p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"I hold clean/validated data"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37947-6237-1437-B713-3D564F8E3ED7}"/>
              </a:ext>
            </a:extLst>
          </p:cNvPr>
          <p:cNvSpPr txBox="1"/>
          <p:nvPr/>
        </p:nvSpPr>
        <p:spPr>
          <a:xfrm>
            <a:off x="169815" y="2002747"/>
            <a:ext cx="2468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Analyzers</a:t>
            </a:r>
          </a:p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"I compute shareable stuff"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F159B6-AAD1-8C7B-FB9A-D5654E8FD269}"/>
              </a:ext>
            </a:extLst>
          </p:cNvPr>
          <p:cNvSpPr txBox="1"/>
          <p:nvPr/>
        </p:nvSpPr>
        <p:spPr>
          <a:xfrm>
            <a:off x="169814" y="2676460"/>
            <a:ext cx="2468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Intermediates</a:t>
            </a:r>
          </a:p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"Pipe-delimited columnar contract"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98FD70-B53D-EFA2-F0F4-CE70E0B3D67C}"/>
              </a:ext>
            </a:extLst>
          </p:cNvPr>
          <p:cNvSpPr txBox="1"/>
          <p:nvPr/>
        </p:nvSpPr>
        <p:spPr>
          <a:xfrm>
            <a:off x="169817" y="3517334"/>
            <a:ext cx="2468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Visualizers</a:t>
            </a:r>
          </a:p>
          <a:p>
            <a:pPr algn="ctr"/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"I draw pictures"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17D607-8AB3-D7CA-2898-CC19C4FAC22D}"/>
              </a:ext>
            </a:extLst>
          </p:cNvPr>
          <p:cNvSpPr txBox="1"/>
          <p:nvPr/>
        </p:nvSpPr>
        <p:spPr>
          <a:xfrm>
            <a:off x="2984862" y="726858"/>
            <a:ext cx="2847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  <a:cs typeface="Vrinda" panose="020B0502040204020203" pitchFamily="34" charset="0"/>
              </a:rPr>
              <a:t>EventSemantics, OccurrenceSemantics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C39483-E1D0-FA0F-7227-A0A4E5CD4E10}"/>
              </a:ext>
            </a:extLst>
          </p:cNvPr>
          <p:cNvSpPr txBox="1"/>
          <p:nvPr/>
        </p:nvSpPr>
        <p:spPr>
          <a:xfrm>
            <a:off x="2984862" y="1421366"/>
            <a:ext cx="5225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  <a:cs typeface="Vrinda" panose="020B0502040204020203" pitchFamily="34" charset="0"/>
              </a:rPr>
              <a:t>Events, EventsPerEntity, Spans, Occurrences, OccurrencesPerEntity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D248FF-441C-8730-A19A-C6709E01C765}"/>
              </a:ext>
            </a:extLst>
          </p:cNvPr>
          <p:cNvSpPr txBox="1"/>
          <p:nvPr/>
        </p:nvSpPr>
        <p:spPr>
          <a:xfrm>
            <a:off x="2984862" y="2001237"/>
            <a:ext cx="5989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  <a:cs typeface="Vrinda" panose="020B0502040204020203" pitchFamily="34" charset="0"/>
              </a:rPr>
              <a:t>EventsWithinSpanAnalyzer, OccurrencesWithinSpanAnalyzer, ***OccurrencesWithinEventsAnalyzer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E67F2D-B886-0FA2-5EAB-6CE2D88D6F8A}"/>
              </a:ext>
            </a:extLst>
          </p:cNvPr>
          <p:cNvSpPr txBox="1"/>
          <p:nvPr/>
        </p:nvSpPr>
        <p:spPr>
          <a:xfrm>
            <a:off x="2984861" y="2692503"/>
            <a:ext cx="5989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  <a:cs typeface="Vrinda" panose="020B0502040204020203" pitchFamily="34" charset="0"/>
              </a:rPr>
              <a:t>PipeDelimitedIntermediate, PipeDelimitedIntermediateEvents, PipeDelimitedIntermediateOccurrences, ***EventsOccurrences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F75954-011D-DEB2-35B2-808EF5106C86}"/>
              </a:ext>
            </a:extLst>
          </p:cNvPr>
          <p:cNvSpPr txBox="1"/>
          <p:nvPr/>
        </p:nvSpPr>
        <p:spPr>
          <a:xfrm>
            <a:off x="2984862" y="3562209"/>
            <a:ext cx="5989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 panose="020B0609020204030204" pitchFamily="49" charset="0"/>
                <a:cs typeface="Vrinda" panose="020B0502040204020203" pitchFamily="34" charset="0"/>
              </a:rPr>
              <a:t>StackedBarsPlotter(change name), ActivityOverTimePlotter, EventWithinSpanAnalysisHistogramPlotter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E8C2BE-F953-734F-60AF-10A9420782FC}"/>
              </a:ext>
            </a:extLst>
          </p:cNvPr>
          <p:cNvSpPr txBox="1"/>
          <p:nvPr/>
        </p:nvSpPr>
        <p:spPr>
          <a:xfrm>
            <a:off x="6936377" y="102716"/>
            <a:ext cx="2207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Five Abstractions</a:t>
            </a:r>
          </a:p>
        </p:txBody>
      </p:sp>
    </p:spTree>
    <p:extLst>
      <p:ext uri="{BB962C8B-B14F-4D97-AF65-F5344CB8AC3E}">
        <p14:creationId xmlns:p14="http://schemas.microsoft.com/office/powerpoint/2010/main" val="4279311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D58151-86B3-7A36-A1E3-A3FA01AC8F35}"/>
              </a:ext>
            </a:extLst>
          </p:cNvPr>
          <p:cNvSpPr txBox="1"/>
          <p:nvPr/>
        </p:nvSpPr>
        <p:spPr>
          <a:xfrm>
            <a:off x="6936377" y="102716"/>
            <a:ext cx="2207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Parallelism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D8B5AC-0557-001C-8981-09F1DA2189B7}"/>
              </a:ext>
            </a:extLst>
          </p:cNvPr>
          <p:cNvSpPr txBox="1"/>
          <p:nvPr/>
        </p:nvSpPr>
        <p:spPr>
          <a:xfrm>
            <a:off x="5183776" y="945088"/>
            <a:ext cx="2468881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Occurrences</a:t>
            </a:r>
          </a:p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(i.e. ED day, vaccine day)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CCE28A-7E1F-6D48-7A0B-140873068F91}"/>
              </a:ext>
            </a:extLst>
          </p:cNvPr>
          <p:cNvSpPr txBox="1"/>
          <p:nvPr/>
        </p:nvSpPr>
        <p:spPr>
          <a:xfrm>
            <a:off x="4998719" y="1873376"/>
            <a:ext cx="2838996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OccurrencesWithinSpanAnalyzer</a:t>
            </a:r>
          </a:p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.calc()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D228A2-6AFB-7FA5-A05D-ED480ED00FC2}"/>
              </a:ext>
            </a:extLst>
          </p:cNvPr>
          <p:cNvSpPr txBox="1"/>
          <p:nvPr/>
        </p:nvSpPr>
        <p:spPr>
          <a:xfrm>
            <a:off x="4761411" y="2776571"/>
            <a:ext cx="3370218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1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PipeDelimitedIntermediateOccurences</a:t>
            </a:r>
          </a:p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.self_analyze(), .print_summary()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9E06BB-A302-5214-11BE-E28285D805C5}"/>
              </a:ext>
            </a:extLst>
          </p:cNvPr>
          <p:cNvSpPr txBox="1"/>
          <p:nvPr/>
        </p:nvSpPr>
        <p:spPr>
          <a:xfrm>
            <a:off x="777239" y="945296"/>
            <a:ext cx="2468881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Events</a:t>
            </a:r>
            <a:b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</a:br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(i.e. insurance-coverage)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24CEA-30E5-5CBA-B6FD-8AD5009A90DA}"/>
              </a:ext>
            </a:extLst>
          </p:cNvPr>
          <p:cNvSpPr txBox="1"/>
          <p:nvPr/>
        </p:nvSpPr>
        <p:spPr>
          <a:xfrm>
            <a:off x="592182" y="1873584"/>
            <a:ext cx="2838996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EventsWithinSpanAnalyzer</a:t>
            </a:r>
          </a:p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.calc_active_vs_inactive()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E27686-F227-D7B9-185A-555BA080B570}"/>
              </a:ext>
            </a:extLst>
          </p:cNvPr>
          <p:cNvSpPr txBox="1"/>
          <p:nvPr/>
        </p:nvSpPr>
        <p:spPr>
          <a:xfrm>
            <a:off x="354874" y="2776779"/>
            <a:ext cx="3370218" cy="461665"/>
          </a:xfrm>
          <a:prstGeom prst="rect">
            <a:avLst/>
          </a:prstGeom>
          <a:noFill/>
          <a:ln>
            <a:solidFill>
              <a:schemeClr val="accent5">
                <a:lumMod val="20000"/>
                <a:lumOff val="8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14300" prst="artDeco"/>
          </a:sp3d>
        </p:spPr>
        <p:txBody>
          <a:bodyPr wrap="square" rtlCol="0">
            <a:spAutoFit/>
          </a:bodyPr>
          <a:lstStyle/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PipeDelimitedIntermediateEvents</a:t>
            </a:r>
          </a:p>
          <a:p>
            <a:pPr algn="ctr"/>
            <a:r>
              <a:rPr lang="en-US" sz="1200" b="1">
                <a:latin typeface="Consolas" panose="020B0609020204030204" pitchFamily="49" charset="0"/>
                <a:cs typeface="Times New Roman" panose="02020603050405020304" pitchFamily="18" charset="0"/>
              </a:rPr>
              <a:t>.self_analyze(), .tier1/2/3()</a:t>
            </a:r>
          </a:p>
        </p:txBody>
      </p:sp>
    </p:spTree>
    <p:extLst>
      <p:ext uri="{BB962C8B-B14F-4D97-AF65-F5344CB8AC3E}">
        <p14:creationId xmlns:p14="http://schemas.microsoft.com/office/powerpoint/2010/main" val="2317189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65760" y="2194560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Domain-Agnostic Python Framework for Analyzing</a:t>
            </a:r>
            <a:endParaRPr lang="en-US" sz="2200" dirty="0"/>
          </a:p>
          <a:p>
            <a:pPr marL="0" indent="0" algn="l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Events, Spans, and Occurrences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4206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0" y="2560320"/>
            <a:ext cx="2560320" cy="2560320"/>
          </a:xfrm>
          <a:prstGeom prst="ellipse">
            <a:avLst/>
          </a:prstGeom>
          <a:solidFill>
            <a:srgbClr val="028090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498080" y="1645920"/>
            <a:ext cx="1645920" cy="164592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Challenge Appears Everywhere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828800" cy="38404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377440" y="1051560"/>
            <a:ext cx="2011680" cy="38404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377440" y="10515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1051560"/>
            <a:ext cx="2011680" cy="38404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0" y="10515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766560" y="1051560"/>
            <a:ext cx="2011680" cy="38404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766560" y="10515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508760"/>
            <a:ext cx="18288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1508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377440" y="1508760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423160" y="15087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year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1508760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17720" y="15087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periods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508760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12280" y="15087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visits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2075688"/>
            <a:ext cx="182880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207568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Trials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377440" y="2075688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423160" y="207568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period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0" y="2075688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17720" y="207568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windows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766560" y="2075688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12280" y="207568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events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2642616"/>
            <a:ext cx="18288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1480" y="26426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Analytics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377440" y="2642616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423160" y="264261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period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0" y="2642616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617720" y="264261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enrollment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766560" y="2642616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812280" y="264261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changes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3209544"/>
            <a:ext cx="182880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1480" y="320954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377440" y="3209544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423160" y="32095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0" y="3209544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617720" y="32095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periods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766560" y="3209544"/>
            <a:ext cx="2011680" cy="502920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812280" y="32095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general-purpose Python tool existed for this structure — until eventus.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Four-Layer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389120" cy="59436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424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0759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EventSemantics, OccurrenceSemantics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377440" y="1600200"/>
            <a:ext cx="54864" cy="155448"/>
          </a:xfrm>
          <a:prstGeom prst="rect">
            <a:avLst/>
          </a:prstGeom>
          <a:solidFill>
            <a:srgbClr val="8A9B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65760" y="1755648"/>
            <a:ext cx="438912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79222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Objects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0574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Events, EventsPerEntity, Occurrences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377440" y="2350008"/>
            <a:ext cx="54864" cy="155448"/>
          </a:xfrm>
          <a:prstGeom prst="rect">
            <a:avLst/>
          </a:prstGeom>
          <a:solidFill>
            <a:srgbClr val="8A9B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2505456"/>
            <a:ext cx="4389120" cy="5943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54203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80720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EventsWithinSpansAnalyzer, OccurrencesWithinSpansAnalyzer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377440" y="3099816"/>
            <a:ext cx="54864" cy="155448"/>
          </a:xfrm>
          <a:prstGeom prst="rect">
            <a:avLst/>
          </a:prstGeom>
          <a:solidFill>
            <a:srgbClr val="8A9B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3255264"/>
            <a:ext cx="438912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2918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5570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PipeDelimitedIntermediateEvents + Occurrences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377440" y="3849624"/>
            <a:ext cx="54864" cy="155448"/>
          </a:xfrm>
          <a:prstGeom prst="rect">
            <a:avLst/>
          </a:prstGeom>
          <a:solidFill>
            <a:srgbClr val="8A9B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4005072"/>
            <a:ext cx="438912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4041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430682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StackedEventsPlotter, ActivityOverTimePlotter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1005840"/>
            <a:ext cx="365760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212080" y="10515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know what columns mean"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12080" y="130759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Decouples logic from schema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120640" y="1755648"/>
            <a:ext cx="365760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212080" y="1801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data is validated"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12080" y="20574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rejected rows, audit trail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120640" y="2505456"/>
            <a:ext cx="365760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212080" y="255117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compute the analysis"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212080" y="28072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responsibility per analyzer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120640" y="3255264"/>
            <a:ext cx="365760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212080" y="33009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the handshake"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212080" y="355701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Pipe-delimited columnar contract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120640" y="4005072"/>
            <a:ext cx="365760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212080" y="40507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know how to draw"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212080" y="4306824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renderers, no data transforms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0" y="1005840"/>
            <a:ext cx="365760" cy="0"/>
          </a:xfrm>
          <a:prstGeom prst="line">
            <a:avLst/>
          </a:prstGeom>
          <a:noFill/>
          <a:ln w="12700">
            <a:solidFill>
              <a:srgbClr val="E8EFF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Hierarchy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2011680" cy="384048"/>
          </a:xfrm>
          <a:prstGeom prst="roundRect">
            <a:avLst>
              <a:gd name="adj" fmla="val 19048"/>
            </a:avLst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EventSemantics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14600" y="1143000"/>
            <a:ext cx="2286000" cy="384048"/>
          </a:xfrm>
          <a:prstGeom prst="roundRect">
            <a:avLst>
              <a:gd name="adj" fmla="val 19048"/>
            </a:avLst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514600" y="11430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OccurrenceSemantics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17320" y="1527048"/>
            <a:ext cx="0" cy="228600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0" y="1527048"/>
            <a:ext cx="0" cy="228600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783080"/>
            <a:ext cx="128016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178308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783080" y="1783080"/>
            <a:ext cx="1737360" cy="384048"/>
          </a:xfrm>
          <a:prstGeom prst="roundRect">
            <a:avLst>
              <a:gd name="adj" fmla="val 19048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83080" y="17830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EventsPerEntity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11880" y="1783080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11880" y="17830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66360" y="1783080"/>
            <a:ext cx="2011680" cy="384048"/>
          </a:xfrm>
          <a:prstGeom prst="roundRect">
            <a:avLst>
              <a:gd name="adj" fmla="val 19048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166360" y="17830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OccurrencesPerEntity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2167128"/>
            <a:ext cx="0" cy="228600"/>
          </a:xfrm>
          <a:prstGeom prst="line">
            <a:avLst/>
          </a:prstGeom>
          <a:noFill/>
          <a:ln w="19050">
            <a:solidFill>
              <a:srgbClr val="02C39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09360" y="21671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build_span()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417320" y="2167128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343400" y="2167128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" y="2450592"/>
            <a:ext cx="283464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" y="24505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EventsWithinSpansAnalyzer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37560" y="2450592"/>
            <a:ext cx="283464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337560" y="24505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OccurrencesWithinSpansAnalyzer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783080" y="2834640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754880" y="2834640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65760" y="3090672"/>
            <a:ext cx="8412480" cy="384048"/>
          </a:xfrm>
          <a:prstGeom prst="rect">
            <a:avLst/>
          </a:prstGeom>
          <a:solidFill>
            <a:srgbClr val="E8EFF5"/>
          </a:solidFill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309067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PipeDelimitedIntermediate  (base — columnar contract + combine())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828800" y="3474720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400800" y="3474720"/>
            <a:ext cx="0" cy="256032"/>
          </a:xfrm>
          <a:prstGeom prst="line">
            <a:avLst/>
          </a:prstGeom>
          <a:noFill/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65760" y="3730752"/>
            <a:ext cx="365760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65760" y="37307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PipeDelimitedIntermediateEvents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0" y="3730752"/>
            <a:ext cx="3840480" cy="384048"/>
          </a:xfrm>
          <a:prstGeom prst="roundRect">
            <a:avLst>
              <a:gd name="adj" fmla="val 19048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572000" y="373075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PipeDelimitedIntermediateOccurrences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194560" y="4114800"/>
            <a:ext cx="0" cy="256032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400800" y="4114800"/>
            <a:ext cx="0" cy="256032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65760" y="4370832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65760" y="437083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StackedEventsPlotter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017520" y="4370832"/>
            <a:ext cx="2468880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017520" y="437083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ActivityOverTimePlotter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577840" y="4370832"/>
            <a:ext cx="2926080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577840" y="43708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EventAnalysisHistogramPlotter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Pipe-Delimited Intermediate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entity. Columns follow strict naming conventions.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4937760" cy="47548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5389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entity_id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011680"/>
            <a:ext cx="4937760" cy="475488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0482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span_start / span_end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25856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pair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606040"/>
            <a:ext cx="4937760" cy="47548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64261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event_starts / event_ends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8529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pair (pipe-delimited)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200400"/>
            <a:ext cx="4937760" cy="47548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23697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occ_{identity}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44728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occurrence type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77840" y="1051560"/>
            <a:ext cx="3200400" cy="3200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577840" y="1051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row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77840" y="1417320"/>
            <a:ext cx="320040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23560" y="145389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entity_id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145389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577840" y="1892808"/>
            <a:ext cx="3200400" cy="438912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23560" y="192938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span_start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040880" y="192938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2024-01-01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577840" y="2368296"/>
            <a:ext cx="320040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23560" y="240487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span_end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040880" y="24048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2024-12-31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577840" y="2843784"/>
            <a:ext cx="3200400" cy="438912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623560" y="28803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event_starts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040880" y="28803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2024-03-01 | 2024-07-01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3319272"/>
            <a:ext cx="320040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623560" y="335584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event_ends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040880" y="33558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2024-05-31 | 2024-10-01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3794760"/>
            <a:ext cx="3200400" cy="438912"/>
          </a:xfrm>
          <a:prstGeom prst="rect">
            <a:avLst/>
          </a:prstGeom>
          <a:solidFill>
            <a:srgbClr val="E8EFF5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623560" y="383133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active_days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40880" y="383133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214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270248"/>
            <a:ext cx="3200400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623560" y="430682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occ_hepb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040880" y="430682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E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2024-04-15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combine() merges intermediates for joint visualization →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eventus as a Framework, Not Just a Package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eventus organizes and connects existing analytical tools rather than duplicating them.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1645920" cy="47548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lifelines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57400" y="1700784"/>
            <a:ext cx="3657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468880" y="148132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analysis outputs map onto span-event 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468880" y="17099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PipeDelimitedIntermediateEvents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1645920" cy="47548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224028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57400" y="2478024"/>
            <a:ext cx="3657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468880" y="225856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Hawkes process models fit on occurrence inter-event times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68880" y="248716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PipeDelimitedIntermediateOccurrences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017520"/>
            <a:ext cx="1645920" cy="47548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301752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scikit-learn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057400" y="3255264"/>
            <a:ext cx="3657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468880" y="30358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matrices built from intermediate columns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68880" y="32644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Any ML pipeline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794760"/>
            <a:ext cx="1645920" cy="475488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379476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statsmodels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057400" y="4032504"/>
            <a:ext cx="3657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468880" y="381304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on active_days, gap statistics, density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468880" y="404164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Any analyzer output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4572000"/>
            <a:ext cx="8412480" cy="384048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analyzer producing a PipeDelimitedIntermediate-compliant DataFrame participates in the eventus pipeline.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APIs and LLMs are Complementary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840480" cy="3474720"/>
          </a:xfrm>
          <a:prstGeom prst="rect">
            <a:avLst/>
          </a:prstGeom>
          <a:solidFill>
            <a:srgbClr val="1A1A2E"/>
          </a:solidFill>
          <a:ln w="1905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eventus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50876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A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df['cov'] = (df['end'] - df['start']).dt.days
mask = df['cov'] &gt; 0
df2 = df[mask].groupby('id')...
# LLM must reverse-engineer intent
# from 200 lines of mutations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4251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Hard to reason about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2651760"/>
            <a:ext cx="5486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83480" y="1005840"/>
            <a:ext cx="3840480" cy="3474720"/>
          </a:xfrm>
          <a:prstGeom prst="rect">
            <a:avLst/>
          </a:prstGeom>
          <a:solidFill>
            <a:srgbClr val="0D3040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83480" y="1005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eventus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120640" y="150876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events = Events(df, sem)
result = analyzer
  .calc_active_vs_inactive()
# LLM reasons at object level:
# which class? which analyzer?
# which intermediate?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83480" y="4114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Readable concepts</a:t>
            </a:r>
            <a:endParaRPr lang="en-US" sz="1200"/>
          </a:p>
          <a:p>
            <a:pPr marL="0" indent="0" algn="ctr">
              <a:buNone/>
            </a:pPr>
            <a:r>
              <a:rPr lang="en-US" sz="1200" b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Navigable by LLMs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"Packages provide the infrastructure. LLMs navigate it."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Pipeline to Insight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0233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23360" cy="3200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881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Events Bar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435608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bar per entity. Active (green), inactive (gray), gaps (red). Occurrence markers overlaid as lines or circles.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51560"/>
            <a:ext cx="40233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4023360" cy="3200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10881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Over Time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entities active at each relative day from span start. Up/down arrows show entries and exits.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017520"/>
            <a:ext cx="40233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3017520"/>
            <a:ext cx="4023360" cy="3200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3054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Days Histogram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401568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of active days across entities. Percentile lines at p25/p50/p75.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3017520"/>
            <a:ext cx="4023360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3017520"/>
            <a:ext cx="4023360" cy="320040"/>
          </a:xfrm>
          <a:prstGeom prst="rect">
            <a:avLst/>
          </a:prstGeom>
          <a:solidFill>
            <a:srgbClr val="0D2B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0" y="3054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Days Violin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3401568"/>
            <a:ext cx="3840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Before/After/Middle/Total inactive days compared side by side. Width scaled by 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033272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OccurrencesWithinEventsAnalyzer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1280160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occurrence fall within an active event? Which one?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1801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CrossOccurrenceAnalyzer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between MMR and HepB — sequence, co-occurrence, lag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551176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25511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25328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OccurrencesPlotter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2779776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visualizations for occurrence distributions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300984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74320" y="33009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32826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Hawkes Process Integration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3529584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Self-exciting point process modeling via tick or PoissonProcesses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4050792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74320" y="4050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960" y="403250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eventus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4279392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__init__.py, pyproject.toml, pytest suite, PyPI release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774</Words>
  <Application>Microsoft Office PowerPoint</Application>
  <PresentationFormat>On-screen Show (16:9)</PresentationFormat>
  <Paragraphs>175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Consolas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eventus: Architecture</dc:title>
  <dc:subject>PptxGenJS Presentation</dc:subject>
  <dc:creator>PptxGenJS</dc:creator>
  <cp:lastModifiedBy>Daniel Arenas</cp:lastModifiedBy>
  <cp:revision>6</cp:revision>
  <dcterms:created xsi:type="dcterms:W3CDTF">2026-04-01T00:19:55Z</dcterms:created>
  <dcterms:modified xsi:type="dcterms:W3CDTF">2026-04-01T20:28:51Z</dcterms:modified>
</cp:coreProperties>
</file>