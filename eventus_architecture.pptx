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70" r:id="rId2"/>
    <p:sldId id="271" r:id="rId3"/>
    <p:sldId id="272" r:id="rId4"/>
    <p:sldId id="275" r:id="rId5"/>
    <p:sldId id="277" r:id="rId6"/>
    <p:sldId id="278" r:id="rId7"/>
    <p:sldId id="279" r:id="rId8"/>
    <p:sldId id="280" r:id="rId9"/>
    <p:sldId id="281" r:id="rId10"/>
    <p:sldId id="265" r:id="rId11"/>
    <p:sldId id="268" r:id="rId12"/>
    <p:sldId id="267" r:id="rId13"/>
    <p:sldId id="269" r:id="rId14"/>
    <p:sldId id="266" r:id="rId15"/>
    <p:sldId id="273" r:id="rId16"/>
    <p:sldId id="274" r:id="rId17"/>
    <p:sldId id="276" r:id="rId18"/>
    <p:sldId id="282" r:id="rId19"/>
    <p:sldId id="283" r:id="rId20"/>
    <p:sldId id="284" r:id="rId21"/>
    <p:sldId id="285" r:id="rId22"/>
    <p:sldId id="256" r:id="rId23"/>
    <p:sldId id="257" r:id="rId24"/>
    <p:sldId id="258" r:id="rId25"/>
    <p:sldId id="259" r:id="rId26"/>
    <p:sldId id="260" r:id="rId27"/>
    <p:sldId id="261" r:id="rId28"/>
    <p:sldId id="262" r:id="rId29"/>
    <p:sldId id="263" r:id="rId30"/>
    <p:sldId id="264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1956" y="8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1T23:27:25.08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1 136 24575,'1243'0'-2797,"-1076"0"2118,938-5-2620,-4-30 2540,-712 12-709,-81 3 1101,271-22 2665,-456 33 1950,-119 8-3970,0 1-1,0-1 0,0 1 0,0 0 1,0 1-1,0-1 0,0 1 1,0 0-1,7 2 0,-10-3-272,0 1-1,0-1 0,-1 1 1,1-1-1,0 1 0,-1 0 0,1-1 1,0 1-1,-1 0 0,1 0 1,-1-1-1,1 1 0,-1 0 1,1 0-1,-1 0 0,0 0 1,1-1-1,-1 3 0,1-1-7,-1 1 0,0-1 0,0 0 0,0 1-1,0-1 1,-1 1 0,1-1 0,-1 1-1,-1 3 1,-3 9 3,-1-1 0,0 0 0,-1 0 0,0-1 0,-13 16 0,-53 61 0,69-85 0,-361 367-383,-32-32 0,91-109 383,290-219 0,8-5 0,0-1 0,0 0 0,-1 0 0,1-1 0,-1 0 0,-1-1 0,1 0 0,-17 5 0,24-9-73,0 0 0,1 0 1,-1 0-1,0 0 0,0 0 0,1 0 0,-1 0 1,0-1-1,0 1 0,1-1 0,-1 1 0,0-1 1,1 0-1,-1 1 0,0-1 0,-1-1 0,-16-20-6114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1T23:27:26.20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2130 1804 24575,'-4'-7'0,"-21"-19"0,-36-27 0,-47-32 0,-43-29 0,-43-33 0,-38-34-2783,-18-25 2783,-6-16 0,10 3 0,32 27 0,44 34 0,40 41 658,42 40-6724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20:42:23.09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20:42:23.09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20:42:23.09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20:42:23.09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6208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.xml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.xml"/><Relationship Id="rId24" Type="http://schemas.openxmlformats.org/officeDocument/2006/relationships/image" Target="../media/image12.png"/><Relationship Id="rId23" Type="http://schemas.openxmlformats.org/officeDocument/2006/relationships/image" Target="../media/image110.png"/></Relationships>
</file>

<file path=ppt/slides/_rels/slide12.xml.rels><?xml version="1.0" encoding="UTF-8" standalone="yes"?>
<Relationships xmlns="http://schemas.openxmlformats.org/package/2006/relationships"><Relationship Id="rId25" Type="http://schemas.openxmlformats.org/officeDocument/2006/relationships/image" Target="../media/image1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Relationship Id="rId24" Type="http://schemas.openxmlformats.org/officeDocument/2006/relationships/image" Target="../media/image13.png"/><Relationship Id="rId23" Type="http://schemas.openxmlformats.org/officeDocument/2006/relationships/image" Target="../media/image110.png"/></Relationships>
</file>

<file path=ppt/slides/_rels/slide13.xml.rels><?xml version="1.0" encoding="UTF-8" standalone="yes"?>
<Relationships xmlns="http://schemas.openxmlformats.org/package/2006/relationships"><Relationship Id="rId25" Type="http://schemas.openxmlformats.org/officeDocument/2006/relationships/image" Target="../media/image16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.xml"/><Relationship Id="rId24" Type="http://schemas.openxmlformats.org/officeDocument/2006/relationships/image" Target="../media/image15.png"/><Relationship Id="rId23" Type="http://schemas.openxmlformats.org/officeDocument/2006/relationships/image" Target="../media/image1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1.xml"/><Relationship Id="rId23" Type="http://schemas.openxmlformats.org/officeDocument/2006/relationships/image" Target="../media/image11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12EBA4-376B-A76C-11E3-2B5886C35E2A}"/>
              </a:ext>
            </a:extLst>
          </p:cNvPr>
          <p:cNvSpPr txBox="1"/>
          <p:nvPr/>
        </p:nvSpPr>
        <p:spPr>
          <a:xfrm>
            <a:off x="53340" y="114300"/>
            <a:ext cx="8831580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/>
              <a:t>Vignette # 1:</a:t>
            </a:r>
          </a:p>
          <a:p>
            <a:r>
              <a:rPr lang="en-US" sz="1400"/>
              <a:t>You are a clinical researcher studying the relationship between inpatient hospitalizations and subsequent emergency department visits in a Medicaid population. Your institution's data warehouse gives you a hospitalization file — one row per claim, not one row per visit. </a:t>
            </a:r>
          </a:p>
          <a:p>
            <a:r>
              <a:rPr lang="en-US" sz="1400"/>
              <a:t>Before you can ask any scientific question, you need to answer a more mundane one:"Do I actually know how many times each patient was hospitalized?"This sounds simple. It is not.</a:t>
            </a:r>
          </a:p>
          <a:p>
            <a:endParaRPr lang="en-US" sz="1400"/>
          </a:p>
          <a:p>
            <a:r>
              <a:rPr lang="en-US" sz="1400" b="1"/>
              <a:t>Problem 1 — Duplicate claims:</a:t>
            </a:r>
            <a:r>
              <a:rPr lang="en-US" sz="1400"/>
              <a:t> A single 5-day hospitalization generates multiple rows — one per billing day, or one per diagnosis code, or one per provider. You have 47,000 rows but far fewer actual visits.</a:t>
            </a:r>
          </a:p>
          <a:p>
            <a:endParaRPr lang="en-US" sz="1400"/>
          </a:p>
          <a:p>
            <a:r>
              <a:rPr lang="en-US" sz="1400" b="1"/>
              <a:t>Problem 2 — Overlapping stays:</a:t>
            </a:r>
            <a:r>
              <a:rPr lang="en-US" sz="1400"/>
              <a:t> A patient transferred between units or facilities generates two overlapping intervals. Naively counting rows double-counts this patient's hospitalization burden.</a:t>
            </a:r>
          </a:p>
          <a:p>
            <a:endParaRPr lang="en-US" sz="1400"/>
          </a:p>
          <a:p>
            <a:r>
              <a:rPr lang="en-US" sz="1400" b="1"/>
              <a:t>Problem 3 — Missing admit dates:</a:t>
            </a:r>
            <a:r>
              <a:rPr lang="en-US" sz="1400"/>
              <a:t> 3% of rows have null admit_date. Another 1% have null patient_id. These need to be removed — but you need to know how many and why, because your IRB report will ask.</a:t>
            </a:r>
          </a:p>
          <a:p>
            <a:endParaRPr lang="en-US" sz="1400"/>
          </a:p>
          <a:p>
            <a:r>
              <a:rPr lang="en-US" sz="1400" b="1"/>
              <a:t>Problem 4 — Implausible dates:</a:t>
            </a:r>
            <a:r>
              <a:rPr lang="en-US" sz="1400"/>
              <a:t> System errors produce admit dates in 1899 or 2087. A script that silently keeps these will corrupt every downstream analysis.</a:t>
            </a:r>
          </a:p>
          <a:p>
            <a:endParaRPr lang="en-US" sz="1400"/>
          </a:p>
          <a:p>
            <a:r>
              <a:rPr lang="en-US" sz="1400" b="1"/>
              <a:t>Problem 5 — Same-day readmissions vs. continuous stays:</a:t>
            </a:r>
            <a:r>
              <a:rPr lang="en-US" sz="1400"/>
              <a:t> A patient discharged on Monday and readmitted on Tuesday — is that one stay or two? The answer depends on your research question and needs to be a conscious, documented choice, not an accident of how you sorted a DataFrame.</a:t>
            </a:r>
          </a:p>
          <a:p>
            <a:endParaRPr lang="en-US" sz="1400"/>
          </a:p>
          <a:p>
            <a:endParaRPr lang="en-US" sz="1400"/>
          </a:p>
          <a:p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803616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29512E9-2C46-C149-16AE-4D78C4B73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2637064" cy="13159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83D7A71-2661-5823-D6DF-64FDFD3EA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469571"/>
            <a:ext cx="5527221" cy="16988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B39336D-E921-C006-D690-FA07310938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5238" y="0"/>
            <a:ext cx="5424130" cy="14695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9EE501A-1F69-79DB-DEDB-CC134BBA13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3731" y="3363686"/>
            <a:ext cx="3421228" cy="1779814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959A2273-31B2-AA64-366D-58A56CA706D7}"/>
              </a:ext>
            </a:extLst>
          </p:cNvPr>
          <p:cNvGrpSpPr/>
          <p:nvPr/>
        </p:nvGrpSpPr>
        <p:grpSpPr>
          <a:xfrm>
            <a:off x="2367180" y="3448761"/>
            <a:ext cx="1827000" cy="1165320"/>
            <a:chOff x="2367180" y="3448761"/>
            <a:chExt cx="1827000" cy="116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0382919-651D-25F6-F799-B4D17DBACB2A}"/>
                    </a:ext>
                  </a:extLst>
                </p14:cNvPr>
                <p14:cNvContentPartPr/>
                <p14:nvPr/>
              </p14:nvContentPartPr>
              <p14:xfrm>
                <a:off x="2367180" y="4163721"/>
                <a:ext cx="1827000" cy="450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0382919-651D-25F6-F799-B4D17DBACB2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361060" y="4157601"/>
                  <a:ext cx="1839240" cy="46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4AEC689-B2C2-29BA-7FD1-59FA0673ECC2}"/>
                    </a:ext>
                  </a:extLst>
                </p14:cNvPr>
                <p14:cNvContentPartPr/>
                <p14:nvPr/>
              </p14:nvContentPartPr>
              <p14:xfrm>
                <a:off x="3397140" y="3448761"/>
                <a:ext cx="766800" cy="6498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4AEC689-B2C2-29BA-7FD1-59FA0673ECC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391020" y="3442641"/>
                  <a:ext cx="779040" cy="662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47754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C164C1-B916-989E-C413-F1D5093BE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851" y="545996"/>
            <a:ext cx="5029458" cy="2025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910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0F0DC-1FEC-63E6-67CB-929FE0D04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9710E0-C575-E561-7620-78F92E8C2A3F}"/>
              </a:ext>
            </a:extLst>
          </p:cNvPr>
          <p:cNvSpPr txBox="1"/>
          <p:nvPr/>
        </p:nvSpPr>
        <p:spPr>
          <a:xfrm>
            <a:off x="53340" y="175260"/>
            <a:ext cx="883158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/>
              <a:t>Vignette #2:</a:t>
            </a:r>
          </a:p>
          <a:p>
            <a:r>
              <a:rPr lang="en-US" sz="1400"/>
              <a:t>You have cleaned the data. Now you want to understand how long hospitalizations last. Matplotlib is powerful, but producing a publication-ready duration histogram requires decisions: </a:t>
            </a:r>
          </a:p>
          <a:p>
            <a:endParaRPr lang="en-US" sz="1400"/>
          </a:p>
          <a:p>
            <a:r>
              <a:rPr lang="en-US" sz="1400" b="1"/>
              <a:t>Considerations</a:t>
            </a:r>
          </a:p>
          <a:p>
            <a:r>
              <a:rPr lang="en-US" sz="1400"/>
              <a:t>How wide should the bins be? </a:t>
            </a:r>
          </a:p>
          <a:p>
            <a:r>
              <a:rPr lang="en-US" sz="1400"/>
              <a:t>Do 7-day bins make more clinical sense than 30? </a:t>
            </a:r>
          </a:p>
          <a:p>
            <a:r>
              <a:rPr lang="en-US" sz="1400"/>
              <a:t>Where do you put the percentile lines? </a:t>
            </a:r>
          </a:p>
          <a:p>
            <a:r>
              <a:rPr lang="en-US" sz="1400"/>
              <a:t>What color is the background? </a:t>
            </a:r>
          </a:p>
          <a:p>
            <a:r>
              <a:rPr lang="en-US" sz="1400"/>
              <a:t>What color is each stratum when you break down by hospital or DRG category? </a:t>
            </a:r>
          </a:p>
          <a:p>
            <a:endParaRPr lang="en-US" sz="1400"/>
          </a:p>
          <a:p>
            <a:r>
              <a:rPr lang="en-US" sz="1400" b="1"/>
              <a:t>Problem 1 -  </a:t>
            </a:r>
            <a:r>
              <a:rPr lang="en-US" sz="1400"/>
              <a:t>How do you make sure the bins are consistent when you rerun the analysis next month on updated data?</a:t>
            </a:r>
          </a:p>
          <a:p>
            <a:endParaRPr lang="en-US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DA4C3-92BE-F24A-3A89-68403C69F8BE}"/>
              </a:ext>
            </a:extLst>
          </p:cNvPr>
          <p:cNvSpPr txBox="1"/>
          <p:nvPr/>
        </p:nvSpPr>
        <p:spPr>
          <a:xfrm>
            <a:off x="2598420" y="3308925"/>
            <a:ext cx="618744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We asked Claude to write an equivalent script using only pandas and matplotlib. </a:t>
            </a:r>
            <a:r>
              <a:rPr lang="en-US" sz="1200">
                <a:solidFill>
                  <a:srgbClr val="FF0000"/>
                </a:solidFill>
              </a:rPr>
              <a:t>It produced 118 lines of code </a:t>
            </a:r>
            <a:r>
              <a:rPr lang="en-US" sz="1200"/>
              <a:t>— and that assumes the data is already clean. It did not utilize configuration files, so every decision is hardcoded directly in the script: bin width, colors, percentile values, figure size. There are no checks that those choices are valid — a typo in a hex color or a negative bin width fails silently </a:t>
            </a:r>
            <a:r>
              <a:rPr lang="en-US" sz="1200">
                <a:solidFill>
                  <a:srgbClr val="FF0000"/>
                </a:solidFill>
              </a:rPr>
              <a:t>or throws an unhelpful error at plot time. </a:t>
            </a:r>
            <a:r>
              <a:rPr lang="en-US" sz="1200"/>
              <a:t>To change a single color you must find it in the script. To share your visualization choices with a colleague you must share the entire script. </a:t>
            </a:r>
            <a:r>
              <a:rPr lang="en-US" sz="1200">
                <a:solidFill>
                  <a:srgbClr val="FF0000"/>
                </a:solidFill>
              </a:rPr>
              <a:t>To reuse this plot on a different dataset next month you must edit the script again.</a:t>
            </a:r>
          </a:p>
        </p:txBody>
      </p:sp>
    </p:spTree>
    <p:extLst>
      <p:ext uri="{BB962C8B-B14F-4D97-AF65-F5344CB8AC3E}">
        <p14:creationId xmlns:p14="http://schemas.microsoft.com/office/powerpoint/2010/main" val="447144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451C86-78E0-DC66-C747-B2B7A2029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2668453" cy="34208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AD2EEA-8E09-0B7A-EDC8-577692ABC16F}"/>
              </a:ext>
            </a:extLst>
          </p:cNvPr>
          <p:cNvSpPr txBox="1"/>
          <p:nvPr/>
        </p:nvSpPr>
        <p:spPr>
          <a:xfrm>
            <a:off x="2956560" y="4424166"/>
            <a:ext cx="6187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/>
              <a:t>With eventus, the configuration is separated from the code entirely. The YAML is validated on construction — a bad hex color raises immediately with a clear message, before a single line of plotting code runs. The code never changes. The config is your methods section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A8CA5A-1AF2-7D7C-93BC-CBA59E9C2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6560" y="2122714"/>
            <a:ext cx="4861009" cy="23960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C7DFFF6-2A9C-E282-051F-64144BC969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6332" y="95287"/>
            <a:ext cx="6216970" cy="12192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6A90517-91FF-381F-6013-3EE0FC11F50C}"/>
              </a:ext>
            </a:extLst>
          </p:cNvPr>
          <p:cNvSpPr txBox="1"/>
          <p:nvPr/>
        </p:nvSpPr>
        <p:spPr>
          <a:xfrm>
            <a:off x="6642463" y="1371600"/>
            <a:ext cx="2103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*** gotta change the default for the title and allow months/years</a:t>
            </a:r>
          </a:p>
        </p:txBody>
      </p:sp>
    </p:spTree>
    <p:extLst>
      <p:ext uri="{BB962C8B-B14F-4D97-AF65-F5344CB8AC3E}">
        <p14:creationId xmlns:p14="http://schemas.microsoft.com/office/powerpoint/2010/main" val="2029337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378200-6871-541B-180D-80B335EA2BAA}"/>
              </a:ext>
            </a:extLst>
          </p:cNvPr>
          <p:cNvSpPr txBox="1"/>
          <p:nvPr/>
        </p:nvSpPr>
        <p:spPr>
          <a:xfrm>
            <a:off x="53340" y="175260"/>
            <a:ext cx="883158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/>
              <a:t>Vignette # 3:</a:t>
            </a:r>
          </a:p>
          <a:p>
            <a:r>
              <a:rPr lang="en-US" sz="1400" b="1"/>
              <a:t>How many days was each patient hospitalized during their observation period?</a:t>
            </a:r>
          </a:p>
          <a:p>
            <a:r>
              <a:rPr lang="en-US" sz="1400"/>
              <a:t>This sounds like a simple aggregation. It is not.Before writing a single line of code you must make six decisions, each of which affects your scientific conclusions:</a:t>
            </a:r>
          </a:p>
          <a:p>
            <a:endParaRPr lang="en-US" sz="1400"/>
          </a:p>
          <a:p>
            <a:r>
              <a:rPr lang="en-US" sz="1400" b="1"/>
              <a:t>Problem 1 </a:t>
            </a:r>
            <a:r>
              <a:rPr lang="en-US" sz="1400"/>
              <a:t>- What is the observation period? Fixed calendar, age window, or index date — three different designs, three different constructions, same downstream analysis.</a:t>
            </a:r>
          </a:p>
          <a:p>
            <a:endParaRPr lang="en-US" sz="1400"/>
          </a:p>
          <a:p>
            <a:r>
              <a:rPr lang="en-US" sz="1400" b="1"/>
              <a:t>Problem 2 - </a:t>
            </a:r>
            <a:r>
              <a:rPr lang="en-US" sz="1400"/>
              <a:t>What happens when a hospitalization crosses the boundary? A patient admitted December 15 and discharged January 20 must be clipped to the period. A script that does not clip systematically overcounts.</a:t>
            </a:r>
          </a:p>
          <a:p>
            <a:endParaRPr lang="en-US" sz="1400"/>
          </a:p>
          <a:p>
            <a:r>
              <a:rPr lang="en-US" sz="1400" b="1"/>
              <a:t>Problem 3 - </a:t>
            </a:r>
            <a:r>
              <a:rPr lang="en-US" sz="1400"/>
              <a:t> What is a meaningful gap? A discharge on March 14 and readmission on March 15 — one hospitalization or two? This decision must be explicit, documented, and consistent. A script buries it on line 47.</a:t>
            </a:r>
          </a:p>
          <a:p>
            <a:endParaRPr lang="en-US" sz="1400"/>
          </a:p>
          <a:p>
            <a:r>
              <a:rPr lang="en-US" sz="1400"/>
              <a:t>Others - What about patients with no hospitalizations? What about overlapping stays?</a:t>
            </a:r>
          </a:p>
          <a:p>
            <a:endParaRPr lang="en-US" sz="1400"/>
          </a:p>
          <a:p>
            <a:r>
              <a:rPr lang="en-US" sz="1400"/>
              <a:t>What you may want to plot: Hospitalized days? Gaps between hospitalizations? what follow</a:t>
            </a:r>
          </a:p>
        </p:txBody>
      </p:sp>
    </p:spTree>
    <p:extLst>
      <p:ext uri="{BB962C8B-B14F-4D97-AF65-F5344CB8AC3E}">
        <p14:creationId xmlns:p14="http://schemas.microsoft.com/office/powerpoint/2010/main" val="3549107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F31E6C-6343-C599-499C-7C985D1DC1FA}"/>
              </a:ext>
            </a:extLst>
          </p:cNvPr>
          <p:cNvSpPr txBox="1"/>
          <p:nvPr/>
        </p:nvSpPr>
        <p:spPr>
          <a:xfrm>
            <a:off x="2727960" y="3771346"/>
            <a:ext cx="61874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No configuration files. No specific error messages — a wrong column name gives you a KeyError, a bad date gives you a silent NaN, a logic error gives you wrong numbers with no warning. The meaningful gap is hardcoded. </a:t>
            </a:r>
          </a:p>
          <a:p>
            <a:endParaRPr lang="en-US" sz="1200"/>
          </a:p>
          <a:p>
            <a:r>
              <a:rPr lang="en-US" sz="1200"/>
              <a:t>The eventus version is 6 lines of code, two YAML files, and specific errors that tell you exactly what went wrong.</a:t>
            </a:r>
            <a:endParaRPr lang="en-US" sz="1200" i="1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1AEF2B-E7B4-9BA0-B09C-E25CF08B1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975" y="413763"/>
            <a:ext cx="7086964" cy="312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680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8E370-2D86-267B-C161-050A9525F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A2609B-A8FE-52AB-94BD-9EA64CC875B8}"/>
              </a:ext>
            </a:extLst>
          </p:cNvPr>
          <p:cNvSpPr txBox="1"/>
          <p:nvPr/>
        </p:nvSpPr>
        <p:spPr>
          <a:xfrm>
            <a:off x="53340" y="175260"/>
            <a:ext cx="883158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/>
              <a:t>Vignette #4:</a:t>
            </a:r>
          </a:p>
          <a:p>
            <a:r>
              <a:rPr lang="en-US" sz="1400"/>
              <a:t>You have clean hospitalization data. You want to see it — not a summary statistic, but the actual events: where in each patient's period did they occur? Were they clustered early? Spread throughout? Did some patients have long gaps and then a burst? These questions generate hypotheses. You cannot ask them from a table.The right visualization is a stacked bar chart. </a:t>
            </a:r>
          </a:p>
          <a:p>
            <a:endParaRPr lang="en-US" sz="1400"/>
          </a:p>
          <a:p>
            <a:r>
              <a:rPr lang="en-US" sz="1400"/>
              <a:t>The problems: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Cleaning the events: null dates, duplicates, causality violations, overlapping stays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Building the observation period: calendar, age window, or index date — each requires different logic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Clipping events to each patient's personal period boundary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Normalizing every event to each patient's own timeline — a different calculation per patient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Handling patients with no hospitalizations — they still get a row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Every visual choice hardcoded — colors, bar height, marker style, figure size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3CA666-4A15-491F-E8A2-CC7C25141802}"/>
              </a:ext>
            </a:extLst>
          </p:cNvPr>
          <p:cNvSpPr txBox="1"/>
          <p:nvPr/>
        </p:nvSpPr>
        <p:spPr>
          <a:xfrm>
            <a:off x="2598420" y="3308925"/>
            <a:ext cx="61874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We used Claude to estimate the equivalent pandas and matplotlib script: approximately 490 lines for one observation period type. No configuration file. Switching observation period type requires rewriting three sections. The normalization logic alone is 50 lines.</a:t>
            </a:r>
          </a:p>
          <a:p>
            <a:r>
              <a:rPr lang="en-US" sz="1200">
                <a:solidFill>
                  <a:srgbClr val="FF0000"/>
                </a:solidFill>
              </a:rPr>
              <a:t>At this length, plotting choices are hardcoded in the script and there are no specific errors thrown. </a:t>
            </a:r>
          </a:p>
        </p:txBody>
      </p:sp>
    </p:spTree>
    <p:extLst>
      <p:ext uri="{BB962C8B-B14F-4D97-AF65-F5344CB8AC3E}">
        <p14:creationId xmlns:p14="http://schemas.microsoft.com/office/powerpoint/2010/main" val="2155384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6516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BD98FE-2ECA-29F0-CBC6-27CDFF0C634B}"/>
              </a:ext>
            </a:extLst>
          </p:cNvPr>
          <p:cNvSpPr txBox="1"/>
          <p:nvPr/>
        </p:nvSpPr>
        <p:spPr>
          <a:xfrm>
            <a:off x="169817" y="634526"/>
            <a:ext cx="2468881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Semantics</a:t>
            </a:r>
          </a:p>
          <a:p>
            <a:pPr algn="ctr"/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"I know what columns mean"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D0BECE-032C-B05E-8016-6B42864B4776}"/>
              </a:ext>
            </a:extLst>
          </p:cNvPr>
          <p:cNvSpPr txBox="1"/>
          <p:nvPr/>
        </p:nvSpPr>
        <p:spPr>
          <a:xfrm>
            <a:off x="169816" y="1329034"/>
            <a:ext cx="2468881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Data Objects</a:t>
            </a:r>
          </a:p>
          <a:p>
            <a:pPr algn="ctr"/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"I hold clean/validated data"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D37947-6237-1437-B713-3D564F8E3ED7}"/>
              </a:ext>
            </a:extLst>
          </p:cNvPr>
          <p:cNvSpPr txBox="1"/>
          <p:nvPr/>
        </p:nvSpPr>
        <p:spPr>
          <a:xfrm>
            <a:off x="141515" y="2001237"/>
            <a:ext cx="2468881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Analyzers</a:t>
            </a:r>
          </a:p>
          <a:p>
            <a:pPr algn="ctr"/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"I compute shareable stuff"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F159B6-AAD1-8C7B-FB9A-D5654E8FD269}"/>
              </a:ext>
            </a:extLst>
          </p:cNvPr>
          <p:cNvSpPr txBox="1"/>
          <p:nvPr/>
        </p:nvSpPr>
        <p:spPr>
          <a:xfrm>
            <a:off x="169814" y="2676460"/>
            <a:ext cx="2468881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Intermediates</a:t>
            </a:r>
          </a:p>
          <a:p>
            <a:pPr algn="ctr"/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"Pipe-delimited columnar contract"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98FD70-B53D-EFA2-F0F4-CE70E0B3D67C}"/>
              </a:ext>
            </a:extLst>
          </p:cNvPr>
          <p:cNvSpPr txBox="1"/>
          <p:nvPr/>
        </p:nvSpPr>
        <p:spPr>
          <a:xfrm>
            <a:off x="169817" y="3517334"/>
            <a:ext cx="2468881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Visualizers</a:t>
            </a:r>
          </a:p>
          <a:p>
            <a:pPr algn="ctr"/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"I draw pictures"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17D607-8AB3-D7CA-2898-CC19C4FAC22D}"/>
              </a:ext>
            </a:extLst>
          </p:cNvPr>
          <p:cNvSpPr txBox="1"/>
          <p:nvPr/>
        </p:nvSpPr>
        <p:spPr>
          <a:xfrm>
            <a:off x="2984862" y="726858"/>
            <a:ext cx="2847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Consolas" panose="020B0609020204030204" pitchFamily="49" charset="0"/>
                <a:cs typeface="Vrinda" panose="020B0502040204020203" pitchFamily="34" charset="0"/>
              </a:rPr>
              <a:t>EventSemantics, OccurrenceSemantics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C39483-E1D0-FA0F-7227-A0A4E5CD4E10}"/>
              </a:ext>
            </a:extLst>
          </p:cNvPr>
          <p:cNvSpPr txBox="1"/>
          <p:nvPr/>
        </p:nvSpPr>
        <p:spPr>
          <a:xfrm>
            <a:off x="2984862" y="1421366"/>
            <a:ext cx="5225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Consolas" panose="020B0609020204030204" pitchFamily="49" charset="0"/>
                <a:cs typeface="Vrinda" panose="020B0502040204020203" pitchFamily="34" charset="0"/>
              </a:rPr>
              <a:t>Events, EventsPerEntity, Spans, Occurrences, OccurrencesPerEntity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D248FF-441C-8730-A19A-C6709E01C765}"/>
              </a:ext>
            </a:extLst>
          </p:cNvPr>
          <p:cNvSpPr txBox="1"/>
          <p:nvPr/>
        </p:nvSpPr>
        <p:spPr>
          <a:xfrm>
            <a:off x="2984862" y="2001237"/>
            <a:ext cx="5989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Consolas" panose="020B0609020204030204" pitchFamily="49" charset="0"/>
                <a:cs typeface="Vrinda" panose="020B0502040204020203" pitchFamily="34" charset="0"/>
              </a:rPr>
              <a:t>EventsWithinSpanAnalyzer, OccurrencesWithinSpanAnalyzer, ***OccurrencesWithinEventsAnalyzer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E67F2D-B886-0FA2-5EAB-6CE2D88D6F8A}"/>
              </a:ext>
            </a:extLst>
          </p:cNvPr>
          <p:cNvSpPr txBox="1"/>
          <p:nvPr/>
        </p:nvSpPr>
        <p:spPr>
          <a:xfrm>
            <a:off x="2984861" y="2692503"/>
            <a:ext cx="5989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Consolas" panose="020B0609020204030204" pitchFamily="49" charset="0"/>
                <a:cs typeface="Vrinda" panose="020B0502040204020203" pitchFamily="34" charset="0"/>
              </a:rPr>
              <a:t>PipeDelimitedIntermediate, PipeDelimitedIntermediateEvents, PipeDelimitedIntermediateOccurrences, ***EventsOccurrences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F75954-011D-DEB2-35B2-808EF5106C86}"/>
              </a:ext>
            </a:extLst>
          </p:cNvPr>
          <p:cNvSpPr txBox="1"/>
          <p:nvPr/>
        </p:nvSpPr>
        <p:spPr>
          <a:xfrm>
            <a:off x="2984862" y="3562209"/>
            <a:ext cx="5989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Consolas" panose="020B0609020204030204" pitchFamily="49" charset="0"/>
                <a:cs typeface="Vrinda" panose="020B0502040204020203" pitchFamily="34" charset="0"/>
              </a:rPr>
              <a:t>StackedBarsPlotter(change name), ActivityOverTimePlotter, EventWithinSpanAnalysisHistogramPlotter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E8C2BE-F953-734F-60AF-10A9420782FC}"/>
              </a:ext>
            </a:extLst>
          </p:cNvPr>
          <p:cNvSpPr txBox="1"/>
          <p:nvPr/>
        </p:nvSpPr>
        <p:spPr>
          <a:xfrm>
            <a:off x="6936377" y="102716"/>
            <a:ext cx="22076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Five Main Abstractions</a:t>
            </a:r>
          </a:p>
        </p:txBody>
      </p:sp>
    </p:spTree>
    <p:extLst>
      <p:ext uri="{BB962C8B-B14F-4D97-AF65-F5344CB8AC3E}">
        <p14:creationId xmlns:p14="http://schemas.microsoft.com/office/powerpoint/2010/main" val="4279311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6626E-754E-90A5-C750-75506B182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F21EF0-00F1-010D-BC21-4BCF4735C809}"/>
              </a:ext>
            </a:extLst>
          </p:cNvPr>
          <p:cNvSpPr txBox="1"/>
          <p:nvPr/>
        </p:nvSpPr>
        <p:spPr>
          <a:xfrm>
            <a:off x="5596166" y="287382"/>
            <a:ext cx="3448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Configurability/Reproducibility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934C1257-0597-70AC-ABBC-46F404245F6D}"/>
                  </a:ext>
                </a:extLst>
              </p14:cNvPr>
              <p14:cNvContentPartPr/>
              <p14:nvPr/>
            </p14:nvContentPartPr>
            <p14:xfrm>
              <a:off x="4036269" y="653091"/>
              <a:ext cx="36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8DB5CBF-D701-D322-4416-C438505D842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030149" y="646971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C30085CE-B221-AF99-8754-B7ED129D807B}"/>
              </a:ext>
            </a:extLst>
          </p:cNvPr>
          <p:cNvSpPr txBox="1"/>
          <p:nvPr/>
        </p:nvSpPr>
        <p:spPr>
          <a:xfrm>
            <a:off x="438240" y="3056289"/>
            <a:ext cx="4572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/>
              <a:t>Why is the semantics abstraction needed:</a:t>
            </a:r>
          </a:p>
          <a:p>
            <a:r>
              <a:rPr lang="en-US" sz="1200" i="1"/>
              <a:t>A pandas DataFrame does not know what its columns mean — 'begin_date' could be a birth date, a coverage start, or a contract signing. EventSemantics is built for exactly one purpose: to hold that meaning explicitly, validate it on construction, and carry it through the entire pipeline so no downstream function ever has to guess.</a:t>
            </a:r>
          </a:p>
          <a:p>
            <a:endParaRPr lang="en-US" sz="1200"/>
          </a:p>
          <a:p>
            <a:r>
              <a:rPr lang="en-US" sz="1200" i="1"/>
              <a:t>Nothing else in your script needs to remember that the column to describe this particular event was 'enrollment_start_date'.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F377D5-6B9D-4B1E-592A-C4DA8D7CC6C5}"/>
              </a:ext>
            </a:extLst>
          </p:cNvPr>
          <p:cNvSpPr txBox="1"/>
          <p:nvPr/>
        </p:nvSpPr>
        <p:spPr>
          <a:xfrm>
            <a:off x="3794757" y="1276809"/>
            <a:ext cx="19516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i="1"/>
              <a:t>EventSemantics.build_from_yaml(filename)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50E3F5-BB79-2DC0-B257-815FC6EE8DA5}"/>
              </a:ext>
            </a:extLst>
          </p:cNvPr>
          <p:cNvSpPr txBox="1"/>
          <p:nvPr/>
        </p:nvSpPr>
        <p:spPr>
          <a:xfrm>
            <a:off x="5746389" y="1197309"/>
            <a:ext cx="2468881" cy="1015663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Consolas" panose="020B0609020204030204" pitchFamily="49" charset="0"/>
                <a:cs typeface="Times New Roman" panose="02020603050405020304" pitchFamily="18" charset="0"/>
              </a:rPr>
              <a:t>EventSemantics</a:t>
            </a:r>
          </a:p>
          <a:p>
            <a:pPr algn="ctr"/>
            <a:r>
              <a:rPr lang="en-US" sz="1200">
                <a:latin typeface="Centaur" panose="02030504050205020304" pitchFamily="18" charset="0"/>
                <a:cs typeface="Times New Roman" panose="02020603050405020304" pitchFamily="18" charset="0"/>
              </a:rPr>
              <a:t>type: str</a:t>
            </a:r>
          </a:p>
          <a:p>
            <a:pPr algn="ctr"/>
            <a:r>
              <a:rPr lang="en-US" sz="1200">
                <a:latin typeface="Centaur" panose="02030504050205020304" pitchFamily="18" charset="0"/>
                <a:cs typeface="Times New Roman" panose="02020603050405020304" pitchFamily="18" charset="0"/>
              </a:rPr>
              <a:t>entity_id_col: str</a:t>
            </a:r>
          </a:p>
          <a:p>
            <a:pPr algn="ctr"/>
            <a:r>
              <a:rPr lang="en-US" sz="1200">
                <a:latin typeface="Centaur" panose="02030504050205020304" pitchFamily="18" charset="0"/>
                <a:cs typeface="Times New Roman" panose="02020603050405020304" pitchFamily="18" charset="0"/>
              </a:rPr>
              <a:t>start_time_col: str</a:t>
            </a:r>
          </a:p>
          <a:p>
            <a:pPr algn="ctr"/>
            <a:r>
              <a:rPr lang="en-US" sz="1200">
                <a:latin typeface="Centaur" panose="02030504050205020304" pitchFamily="18" charset="0"/>
                <a:cs typeface="Times New Roman" panose="02020603050405020304" pitchFamily="18" charset="0"/>
              </a:rPr>
              <a:t>end_time_col: str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81AB5A-5A1A-6E45-3E27-DC9724B6574D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09007" y="1067268"/>
            <a:ext cx="3435527" cy="81919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2646052-BDF4-47ED-FEBB-394801542414}"/>
              </a:ext>
            </a:extLst>
          </p:cNvPr>
          <p:cNvSpPr txBox="1"/>
          <p:nvPr/>
        </p:nvSpPr>
        <p:spPr>
          <a:xfrm>
            <a:off x="4086950" y="2587309"/>
            <a:ext cx="4572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i="1"/>
              <a:t>Validated on construction. If your YAML cannot fully describe the events — the object does not get built. You get specific errors, not silent failures downstream.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EB97454-440A-6B72-D276-6E456796A21E}"/>
              </a:ext>
            </a:extLst>
          </p:cNvPr>
          <p:cNvCxnSpPr/>
          <p:nvPr/>
        </p:nvCxnSpPr>
        <p:spPr>
          <a:xfrm>
            <a:off x="3905794" y="1705140"/>
            <a:ext cx="16903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4EECC1A-3B46-8054-AD8B-BFB5AD1449C9}"/>
              </a:ext>
            </a:extLst>
          </p:cNvPr>
          <p:cNvSpPr txBox="1"/>
          <p:nvPr/>
        </p:nvSpPr>
        <p:spPr>
          <a:xfrm>
            <a:off x="6419761" y="4302120"/>
            <a:ext cx="240483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/>
              <a:t>Declarative construction of the object</a:t>
            </a:r>
          </a:p>
          <a:p>
            <a:pPr algn="ctr"/>
            <a:r>
              <a:rPr lang="en-US" sz="1000"/>
              <a:t>(as opposed to manually writing code to create the object)</a:t>
            </a:r>
          </a:p>
        </p:txBody>
      </p:sp>
    </p:spTree>
    <p:extLst>
      <p:ext uri="{BB962C8B-B14F-4D97-AF65-F5344CB8AC3E}">
        <p14:creationId xmlns:p14="http://schemas.microsoft.com/office/powerpoint/2010/main" val="3903071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D937A-300F-30EF-4A6F-28182B72B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11C7B0-179E-8736-5A7C-5D3487AA398D}"/>
              </a:ext>
            </a:extLst>
          </p:cNvPr>
          <p:cNvSpPr txBox="1"/>
          <p:nvPr/>
        </p:nvSpPr>
        <p:spPr>
          <a:xfrm>
            <a:off x="5695407" y="102716"/>
            <a:ext cx="3448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Anatomy of Objects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14131F-7EF8-D00F-3F11-6BBAFDE3B920}"/>
              </a:ext>
            </a:extLst>
          </p:cNvPr>
          <p:cNvSpPr txBox="1"/>
          <p:nvPr/>
        </p:nvSpPr>
        <p:spPr>
          <a:xfrm>
            <a:off x="209005" y="1038815"/>
            <a:ext cx="2468881" cy="646331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Consolas" panose="020B0609020204030204" pitchFamily="49" charset="0"/>
                <a:cs typeface="Times New Roman" panose="02020603050405020304" pitchFamily="18" charset="0"/>
              </a:rPr>
              <a:t>Events</a:t>
            </a:r>
          </a:p>
          <a:p>
            <a:pPr algn="ctr"/>
            <a:r>
              <a:rPr lang="en-US" sz="1200">
                <a:latin typeface="Centaur" panose="02030504050205020304" pitchFamily="18" charset="0"/>
                <a:cs typeface="Times New Roman" panose="02020603050405020304" pitchFamily="18" charset="0"/>
              </a:rPr>
              <a:t>data: pd.Dataframe</a:t>
            </a:r>
          </a:p>
          <a:p>
            <a:pPr algn="ctr"/>
            <a:r>
              <a:rPr lang="en-US" sz="1200">
                <a:latin typeface="Centaur" panose="02030504050205020304" pitchFamily="18" charset="0"/>
                <a:cs typeface="Times New Roman" panose="02020603050405020304" pitchFamily="18" charset="0"/>
              </a:rPr>
              <a:t>semantics: EventSemantics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31E4B7A-5EDB-B9D0-27FE-4C337523B2E0}"/>
                  </a:ext>
                </a:extLst>
              </p14:cNvPr>
              <p14:cNvContentPartPr/>
              <p14:nvPr/>
            </p14:nvContentPartPr>
            <p14:xfrm>
              <a:off x="4036269" y="653091"/>
              <a:ext cx="36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8DB5CBF-D701-D322-4416-C438505D842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030149" y="646971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3A7132C3-3A69-63CD-0CA0-2DA429CFB8C5}"/>
              </a:ext>
            </a:extLst>
          </p:cNvPr>
          <p:cNvSpPr txBox="1"/>
          <p:nvPr/>
        </p:nvSpPr>
        <p:spPr>
          <a:xfrm>
            <a:off x="6361610" y="1006972"/>
            <a:ext cx="2468881" cy="646331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Consolas" panose="020B0609020204030204" pitchFamily="49" charset="0"/>
                <a:cs typeface="Times New Roman" panose="02020603050405020304" pitchFamily="18" charset="0"/>
              </a:rPr>
              <a:t>Ocurrences</a:t>
            </a:r>
          </a:p>
          <a:p>
            <a:pPr algn="ctr"/>
            <a:r>
              <a:rPr lang="en-US" sz="1200">
                <a:latin typeface="Centaur" panose="02030504050205020304" pitchFamily="18" charset="0"/>
                <a:cs typeface="Times New Roman" panose="02020603050405020304" pitchFamily="18" charset="0"/>
              </a:rPr>
              <a:t>data: pd.Dataframe</a:t>
            </a:r>
          </a:p>
          <a:p>
            <a:pPr algn="ctr"/>
            <a:r>
              <a:rPr lang="en-US" sz="1200">
                <a:latin typeface="Centaur" panose="02030504050205020304" pitchFamily="18" charset="0"/>
                <a:cs typeface="Times New Roman" panose="02020603050405020304" pitchFamily="18" charset="0"/>
              </a:rPr>
              <a:t>semantics: OccurrenceSemantics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4F1E447-C2CE-960A-76D7-D94CD8D38FAC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107577" y="2478704"/>
            <a:ext cx="3892731" cy="95797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1E84EE-6814-249E-33EA-3F6D2C0CD515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112784" y="3771961"/>
            <a:ext cx="3931976" cy="85235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DC8C54C-4044-56A5-DF8A-572E64BE1462}"/>
              </a:ext>
            </a:extLst>
          </p:cNvPr>
          <p:cNvSpPr txBox="1"/>
          <p:nvPr/>
        </p:nvSpPr>
        <p:spPr>
          <a:xfrm>
            <a:off x="146958" y="102716"/>
            <a:ext cx="49148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>
                <a:latin typeface="Abadi" panose="020B0604020104020204" pitchFamily="34" charset="0"/>
              </a:rPr>
              <a:t>A DataFrame tells you what the numbers are. Semantics tells you what they mean. Every eventi data object carries both — so the pipeline never loses context.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717DFC-1600-F853-E442-79A668F1DFD6}"/>
              </a:ext>
            </a:extLst>
          </p:cNvPr>
          <p:cNvSpPr txBox="1"/>
          <p:nvPr/>
        </p:nvSpPr>
        <p:spPr>
          <a:xfrm>
            <a:off x="318407" y="2812351"/>
            <a:ext cx="4572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>
                <a:latin typeface="Abadi" panose="020B0604020104020204" pitchFamily="34" charset="0"/>
              </a:rPr>
              <a:t>Why this level of abstraction:</a:t>
            </a:r>
          </a:p>
          <a:p>
            <a:r>
              <a:rPr lang="en-US" sz="1200" i="1">
                <a:latin typeface="Abadi" panose="020B0604020104020204" pitchFamily="34" charset="0"/>
              </a:rPr>
              <a:t>The type is the guarantee.</a:t>
            </a:r>
          </a:p>
          <a:p>
            <a:r>
              <a:rPr lang="en-US" sz="1200" i="1">
                <a:latin typeface="Abadi" panose="020B0604020104020204" pitchFamily="34" charset="0"/>
              </a:rPr>
              <a:t>No checking if the column still exists. No asserting the dates parsed correctly. No confirming the entity ID is not null. No re-validating what you already validated three functions ago. No praying that whoever called your function remembered to clean the data first. </a:t>
            </a:r>
          </a:p>
          <a:p>
            <a:endParaRPr lang="en-US" sz="1200" i="1">
              <a:latin typeface="Abadi" panose="020B0604020104020204" pitchFamily="34" charset="0"/>
            </a:endParaRPr>
          </a:p>
          <a:p>
            <a:r>
              <a:rPr lang="en-US" sz="1200" i="1">
                <a:latin typeface="Abadi" panose="020B0604020104020204" pitchFamily="34" charset="0"/>
              </a:rPr>
              <a:t>If an Events object exists, it is clean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1FBD51-66A8-64BC-F1A6-7C135903A50A}"/>
              </a:ext>
            </a:extLst>
          </p:cNvPr>
          <p:cNvSpPr txBox="1"/>
          <p:nvPr/>
        </p:nvSpPr>
        <p:spPr>
          <a:xfrm>
            <a:off x="3226526" y="1020610"/>
            <a:ext cx="2468881" cy="646331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Consolas" panose="020B0609020204030204" pitchFamily="49" charset="0"/>
                <a:cs typeface="Times New Roman" panose="02020603050405020304" pitchFamily="18" charset="0"/>
              </a:rPr>
              <a:t>ObsPeriodPerEntity</a:t>
            </a:r>
          </a:p>
          <a:p>
            <a:pPr algn="ctr"/>
            <a:r>
              <a:rPr lang="en-US" sz="1200">
                <a:latin typeface="Centaur" panose="02030504050205020304" pitchFamily="18" charset="0"/>
                <a:cs typeface="Times New Roman" panose="02020603050405020304" pitchFamily="18" charset="0"/>
              </a:rPr>
              <a:t>data: pd.Dataframe</a:t>
            </a:r>
          </a:p>
          <a:p>
            <a:pPr algn="ctr"/>
            <a:r>
              <a:rPr lang="en-US" sz="1200">
                <a:latin typeface="Centaur" panose="02030504050205020304" pitchFamily="18" charset="0"/>
                <a:cs typeface="Times New Roman" panose="02020603050405020304" pitchFamily="18" charset="0"/>
              </a:rPr>
              <a:t>semantics: EventSemantics</a:t>
            </a:r>
          </a:p>
        </p:txBody>
      </p:sp>
    </p:spTree>
    <p:extLst>
      <p:ext uri="{BB962C8B-B14F-4D97-AF65-F5344CB8AC3E}">
        <p14:creationId xmlns:p14="http://schemas.microsoft.com/office/powerpoint/2010/main" val="1762813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9F3A3-705C-8818-9704-E42DF21DF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31F908-CF12-B013-507B-2119D7DB7F36}"/>
              </a:ext>
            </a:extLst>
          </p:cNvPr>
          <p:cNvSpPr txBox="1"/>
          <p:nvPr/>
        </p:nvSpPr>
        <p:spPr>
          <a:xfrm>
            <a:off x="5695407" y="102716"/>
            <a:ext cx="3448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Analyzers utilize object contracts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226DC564-6F22-77F7-B96C-7EE10959332A}"/>
                  </a:ext>
                </a:extLst>
              </p14:cNvPr>
              <p14:cNvContentPartPr/>
              <p14:nvPr/>
            </p14:nvContentPartPr>
            <p14:xfrm>
              <a:off x="4036269" y="653091"/>
              <a:ext cx="36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8DB5CBF-D701-D322-4416-C438505D842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030149" y="646971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E3CDD131-78C9-CA9F-255D-BABD3B5ECA46}"/>
              </a:ext>
            </a:extLst>
          </p:cNvPr>
          <p:cNvSpPr txBox="1"/>
          <p:nvPr/>
        </p:nvSpPr>
        <p:spPr>
          <a:xfrm>
            <a:off x="501830" y="846952"/>
            <a:ext cx="2468881" cy="1015663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  <a:effectLst>
            <a:glow rad="101600">
              <a:srgbClr val="FF0000">
                <a:alpha val="40000"/>
              </a:srgbClr>
            </a:glo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Consolas" panose="020B0609020204030204" pitchFamily="49" charset="0"/>
                <a:cs typeface="Times New Roman" panose="02020603050405020304" pitchFamily="18" charset="0"/>
              </a:rPr>
              <a:t>EventsWithinSpanAnalyzer</a:t>
            </a:r>
          </a:p>
          <a:p>
            <a:pPr algn="ctr"/>
            <a:r>
              <a:rPr lang="en-US" sz="1200">
                <a:latin typeface="Centaur" panose="02030504050205020304" pitchFamily="18" charset="0"/>
                <a:cs typeface="Times New Roman" panose="02020603050405020304" pitchFamily="18" charset="0"/>
              </a:rPr>
              <a:t>events: Events</a:t>
            </a:r>
          </a:p>
          <a:p>
            <a:pPr algn="ctr"/>
            <a:r>
              <a:rPr lang="en-US" sz="1200">
                <a:latin typeface="Centaur" panose="02030504050205020304" pitchFamily="18" charset="0"/>
                <a:cs typeface="Times New Roman" panose="02020603050405020304" pitchFamily="18" charset="0"/>
              </a:rPr>
              <a:t>spans: Spans</a:t>
            </a:r>
          </a:p>
          <a:p>
            <a:pPr algn="ctr"/>
            <a:r>
              <a:rPr lang="en-US" sz="1200">
                <a:latin typeface="Centaur" panose="02030504050205020304" pitchFamily="18" charset="0"/>
                <a:cs typeface="Times New Roman" panose="02020603050405020304" pitchFamily="18" charset="0"/>
              </a:rPr>
              <a:t>entity_col: str</a:t>
            </a:r>
          </a:p>
          <a:p>
            <a:pPr algn="ctr"/>
            <a:r>
              <a:rPr lang="en-US" sz="1200">
                <a:latin typeface="Centaur" panose="02030504050205020304" pitchFamily="18" charset="0"/>
                <a:cs typeface="Times New Roman" panose="02020603050405020304" pitchFamily="18" charset="0"/>
              </a:rPr>
              <a:t>meaningful_gap: int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2CE5E8-39A3-71C1-E5A9-1A474F33078E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209796" y="846952"/>
            <a:ext cx="4934204" cy="9906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CBA484-C3EC-9F64-37CD-309B4CC08A32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241549" y="2208697"/>
            <a:ext cx="4902452" cy="55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7224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D58151-86B3-7A36-A1E3-A3FA01AC8F35}"/>
              </a:ext>
            </a:extLst>
          </p:cNvPr>
          <p:cNvSpPr txBox="1"/>
          <p:nvPr/>
        </p:nvSpPr>
        <p:spPr>
          <a:xfrm>
            <a:off x="5695407" y="102716"/>
            <a:ext cx="3448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Parallelism and Composability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D8B5AC-0557-001C-8981-09F1DA2189B7}"/>
              </a:ext>
            </a:extLst>
          </p:cNvPr>
          <p:cNvSpPr txBox="1"/>
          <p:nvPr/>
        </p:nvSpPr>
        <p:spPr>
          <a:xfrm>
            <a:off x="5183776" y="945088"/>
            <a:ext cx="2468881" cy="461665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Consolas" panose="020B0609020204030204" pitchFamily="49" charset="0"/>
                <a:cs typeface="Times New Roman" panose="02020603050405020304" pitchFamily="18" charset="0"/>
              </a:rPr>
              <a:t>Occurrences</a:t>
            </a:r>
          </a:p>
          <a:p>
            <a:pPr algn="ctr"/>
            <a:r>
              <a:rPr lang="en-US" sz="1200" b="1">
                <a:latin typeface="Consolas" panose="020B0609020204030204" pitchFamily="49" charset="0"/>
                <a:cs typeface="Times New Roman" panose="02020603050405020304" pitchFamily="18" charset="0"/>
              </a:rPr>
              <a:t>(i.e. ED day, vaccine day)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CCE28A-7E1F-6D48-7A0B-140873068F91}"/>
              </a:ext>
            </a:extLst>
          </p:cNvPr>
          <p:cNvSpPr txBox="1"/>
          <p:nvPr/>
        </p:nvSpPr>
        <p:spPr>
          <a:xfrm>
            <a:off x="4998719" y="1873376"/>
            <a:ext cx="2838996" cy="461665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Consolas" panose="020B0609020204030204" pitchFamily="49" charset="0"/>
                <a:cs typeface="Times New Roman" panose="02020603050405020304" pitchFamily="18" charset="0"/>
              </a:rPr>
              <a:t>OccurrencesWithinSpanAnalyzer</a:t>
            </a:r>
          </a:p>
          <a:p>
            <a:pPr algn="ctr"/>
            <a:r>
              <a:rPr lang="en-US" sz="1200" b="1">
                <a:latin typeface="Consolas" panose="020B0609020204030204" pitchFamily="49" charset="0"/>
                <a:cs typeface="Times New Roman" panose="02020603050405020304" pitchFamily="18" charset="0"/>
              </a:rPr>
              <a:t>.calc()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D228A2-6AFB-7FA5-A05D-ED480ED00FC2}"/>
              </a:ext>
            </a:extLst>
          </p:cNvPr>
          <p:cNvSpPr txBox="1"/>
          <p:nvPr/>
        </p:nvSpPr>
        <p:spPr>
          <a:xfrm>
            <a:off x="4761411" y="2776571"/>
            <a:ext cx="3370218" cy="461665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Consolas" panose="020B0609020204030204" pitchFamily="49" charset="0"/>
                <a:cs typeface="Times New Roman" panose="02020603050405020304" pitchFamily="18" charset="0"/>
              </a:rPr>
              <a:t>PipeDelimitedIntermediateOccurences</a:t>
            </a:r>
          </a:p>
          <a:p>
            <a:pPr algn="ctr"/>
            <a:r>
              <a:rPr lang="en-US" sz="1200" b="1">
                <a:latin typeface="Consolas" panose="020B0609020204030204" pitchFamily="49" charset="0"/>
                <a:cs typeface="Times New Roman" panose="02020603050405020304" pitchFamily="18" charset="0"/>
              </a:rPr>
              <a:t>.self_analyze(), .print_summary()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9E06BB-A302-5214-11BE-E28285D805C5}"/>
              </a:ext>
            </a:extLst>
          </p:cNvPr>
          <p:cNvSpPr txBox="1"/>
          <p:nvPr/>
        </p:nvSpPr>
        <p:spPr>
          <a:xfrm>
            <a:off x="777239" y="945296"/>
            <a:ext cx="2468881" cy="461665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Consolas" panose="020B0609020204030204" pitchFamily="49" charset="0"/>
                <a:cs typeface="Times New Roman" panose="02020603050405020304" pitchFamily="18" charset="0"/>
              </a:rPr>
              <a:t>Events</a:t>
            </a:r>
            <a:br>
              <a:rPr lang="en-US" sz="1200" b="1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200" b="1">
                <a:latin typeface="Consolas" panose="020B0609020204030204" pitchFamily="49" charset="0"/>
                <a:cs typeface="Times New Roman" panose="02020603050405020304" pitchFamily="18" charset="0"/>
              </a:rPr>
              <a:t>(i.e. insurance-coverage)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B24CEA-30E5-5CBA-B6FD-8AD5009A90DA}"/>
              </a:ext>
            </a:extLst>
          </p:cNvPr>
          <p:cNvSpPr txBox="1"/>
          <p:nvPr/>
        </p:nvSpPr>
        <p:spPr>
          <a:xfrm>
            <a:off x="592182" y="1873584"/>
            <a:ext cx="2838996" cy="461665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Consolas" panose="020B0609020204030204" pitchFamily="49" charset="0"/>
                <a:cs typeface="Times New Roman" panose="02020603050405020304" pitchFamily="18" charset="0"/>
              </a:rPr>
              <a:t>EventsWithinSpanAnalyzer</a:t>
            </a:r>
          </a:p>
          <a:p>
            <a:pPr algn="ctr"/>
            <a:r>
              <a:rPr lang="en-US" sz="1200" b="1">
                <a:latin typeface="Consolas" panose="020B0609020204030204" pitchFamily="49" charset="0"/>
                <a:cs typeface="Times New Roman" panose="02020603050405020304" pitchFamily="18" charset="0"/>
              </a:rPr>
              <a:t>.calc_active_vs_inactive()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E27686-F227-D7B9-185A-555BA080B570}"/>
              </a:ext>
            </a:extLst>
          </p:cNvPr>
          <p:cNvSpPr txBox="1"/>
          <p:nvPr/>
        </p:nvSpPr>
        <p:spPr>
          <a:xfrm>
            <a:off x="354874" y="2776779"/>
            <a:ext cx="3370218" cy="461665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Consolas" panose="020B0609020204030204" pitchFamily="49" charset="0"/>
                <a:cs typeface="Times New Roman" panose="02020603050405020304" pitchFamily="18" charset="0"/>
              </a:rPr>
              <a:t>PipeDelimitedIntermediateEvents</a:t>
            </a:r>
          </a:p>
          <a:p>
            <a:pPr algn="ctr"/>
            <a:r>
              <a:rPr lang="en-US" sz="1200" b="1">
                <a:latin typeface="Consolas" panose="020B0609020204030204" pitchFamily="49" charset="0"/>
                <a:cs typeface="Times New Roman" panose="02020603050405020304" pitchFamily="18" charset="0"/>
              </a:rPr>
              <a:t>.self_analyze(), .tier1/2/3()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01D2B9-E328-98D6-72D3-A0C7AE802AC3}"/>
              </a:ext>
            </a:extLst>
          </p:cNvPr>
          <p:cNvSpPr txBox="1"/>
          <p:nvPr/>
        </p:nvSpPr>
        <p:spPr>
          <a:xfrm>
            <a:off x="3608614" y="3706284"/>
            <a:ext cx="1390105" cy="261610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latin typeface="Abadi" panose="020B0604020104020204" pitchFamily="34" charset="0"/>
              </a:rPr>
              <a:t>add objects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68DB5CBF-D701-D322-4416-C438505D842C}"/>
                  </a:ext>
                </a:extLst>
              </p14:cNvPr>
              <p14:cNvContentPartPr/>
              <p14:nvPr/>
            </p14:nvContentPartPr>
            <p14:xfrm>
              <a:off x="4036269" y="653091"/>
              <a:ext cx="36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8DB5CBF-D701-D322-4416-C438505D842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030149" y="646971"/>
                <a:ext cx="12600" cy="12600"/>
              </a:xfrm>
              <a:prstGeom prst="rect">
                <a:avLst/>
              </a:prstGeom>
            </p:spPr>
          </p:pic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5A859ED-E06B-274D-17CB-3FEA7780F090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2039983" y="3238444"/>
            <a:ext cx="2263684" cy="4678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6575BD2-FB31-A170-A790-2AFEEA89FB6C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 flipH="1">
            <a:off x="4303667" y="3238236"/>
            <a:ext cx="2142853" cy="468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7BE384C-5999-6A35-D7ED-50B38B267B85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5375093" y="3238236"/>
            <a:ext cx="1071427" cy="11247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62B8F02-B538-3AF8-2F69-2D570ECB750D}"/>
              </a:ext>
            </a:extLst>
          </p:cNvPr>
          <p:cNvSpPr txBox="1"/>
          <p:nvPr/>
        </p:nvSpPr>
        <p:spPr>
          <a:xfrm>
            <a:off x="2618558" y="4408731"/>
            <a:ext cx="3370218" cy="276999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Consolas" panose="020B0609020204030204" pitchFamily="49" charset="0"/>
                <a:cs typeface="Times New Roman" panose="02020603050405020304" pitchFamily="18" charset="0"/>
              </a:rPr>
              <a:t>StackedBarsPlotter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6443675-EB6E-072E-E721-E90B1ED7F448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2039983" y="3238444"/>
            <a:ext cx="1055642" cy="11702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B26C338-B9CF-64EE-5B48-270AF23AA4BE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>
            <a:off x="4303667" y="3967894"/>
            <a:ext cx="0" cy="4408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78E5E55-A5DE-FE84-CBF1-8BA954AEF9AB}"/>
              </a:ext>
            </a:extLst>
          </p:cNvPr>
          <p:cNvSpPr txBox="1"/>
          <p:nvPr/>
        </p:nvSpPr>
        <p:spPr>
          <a:xfrm>
            <a:off x="6123215" y="3758505"/>
            <a:ext cx="259297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/>
              <a:t>Plotter can therefore plot either occurrences within an span; or events within a span; or both within a span.</a:t>
            </a:r>
            <a:br>
              <a:rPr lang="en-US" sz="1200" i="1"/>
            </a:br>
            <a:r>
              <a:rPr lang="en-US" sz="1200" i="1"/>
              <a:t>All orchestrated by a YAML that understands the objects.</a:t>
            </a:r>
          </a:p>
          <a:p>
            <a:r>
              <a:rPr lang="en-US" sz="1200" i="1"/>
              <a:t>The plotter does not care which path was taken.</a:t>
            </a:r>
          </a:p>
        </p:txBody>
      </p:sp>
    </p:spTree>
    <p:extLst>
      <p:ext uri="{BB962C8B-B14F-4D97-AF65-F5344CB8AC3E}">
        <p14:creationId xmlns:p14="http://schemas.microsoft.com/office/powerpoint/2010/main" val="23171894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E7D19C-B635-5DD0-8695-955AAAFDEE8B}"/>
              </a:ext>
            </a:extLst>
          </p:cNvPr>
          <p:cNvSpPr txBox="1"/>
          <p:nvPr/>
        </p:nvSpPr>
        <p:spPr>
          <a:xfrm>
            <a:off x="209004" y="159848"/>
            <a:ext cx="2468881" cy="646331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Consolas" panose="020B0609020204030204" pitchFamily="49" charset="0"/>
                <a:cs typeface="Times New Roman" panose="02020603050405020304" pitchFamily="18" charset="0"/>
              </a:rPr>
              <a:t>Events</a:t>
            </a:r>
          </a:p>
          <a:p>
            <a:pPr algn="ctr"/>
            <a:r>
              <a:rPr lang="en-US" sz="1200">
                <a:latin typeface="Centaur" panose="02030504050205020304" pitchFamily="18" charset="0"/>
                <a:cs typeface="Times New Roman" panose="02020603050405020304" pitchFamily="18" charset="0"/>
              </a:rPr>
              <a:t>data: pd.Dataframe</a:t>
            </a:r>
          </a:p>
          <a:p>
            <a:pPr algn="ctr"/>
            <a:r>
              <a:rPr lang="en-US" sz="1200">
                <a:latin typeface="Centaur" panose="02030504050205020304" pitchFamily="18" charset="0"/>
                <a:cs typeface="Times New Roman" panose="02020603050405020304" pitchFamily="18" charset="0"/>
              </a:rPr>
              <a:t>semantics: EventSemantics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7BC92F-7B27-B664-AE87-871394806226}"/>
              </a:ext>
            </a:extLst>
          </p:cNvPr>
          <p:cNvSpPr txBox="1"/>
          <p:nvPr/>
        </p:nvSpPr>
        <p:spPr>
          <a:xfrm>
            <a:off x="2868387" y="159848"/>
            <a:ext cx="588264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>
                <a:latin typeface="Consolas" panose="020B0609020204030204" pitchFamily="49" charset="0"/>
              </a:rPr>
              <a:t>Constructor</a:t>
            </a:r>
          </a:p>
          <a:p>
            <a:r>
              <a:rPr lang="en-US" sz="1100" i="1">
                <a:latin typeface="Consolas" panose="020B0609020204030204" pitchFamily="49" charset="0"/>
              </a:rPr>
              <a:t>__init__</a:t>
            </a:r>
            <a:r>
              <a:rPr lang="en-US" sz="1100">
                <a:latin typeface="Consolas" panose="020B0609020204030204" pitchFamily="49" charset="0"/>
              </a:rPr>
              <a:t>(data, semantics) -&gt; Events</a:t>
            </a:r>
            <a:endParaRPr lang="en-US" sz="1100" i="1">
              <a:latin typeface="Consolas" panose="020B0609020204030204" pitchFamily="49" charset="0"/>
            </a:endParaRPr>
          </a:p>
          <a:p>
            <a:endParaRPr lang="en-US" sz="1100" i="1">
              <a:latin typeface="Consolas" panose="020B0609020204030204" pitchFamily="49" charset="0"/>
            </a:endParaRPr>
          </a:p>
          <a:p>
            <a:r>
              <a:rPr lang="en-US" sz="1100" b="1">
                <a:latin typeface="Consolas" panose="020B0609020204030204" pitchFamily="49" charset="0"/>
              </a:rPr>
              <a:t>Methods</a:t>
            </a:r>
          </a:p>
          <a:p>
            <a:r>
              <a:rPr lang="en-US" sz="1100" i="1">
                <a:latin typeface="Consolas" panose="020B0609020204030204" pitchFamily="49" charset="0"/>
              </a:rPr>
              <a:t>filter_by_entities</a:t>
            </a:r>
            <a:r>
              <a:rPr lang="en-US" sz="1100">
                <a:latin typeface="Consolas" panose="020B0609020204030204" pitchFamily="49" charset="0"/>
              </a:rPr>
              <a:t>(ids) -&gt; Events</a:t>
            </a:r>
          </a:p>
          <a:p>
            <a:r>
              <a:rPr lang="en-US" sz="1100" i="1">
                <a:latin typeface="Consolas" panose="020B0609020204030204" pitchFamily="49" charset="0"/>
              </a:rPr>
              <a:t>filter_by_dates</a:t>
            </a:r>
            <a:r>
              <a:rPr lang="en-US" sz="1100">
                <a:latin typeface="Consolas" panose="020B0609020204030204" pitchFamily="49" charset="0"/>
              </a:rPr>
              <a:t>(start, end) -&gt; Events</a:t>
            </a:r>
            <a:br>
              <a:rPr lang="en-US" sz="1100">
                <a:latin typeface="Consolas" panose="020B0609020204030204" pitchFamily="49" charset="0"/>
              </a:rPr>
            </a:br>
            <a:r>
              <a:rPr lang="en-US" sz="1100" i="1">
                <a:latin typeface="Consolas" panose="020B0609020204030204" pitchFamily="49" charset="0"/>
              </a:rPr>
              <a:t>copy</a:t>
            </a:r>
            <a:r>
              <a:rPr lang="en-US" sz="1100">
                <a:latin typeface="Consolas" panose="020B0609020204030204" pitchFamily="49" charset="0"/>
              </a:rPr>
              <a:t>() -&gt; Events</a:t>
            </a:r>
            <a:br>
              <a:rPr lang="en-US" sz="1100">
                <a:latin typeface="Consolas" panose="020B0609020204030204" pitchFamily="49" charset="0"/>
              </a:rPr>
            </a:br>
            <a:r>
              <a:rPr lang="en-US" sz="1100" i="1">
                <a:latin typeface="Consolas" panose="020B0609020204030204" pitchFamily="49" charset="0"/>
              </a:rPr>
              <a:t>summary</a:t>
            </a:r>
            <a:r>
              <a:rPr lang="en-US" sz="1100">
                <a:latin typeface="Consolas" panose="020B0609020204030204" pitchFamily="49" charset="0"/>
              </a:rPr>
              <a:t>() -&gt; human-readable summary</a:t>
            </a:r>
          </a:p>
          <a:p>
            <a:endParaRPr lang="en-US" sz="1100" i="1">
              <a:latin typeface="Consolas" panose="020B0609020204030204" pitchFamily="49" charset="0"/>
            </a:endParaRPr>
          </a:p>
          <a:p>
            <a:r>
              <a:rPr lang="en-US" sz="1100" i="1">
                <a:latin typeface="Consolas" panose="020B0609020204030204" pitchFamily="49" charset="0"/>
              </a:rPr>
              <a:t>__len__ </a:t>
            </a:r>
            <a:r>
              <a:rPr lang="en-US" sz="1100">
                <a:latin typeface="Consolas" panose="020B0609020204030204" pitchFamily="49" charset="0"/>
              </a:rPr>
              <a:t>-&gt; int</a:t>
            </a:r>
          </a:p>
          <a:p>
            <a:r>
              <a:rPr lang="en-US" sz="1100" i="1">
                <a:latin typeface="Consolas" panose="020B0609020204030204" pitchFamily="49" charset="0"/>
              </a:rPr>
              <a:t>__repr__</a:t>
            </a:r>
            <a:r>
              <a:rPr lang="en-US" sz="1100">
                <a:latin typeface="Consolas" panose="020B0609020204030204" pitchFamily="49" charset="0"/>
              </a:rPr>
              <a:t> -&gt; str</a:t>
            </a:r>
          </a:p>
          <a:p>
            <a:endParaRPr lang="en-US" sz="11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66D439-2BCA-EA05-5D5C-1A5873516B6E}"/>
              </a:ext>
            </a:extLst>
          </p:cNvPr>
          <p:cNvSpPr txBox="1"/>
          <p:nvPr/>
        </p:nvSpPr>
        <p:spPr>
          <a:xfrm>
            <a:off x="209005" y="2332038"/>
            <a:ext cx="2468881" cy="646331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Consolas" panose="020B0609020204030204" pitchFamily="49" charset="0"/>
                <a:cs typeface="Times New Roman" panose="02020603050405020304" pitchFamily="18" charset="0"/>
              </a:rPr>
              <a:t>EventsPerEntity</a:t>
            </a:r>
          </a:p>
          <a:p>
            <a:pPr algn="ctr"/>
            <a:r>
              <a:rPr lang="en-US" sz="1200">
                <a:latin typeface="Centaur" panose="02030504050205020304" pitchFamily="18" charset="0"/>
                <a:cs typeface="Times New Roman" panose="02020603050405020304" pitchFamily="18" charset="0"/>
              </a:rPr>
              <a:t>data: pd.Dataframe</a:t>
            </a:r>
          </a:p>
          <a:p>
            <a:pPr algn="ctr"/>
            <a:r>
              <a:rPr lang="en-US" sz="1200">
                <a:latin typeface="Centaur" panose="02030504050205020304" pitchFamily="18" charset="0"/>
                <a:cs typeface="Times New Roman" panose="02020603050405020304" pitchFamily="18" charset="0"/>
              </a:rPr>
              <a:t>semantics: EventSemantics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9EBFA5-FF8F-8A12-912B-1E0CECAF5AE3}"/>
              </a:ext>
            </a:extLst>
          </p:cNvPr>
          <p:cNvSpPr txBox="1"/>
          <p:nvPr/>
        </p:nvSpPr>
        <p:spPr>
          <a:xfrm>
            <a:off x="2868387" y="2283506"/>
            <a:ext cx="58826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>
                <a:latin typeface="Consolas" panose="020B0609020204030204" pitchFamily="49" charset="0"/>
              </a:rPr>
              <a:t>Constructor</a:t>
            </a:r>
          </a:p>
          <a:p>
            <a:r>
              <a:rPr lang="en-US" sz="1100" i="1">
                <a:latin typeface="Consolas" panose="020B0609020204030204" pitchFamily="49" charset="0"/>
              </a:rPr>
              <a:t>__init__</a:t>
            </a:r>
            <a:r>
              <a:rPr lang="en-US" sz="1100">
                <a:latin typeface="Consolas" panose="020B0609020204030204" pitchFamily="49" charset="0"/>
              </a:rPr>
              <a:t>(data, semantics)</a:t>
            </a:r>
            <a:br>
              <a:rPr lang="en-US" sz="1100">
                <a:latin typeface="Consolas" panose="020B0609020204030204" pitchFamily="49" charset="0"/>
              </a:rPr>
            </a:br>
            <a:br>
              <a:rPr lang="en-US" sz="1100">
                <a:latin typeface="Consolas" panose="020B0609020204030204" pitchFamily="49" charset="0"/>
              </a:rPr>
            </a:br>
            <a:r>
              <a:rPr lang="en-US" sz="1100" b="1">
                <a:latin typeface="Consolas" panose="020B0609020204030204" pitchFamily="49" charset="0"/>
              </a:rPr>
              <a:t>Methods</a:t>
            </a:r>
          </a:p>
          <a:p>
            <a:r>
              <a:rPr lang="en-US" sz="1100" i="1">
                <a:latin typeface="Consolas" panose="020B0609020204030204" pitchFamily="49" charset="0"/>
              </a:rPr>
              <a:t>as_obs_period</a:t>
            </a:r>
            <a:r>
              <a:rPr lang="en-US" sz="1100">
                <a:latin typeface="Consolas" panose="020B0609020204030204" pitchFamily="49" charset="0"/>
              </a:rPr>
              <a:t>() -&gt; ObsPeriodPerEntity</a:t>
            </a:r>
          </a:p>
          <a:p>
            <a:endParaRPr lang="en-US" sz="1100" b="1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174356-EF4E-8A97-3F23-B5C67449DE89}"/>
              </a:ext>
            </a:extLst>
          </p:cNvPr>
          <p:cNvSpPr txBox="1"/>
          <p:nvPr/>
        </p:nvSpPr>
        <p:spPr>
          <a:xfrm>
            <a:off x="209005" y="3564753"/>
            <a:ext cx="2468881" cy="646331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14300" prst="artDeco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Consolas" panose="020B0609020204030204" pitchFamily="49" charset="0"/>
                <a:cs typeface="Times New Roman" panose="02020603050405020304" pitchFamily="18" charset="0"/>
              </a:rPr>
              <a:t>ObsPeriodPerEntity</a:t>
            </a:r>
          </a:p>
          <a:p>
            <a:pPr algn="ctr"/>
            <a:r>
              <a:rPr lang="en-US" sz="1200">
                <a:latin typeface="Centaur" panose="02030504050205020304" pitchFamily="18" charset="0"/>
                <a:cs typeface="Times New Roman" panose="02020603050405020304" pitchFamily="18" charset="0"/>
              </a:rPr>
              <a:t>data: pd.Dataframe</a:t>
            </a:r>
          </a:p>
          <a:p>
            <a:pPr algn="ctr"/>
            <a:r>
              <a:rPr lang="en-US" sz="1200">
                <a:latin typeface="Centaur" panose="02030504050205020304" pitchFamily="18" charset="0"/>
                <a:cs typeface="Times New Roman" panose="02020603050405020304" pitchFamily="18" charset="0"/>
              </a:rPr>
              <a:t>semantics: EventSemantics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98FAA9-3EF5-3BEC-415A-FBC202D14C9D}"/>
              </a:ext>
            </a:extLst>
          </p:cNvPr>
          <p:cNvSpPr txBox="1"/>
          <p:nvPr/>
        </p:nvSpPr>
        <p:spPr>
          <a:xfrm>
            <a:off x="2868387" y="3564753"/>
            <a:ext cx="60666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>
                <a:latin typeface="Consolas" panose="020B0609020204030204" pitchFamily="49" charset="0"/>
              </a:rPr>
              <a:t>Constructors as Class Methods</a:t>
            </a:r>
          </a:p>
          <a:p>
            <a:r>
              <a:rPr lang="en-US" sz="1100" i="1">
                <a:latin typeface="Consolas" panose="020B0609020204030204" pitchFamily="49" charset="0"/>
              </a:rPr>
              <a:t>from_calendar</a:t>
            </a:r>
            <a:r>
              <a:rPr lang="en-US" sz="1100">
                <a:latin typeface="Consolas" panose="020B0609020204030204" pitchFamily="49" charset="0"/>
              </a:rPr>
              <a:t>(entity_ids, start, end, entity_col, identity|None)</a:t>
            </a:r>
            <a:endParaRPr lang="en-US" sz="1100" i="1">
              <a:latin typeface="Consolas" panose="020B0609020204030204" pitchFamily="49" charset="0"/>
            </a:endParaRPr>
          </a:p>
          <a:p>
            <a:r>
              <a:rPr lang="en-US" sz="1100" i="1">
                <a:latin typeface="Consolas" panose="020B0609020204030204" pitchFamily="49" charset="0"/>
              </a:rPr>
              <a:t>from_age_window</a:t>
            </a:r>
            <a:r>
              <a:rPr lang="en-US" sz="1100">
                <a:latin typeface="Consolas" panose="020B0609020204030204" pitchFamily="49" charset="0"/>
              </a:rPr>
              <a:t>(entity_df, dob_col, age_start, age_end, entity_col, identity)</a:t>
            </a:r>
            <a:endParaRPr lang="en-US" sz="1100" i="1">
              <a:latin typeface="Consolas" panose="020B0609020204030204" pitchFamily="49" charset="0"/>
            </a:endParaRPr>
          </a:p>
          <a:p>
            <a:r>
              <a:rPr lang="en-US" sz="1100" i="1">
                <a:latin typeface="Consolas" panose="020B0609020204030204" pitchFamily="49" charset="0"/>
              </a:rPr>
              <a:t>from_events</a:t>
            </a:r>
            <a:r>
              <a:rPr lang="en-US" sz="1100">
                <a:latin typeface="Consolas" panose="020B0609020204030204" pitchFamily="49" charset="0"/>
              </a:rPr>
              <a:t>(events, identity|None)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BC00C26-1286-F564-EE74-358BD04EC0C1}"/>
              </a:ext>
            </a:extLst>
          </p:cNvPr>
          <p:cNvCxnSpPr/>
          <p:nvPr/>
        </p:nvCxnSpPr>
        <p:spPr>
          <a:xfrm>
            <a:off x="1574074" y="1012371"/>
            <a:ext cx="0" cy="1031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E2040B0-EE5A-D588-3C97-762A395CD7B8}"/>
              </a:ext>
            </a:extLst>
          </p:cNvPr>
          <p:cNvCxnSpPr>
            <a:cxnSpLocks/>
          </p:cNvCxnSpPr>
          <p:nvPr/>
        </p:nvCxnSpPr>
        <p:spPr>
          <a:xfrm>
            <a:off x="1574074" y="3094809"/>
            <a:ext cx="0" cy="3287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97309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0075B-BD41-D2E6-3846-891E48C58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C86F6A-2D08-2CD3-14B3-7960846FF045}"/>
              </a:ext>
            </a:extLst>
          </p:cNvPr>
          <p:cNvSpPr txBox="1"/>
          <p:nvPr/>
        </p:nvSpPr>
        <p:spPr>
          <a:xfrm>
            <a:off x="209005" y="2961550"/>
            <a:ext cx="2922815" cy="830997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Consolas" panose="020B0609020204030204" pitchFamily="49" charset="0"/>
                <a:cs typeface="Times New Roman" panose="02020603050405020304" pitchFamily="18" charset="0"/>
              </a:rPr>
              <a:t>EventsCleaner</a:t>
            </a:r>
          </a:p>
          <a:p>
            <a:pPr algn="ctr"/>
            <a:r>
              <a:rPr lang="en-US" sz="1200">
                <a:latin typeface="Consolas" panose="020B0609020204030204" pitchFamily="49" charset="0"/>
                <a:cs typeface="Times New Roman" panose="02020603050405020304" pitchFamily="18" charset="0"/>
              </a:rPr>
              <a:t>data: pd.DataFrame</a:t>
            </a:r>
          </a:p>
          <a:p>
            <a:pPr algn="ctr"/>
            <a:r>
              <a:rPr lang="en-US" sz="1200">
                <a:latin typeface="Consolas" panose="020B0609020204030204" pitchFamily="49" charset="0"/>
                <a:cs typeface="Times New Roman" panose="02020603050405020304" pitchFamily="18" charset="0"/>
              </a:rPr>
              <a:t>semantics: EventSemantics</a:t>
            </a:r>
          </a:p>
          <a:p>
            <a:pPr algn="ctr"/>
            <a:r>
              <a:rPr lang="en-US" sz="1200">
                <a:latin typeface="Consolas" panose="020B0609020204030204" pitchFamily="49" charset="0"/>
                <a:cs typeface="Times New Roman" panose="02020603050405020304" pitchFamily="18" charset="0"/>
              </a:rPr>
              <a:t>config: EventsCleanerConfig|None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3A41F1-3A6A-4945-F046-F079500918C9}"/>
              </a:ext>
            </a:extLst>
          </p:cNvPr>
          <p:cNvSpPr txBox="1"/>
          <p:nvPr/>
        </p:nvSpPr>
        <p:spPr>
          <a:xfrm>
            <a:off x="3424646" y="172630"/>
            <a:ext cx="58826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latin typeface="Consolas" panose="020B0609020204030204" pitchFamily="49" charset="0"/>
              </a:rPr>
              <a:t>Constructors as Class Methods</a:t>
            </a:r>
          </a:p>
          <a:p>
            <a:r>
              <a:rPr lang="en-US" sz="1200" i="1">
                <a:latin typeface="Consolas" panose="020B0609020204030204" pitchFamily="49" charset="0"/>
              </a:rPr>
              <a:t>build_from_yaml</a:t>
            </a:r>
            <a:r>
              <a:rPr lang="en-US" sz="1200">
                <a:latin typeface="Consolas" panose="020B0609020204030204" pitchFamily="49" charset="0"/>
              </a:rPr>
              <a:t>(path) -&gt; EventsCleanerConfig</a:t>
            </a:r>
          </a:p>
          <a:p>
            <a:r>
              <a:rPr lang="en-US" sz="1200">
                <a:latin typeface="Consolas" panose="020B0609020204030204" pitchFamily="49" charset="0"/>
              </a:rPr>
              <a:t>build_with_defaults() -&gt; EventsCleanerConfig</a:t>
            </a:r>
          </a:p>
          <a:p>
            <a:endParaRPr lang="en-US" sz="1200">
              <a:latin typeface="Consolas" panose="020B0609020204030204" pitchFamily="49" charset="0"/>
            </a:endParaRPr>
          </a:p>
          <a:p>
            <a:r>
              <a:rPr lang="en-US" sz="1200" b="1">
                <a:latin typeface="Consolas" panose="020B0609020204030204" pitchFamily="49" charset="0"/>
              </a:rPr>
              <a:t>Methods</a:t>
            </a:r>
          </a:p>
          <a:p>
            <a:r>
              <a:rPr lang="en-US" sz="1200">
                <a:latin typeface="Consolas" panose="020B0609020204030204" pitchFamily="49" charset="0"/>
              </a:rPr>
              <a:t>to_yaml(path) -&gt; None</a:t>
            </a:r>
          </a:p>
          <a:p>
            <a:r>
              <a:rPr lang="en-US" sz="1200">
                <a:latin typeface="Consolas" panose="020B0609020204030204" pitchFamily="49" charset="0"/>
              </a:rPr>
              <a:t>__repr__() -&gt; str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674944-ABAD-1C25-36A6-3DDEE6FF7A9D}"/>
              </a:ext>
            </a:extLst>
          </p:cNvPr>
          <p:cNvSpPr txBox="1"/>
          <p:nvPr/>
        </p:nvSpPr>
        <p:spPr>
          <a:xfrm>
            <a:off x="209005" y="172630"/>
            <a:ext cx="2922815" cy="2123658"/>
          </a:xfrm>
          <a:prstGeom prst="rect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Consolas" panose="020B0609020204030204" pitchFamily="49" charset="0"/>
                <a:cs typeface="Times New Roman" panose="02020603050405020304" pitchFamily="18" charset="0"/>
              </a:rPr>
              <a:t>EventsCleanerConfig</a:t>
            </a:r>
          </a:p>
          <a:p>
            <a:pPr algn="ctr"/>
            <a:r>
              <a:rPr lang="en-US" sz="1200">
                <a:latin typeface="Consolas" panose="020B0609020204030204" pitchFamily="49" charset="0"/>
                <a:cs typeface="Times New Roman" panose="02020603050405020304" pitchFamily="18" charset="0"/>
              </a:rPr>
              <a:t>normalize_dates: bool</a:t>
            </a:r>
          </a:p>
          <a:p>
            <a:pPr algn="ctr"/>
            <a:r>
              <a:rPr lang="en-US" sz="1200">
                <a:latin typeface="Consolas" panose="020B0609020204030204" pitchFamily="49" charset="0"/>
                <a:cs typeface="Times New Roman" panose="02020603050405020304" pitchFamily="18" charset="0"/>
              </a:rPr>
              <a:t>coalesce_dates: bool</a:t>
            </a:r>
          </a:p>
          <a:p>
            <a:pPr algn="ctr"/>
            <a:r>
              <a:rPr lang="en-US" sz="1200">
                <a:latin typeface="Consolas" panose="020B0609020204030204" pitchFamily="49" charset="0"/>
                <a:cs typeface="Times New Roman" panose="02020603050405020304" pitchFamily="18" charset="0"/>
              </a:rPr>
              <a:t>causality_check: bool</a:t>
            </a:r>
          </a:p>
          <a:p>
            <a:pPr algn="ctr"/>
            <a:r>
              <a:rPr lang="en-US" sz="1200">
                <a:latin typeface="Consolas" panose="020B0609020204030204" pitchFamily="49" charset="0"/>
                <a:cs typeface="Times New Roman" panose="02020603050405020304" pitchFamily="18" charset="0"/>
              </a:rPr>
              <a:t>parse_dates: bool</a:t>
            </a:r>
          </a:p>
          <a:p>
            <a:pPr algn="ctr"/>
            <a:r>
              <a:rPr lang="en-US" sz="1200">
                <a:latin typeface="Consolas" panose="020B0609020204030204" pitchFamily="49" charset="0"/>
                <a:cs typeface="Times New Roman" panose="02020603050405020304" pitchFamily="18" charset="0"/>
              </a:rPr>
              <a:t>drop_duplicates: bool</a:t>
            </a:r>
          </a:p>
          <a:p>
            <a:pPr algn="ctr"/>
            <a:r>
              <a:rPr lang="en-US" sz="1200">
                <a:latin typeface="Consolas" panose="020B0609020204030204" pitchFamily="49" charset="0"/>
                <a:cs typeface="Times New Roman" panose="02020603050405020304" pitchFamily="18" charset="0"/>
              </a:rPr>
              <a:t>merge_overlapping: bool</a:t>
            </a:r>
          </a:p>
          <a:p>
            <a:pPr algn="ctr"/>
            <a:r>
              <a:rPr lang="en-US" sz="1200">
                <a:latin typeface="Consolas" panose="020B0609020204030204" pitchFamily="49" charset="0"/>
                <a:cs typeface="Times New Roman" panose="02020603050405020304" pitchFamily="18" charset="0"/>
              </a:rPr>
              <a:t>meaningful_gap: int</a:t>
            </a:r>
          </a:p>
          <a:p>
            <a:pPr algn="ctr"/>
            <a:r>
              <a:rPr lang="en-US" sz="1200">
                <a:latin typeface="Consolas" panose="020B0609020204030204" pitchFamily="49" charset="0"/>
                <a:cs typeface="Times New Roman" panose="02020603050405020304" pitchFamily="18" charset="0"/>
              </a:rPr>
              <a:t>date_floor: str</a:t>
            </a:r>
          </a:p>
          <a:p>
            <a:pPr algn="ctr"/>
            <a:r>
              <a:rPr lang="en-US" sz="1200">
                <a:latin typeface="Consolas" panose="020B0609020204030204" pitchFamily="49" charset="0"/>
                <a:cs typeface="Times New Roman" panose="02020603050405020304" pitchFamily="18" charset="0"/>
              </a:rPr>
              <a:t>date_celing: str</a:t>
            </a:r>
          </a:p>
          <a:p>
            <a:pPr algn="ctr"/>
            <a:endParaRPr lang="en-US" sz="1200" b="1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105680-9BEB-6204-9EBE-CE24059395C3}"/>
              </a:ext>
            </a:extLst>
          </p:cNvPr>
          <p:cNvSpPr txBox="1"/>
          <p:nvPr/>
        </p:nvSpPr>
        <p:spPr>
          <a:xfrm>
            <a:off x="3424646" y="2943680"/>
            <a:ext cx="58826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latin typeface="Consolas" panose="020B0609020204030204" pitchFamily="49" charset="0"/>
              </a:rPr>
              <a:t>Constructor</a:t>
            </a:r>
          </a:p>
          <a:p>
            <a:r>
              <a:rPr lang="en-US" sz="1200">
                <a:latin typeface="Consolas" panose="020B0609020204030204" pitchFamily="49" charset="0"/>
              </a:rPr>
              <a:t>__init__(dataframe, semantics, config|None) -&gt; EventsCleaner</a:t>
            </a:r>
          </a:p>
          <a:p>
            <a:endParaRPr lang="en-US" sz="1200">
              <a:latin typeface="Consolas" panose="020B0609020204030204" pitchFamily="49" charset="0"/>
            </a:endParaRPr>
          </a:p>
          <a:p>
            <a:r>
              <a:rPr lang="en-US" sz="1200">
                <a:latin typeface="Consolas" panose="020B0609020204030204" pitchFamily="49" charset="0"/>
              </a:rPr>
              <a:t>Methods</a:t>
            </a:r>
          </a:p>
          <a:p>
            <a:r>
              <a:rPr lang="en-US" sz="1200">
                <a:latin typeface="Consolas" panose="020B0609020204030204" pitchFamily="49" charset="0"/>
              </a:rPr>
              <a:t>clean() -&gt; Events</a:t>
            </a:r>
          </a:p>
          <a:p>
            <a:endParaRPr lang="en-US" sz="1200">
              <a:latin typeface="Consolas" panose="020B0609020204030204" pitchFamily="49" charset="0"/>
            </a:endParaRPr>
          </a:p>
          <a:p>
            <a:endParaRPr lang="en-US" sz="1200">
              <a:latin typeface="Consolas" panose="020B0609020204030204" pitchFamily="49" charset="0"/>
            </a:endParaRPr>
          </a:p>
          <a:p>
            <a:endParaRPr lang="en-US" sz="12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48173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6DC87-1488-B144-8BEE-2947361EB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E81083-C30D-514E-02F4-A4C83B2BC0B2}"/>
              </a:ext>
            </a:extLst>
          </p:cNvPr>
          <p:cNvSpPr txBox="1"/>
          <p:nvPr/>
        </p:nvSpPr>
        <p:spPr>
          <a:xfrm>
            <a:off x="3721826" y="2791280"/>
            <a:ext cx="58826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latin typeface="Consolas" panose="020B0609020204030204" pitchFamily="49" charset="0"/>
              </a:rPr>
              <a:t>Constructor</a:t>
            </a:r>
          </a:p>
          <a:p>
            <a:r>
              <a:rPr lang="en-US" sz="1200">
                <a:latin typeface="Consolas" panose="020B0609020204030204" pitchFamily="49" charset="0"/>
              </a:rPr>
              <a:t>__init__(events) -&gt; EventsDurationPlotter</a:t>
            </a:r>
          </a:p>
          <a:p>
            <a:endParaRPr lang="en-US" sz="1200">
              <a:latin typeface="Consolas" panose="020B0609020204030204" pitchFamily="49" charset="0"/>
            </a:endParaRPr>
          </a:p>
          <a:p>
            <a:r>
              <a:rPr lang="en-US" sz="1200">
                <a:latin typeface="Consolas" panose="020B0609020204030204" pitchFamily="49" charset="0"/>
              </a:rPr>
              <a:t>Methods</a:t>
            </a:r>
          </a:p>
          <a:p>
            <a:r>
              <a:rPr lang="en-US" sz="1200">
                <a:latin typeface="Consolas" panose="020B0609020204030204" pitchFamily="49" charset="0"/>
              </a:rPr>
              <a:t>plot_duration_histogram(histogram_config)</a:t>
            </a:r>
            <a:br>
              <a:rPr lang="en-US" sz="1200">
                <a:latin typeface="Consolas" panose="020B0609020204030204" pitchFamily="49" charset="0"/>
              </a:rPr>
            </a:br>
            <a:r>
              <a:rPr lang="en-US" sz="1200">
                <a:latin typeface="Consolas" panose="020B0609020204030204" pitchFamily="49" charset="0"/>
              </a:rPr>
              <a:t>plot_duration_violin(violin_config)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0C5A8C-0845-2ABF-4572-5E72F63C184F}"/>
              </a:ext>
            </a:extLst>
          </p:cNvPr>
          <p:cNvSpPr txBox="1"/>
          <p:nvPr/>
        </p:nvSpPr>
        <p:spPr>
          <a:xfrm>
            <a:off x="117565" y="2801530"/>
            <a:ext cx="3307081" cy="830997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Consolas" panose="020B0609020204030204" pitchFamily="49" charset="0"/>
                <a:cs typeface="Times New Roman" panose="02020603050405020304" pitchFamily="18" charset="0"/>
              </a:rPr>
              <a:t>EventsDurationPlotter</a:t>
            </a:r>
          </a:p>
          <a:p>
            <a:pPr algn="ctr"/>
            <a:r>
              <a:rPr lang="en-US" sz="1200">
                <a:latin typeface="Consolas" panose="020B0609020204030204" pitchFamily="49" charset="0"/>
                <a:cs typeface="Times New Roman" panose="02020603050405020304" pitchFamily="18" charset="0"/>
              </a:rPr>
              <a:t>events: Events</a:t>
            </a:r>
          </a:p>
          <a:p>
            <a:pPr algn="ctr"/>
            <a:r>
              <a:rPr lang="en-US" sz="1200">
                <a:latin typeface="Consolas" panose="020B0609020204030204" pitchFamily="49" charset="0"/>
                <a:cs typeface="Times New Roman" panose="02020603050405020304" pitchFamily="18" charset="0"/>
              </a:rPr>
              <a:t>stratify_by: </a:t>
            </a:r>
          </a:p>
          <a:p>
            <a:pPr algn="ctr"/>
            <a:endParaRPr lang="en-US" sz="1200" b="1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2C601A-70BD-9466-ACE5-11BC6F74DC4C}"/>
              </a:ext>
            </a:extLst>
          </p:cNvPr>
          <p:cNvSpPr txBox="1"/>
          <p:nvPr/>
        </p:nvSpPr>
        <p:spPr>
          <a:xfrm>
            <a:off x="117565" y="88810"/>
            <a:ext cx="3307081" cy="1384995"/>
          </a:xfrm>
          <a:prstGeom prst="rect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Consolas" panose="020B0609020204030204" pitchFamily="49" charset="0"/>
                <a:cs typeface="Times New Roman" panose="02020603050405020304" pitchFamily="18" charset="0"/>
              </a:rPr>
              <a:t>HistogramConfig</a:t>
            </a:r>
          </a:p>
          <a:p>
            <a:pPr algn="ctr"/>
            <a:r>
              <a:rPr lang="en-US" sz="1200">
                <a:latin typeface="Consolas" panose="020B0609020204030204" pitchFamily="49" charset="0"/>
                <a:cs typeface="Times New Roman" panose="02020603050405020304" pitchFamily="18" charset="0"/>
              </a:rPr>
              <a:t>bins: BinsConfig</a:t>
            </a:r>
          </a:p>
          <a:p>
            <a:pPr algn="ctr"/>
            <a:r>
              <a:rPr lang="en-US" sz="1200">
                <a:latin typeface="Consolas" panose="020B0609020204030204" pitchFamily="49" charset="0"/>
                <a:cs typeface="Times New Roman" panose="02020603050405020304" pitchFamily="18" charset="0"/>
              </a:rPr>
              <a:t>labels: LabelsConfig</a:t>
            </a:r>
          </a:p>
          <a:p>
            <a:pPr algn="ctr"/>
            <a:r>
              <a:rPr lang="en-US" sz="1200">
                <a:latin typeface="Consolas" panose="020B0609020204030204" pitchFamily="49" charset="0"/>
                <a:cs typeface="Times New Roman" panose="02020603050405020304" pitchFamily="18" charset="0"/>
              </a:rPr>
              <a:t>style: StyleConfig</a:t>
            </a:r>
          </a:p>
          <a:p>
            <a:pPr algn="ctr"/>
            <a:r>
              <a:rPr lang="en-US" sz="1200">
                <a:latin typeface="Consolas" panose="020B0609020204030204" pitchFamily="49" charset="0"/>
                <a:cs typeface="Times New Roman" panose="02020603050405020304" pitchFamily="18" charset="0"/>
              </a:rPr>
              <a:t>percentile_lines: PercentilesConfig</a:t>
            </a:r>
          </a:p>
          <a:p>
            <a:pPr algn="ctr"/>
            <a:r>
              <a:rPr lang="en-US" sz="1200">
                <a:latin typeface="Consolas" panose="020B0609020204030204" pitchFamily="49" charset="0"/>
                <a:cs typeface="Times New Roman" panose="02020603050405020304" pitchFamily="18" charset="0"/>
              </a:rPr>
              <a:t>stratification: StratificationConfig</a:t>
            </a:r>
          </a:p>
          <a:p>
            <a:pPr algn="ctr"/>
            <a:endParaRPr lang="en-US" sz="1200" b="1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71DB02-8447-1BB9-B74E-B2ED3427D236}"/>
              </a:ext>
            </a:extLst>
          </p:cNvPr>
          <p:cNvSpPr txBox="1"/>
          <p:nvPr/>
        </p:nvSpPr>
        <p:spPr>
          <a:xfrm>
            <a:off x="3874226" y="181142"/>
            <a:ext cx="5882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latin typeface="Consolas" panose="020B0609020204030204" pitchFamily="49" charset="0"/>
              </a:rPr>
              <a:t>***</a:t>
            </a:r>
          </a:p>
        </p:txBody>
      </p:sp>
    </p:spTree>
    <p:extLst>
      <p:ext uri="{BB962C8B-B14F-4D97-AF65-F5344CB8AC3E}">
        <p14:creationId xmlns:p14="http://schemas.microsoft.com/office/powerpoint/2010/main" val="1008464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741CD-442A-48C1-FEBA-922C7337E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6CFAC5-166D-E319-06DE-99DAECA2E323}"/>
              </a:ext>
            </a:extLst>
          </p:cNvPr>
          <p:cNvSpPr txBox="1"/>
          <p:nvPr/>
        </p:nvSpPr>
        <p:spPr>
          <a:xfrm>
            <a:off x="3554965" y="90020"/>
            <a:ext cx="58826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latin typeface="Consolas" panose="020B0609020204030204" pitchFamily="49" charset="0"/>
              </a:rPr>
              <a:t>Constructor</a:t>
            </a:r>
          </a:p>
          <a:p>
            <a:r>
              <a:rPr lang="en-US" sz="1200" i="1">
                <a:latin typeface="Consolas" panose="020B0609020204030204" pitchFamily="49" charset="0"/>
              </a:rPr>
              <a:t>__init__</a:t>
            </a:r>
            <a:r>
              <a:rPr lang="en-US" sz="1200">
                <a:latin typeface="Consolas" panose="020B0609020204030204" pitchFamily="49" charset="0"/>
              </a:rPr>
              <a:t>(events, obs_period, entity_col, meaningful_gap)</a:t>
            </a:r>
          </a:p>
          <a:p>
            <a:endParaRPr lang="en-US" sz="1200">
              <a:latin typeface="Consolas" panose="020B0609020204030204" pitchFamily="49" charset="0"/>
            </a:endParaRPr>
          </a:p>
          <a:p>
            <a:r>
              <a:rPr lang="en-US" sz="1200" b="1">
                <a:latin typeface="Consolas" panose="020B0609020204030204" pitchFamily="49" charset="0"/>
              </a:rPr>
              <a:t>Methods</a:t>
            </a:r>
          </a:p>
          <a:p>
            <a:r>
              <a:rPr lang="en-US" sz="1200">
                <a:latin typeface="Consolas" panose="020B0609020204030204" pitchFamily="49" charset="0"/>
              </a:rPr>
              <a:t>compute_event_coverage() -&gt; PipeDelimitedIntermediateEvents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A6BAD4-18E2-1E61-2416-BD0C516639CC}"/>
              </a:ext>
            </a:extLst>
          </p:cNvPr>
          <p:cNvSpPr txBox="1"/>
          <p:nvPr/>
        </p:nvSpPr>
        <p:spPr>
          <a:xfrm>
            <a:off x="182879" y="90020"/>
            <a:ext cx="3307081" cy="1107996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100" b="1">
                <a:latin typeface="Consolas" panose="020B0609020204030204" pitchFamily="49" charset="0"/>
                <a:cs typeface="Times New Roman" panose="02020603050405020304" pitchFamily="18" charset="0"/>
              </a:rPr>
              <a:t>EventsWithinObsPeriodAnalyzer</a:t>
            </a:r>
          </a:p>
          <a:p>
            <a:pPr algn="ctr"/>
            <a:r>
              <a:rPr lang="en-US" sz="1100">
                <a:latin typeface="Consolas" panose="020B0609020204030204" pitchFamily="49" charset="0"/>
                <a:cs typeface="Times New Roman" panose="02020603050405020304" pitchFamily="18" charset="0"/>
              </a:rPr>
              <a:t>events: Events</a:t>
            </a:r>
          </a:p>
          <a:p>
            <a:pPr algn="ctr"/>
            <a:r>
              <a:rPr lang="en-US" sz="1100">
                <a:latin typeface="Consolas" panose="020B0609020204030204" pitchFamily="49" charset="0"/>
                <a:cs typeface="Times New Roman" panose="02020603050405020304" pitchFamily="18" charset="0"/>
              </a:rPr>
              <a:t>obs_period: ObsPeriodPerEntity</a:t>
            </a:r>
          </a:p>
          <a:p>
            <a:pPr algn="ctr"/>
            <a:r>
              <a:rPr lang="en-US" sz="1100">
                <a:latin typeface="Consolas" panose="020B0609020204030204" pitchFamily="49" charset="0"/>
                <a:cs typeface="Times New Roman" panose="02020603050405020304" pitchFamily="18" charset="0"/>
              </a:rPr>
              <a:t>entity_col: str | None</a:t>
            </a:r>
            <a:br>
              <a:rPr lang="en-US" sz="110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100">
                <a:latin typeface="Consolas" panose="020B0609020204030204" pitchFamily="49" charset="0"/>
                <a:cs typeface="Times New Roman" panose="02020603050405020304" pitchFamily="18" charset="0"/>
              </a:rPr>
              <a:t>meaningful_gap: int</a:t>
            </a:r>
          </a:p>
          <a:p>
            <a:pPr algn="ctr"/>
            <a:endParaRPr lang="en-US" sz="1100" b="1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1E673B-A06A-9CD5-C4EC-D0BDECD5F542}"/>
              </a:ext>
            </a:extLst>
          </p:cNvPr>
          <p:cNvSpPr txBox="1"/>
          <p:nvPr/>
        </p:nvSpPr>
        <p:spPr>
          <a:xfrm>
            <a:off x="104503" y="1721667"/>
            <a:ext cx="3385457" cy="1446550"/>
          </a:xfrm>
          <a:prstGeom prst="rect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100" b="1">
                <a:latin typeface="Consolas" panose="020B0609020204030204" pitchFamily="49" charset="0"/>
                <a:cs typeface="Times New Roman" panose="02020603050405020304" pitchFamily="18" charset="0"/>
              </a:rPr>
              <a:t>StackedTimelinePlotterConfig</a:t>
            </a:r>
          </a:p>
          <a:p>
            <a:pPr algn="ctr"/>
            <a:r>
              <a:rPr lang="en-US" sz="1100">
                <a:latin typeface="Consolas" panose="020B0609020204030204" pitchFamily="49" charset="0"/>
                <a:cs typeface="Times New Roman" panose="02020603050405020304" pitchFamily="18" charset="0"/>
              </a:rPr>
              <a:t>general: GeneralConfig</a:t>
            </a:r>
            <a:br>
              <a:rPr lang="en-US" sz="110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100">
                <a:latin typeface="Consolas" panose="020B0609020204030204" pitchFamily="49" charset="0"/>
                <a:cs typeface="Times New Roman" panose="02020603050405020304" pitchFamily="18" charset="0"/>
              </a:rPr>
              <a:t>span: SpanConfig</a:t>
            </a:r>
          </a:p>
          <a:p>
            <a:pPr algn="ctr"/>
            <a:r>
              <a:rPr lang="en-US" sz="1100">
                <a:latin typeface="Consolas" panose="020B0609020204030204" pitchFamily="49" charset="0"/>
                <a:cs typeface="Times New Roman" panose="02020603050405020304" pitchFamily="18" charset="0"/>
              </a:rPr>
              <a:t>event_settings: list[EventLayerConfig]</a:t>
            </a:r>
            <a:br>
              <a:rPr lang="en-US" sz="110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100">
                <a:latin typeface="Consolas" panose="020B0609020204030204" pitchFamily="49" charset="0"/>
                <a:cs typeface="Times New Roman" panose="02020603050405020304" pitchFamily="18" charset="0"/>
              </a:rPr>
              <a:t>occurrences_settings: list[OccLayerConfig]</a:t>
            </a:r>
          </a:p>
          <a:p>
            <a:pPr algn="ctr"/>
            <a:r>
              <a:rPr lang="en-US" sz="1100">
                <a:latin typeface="Consolas" panose="020B0609020204030204" pitchFamily="49" charset="0"/>
                <a:cs typeface="Times New Roman" panose="02020603050405020304" pitchFamily="18" charset="0"/>
              </a:rPr>
              <a:t>legend: LegendConfig</a:t>
            </a:r>
            <a:br>
              <a:rPr lang="en-US" sz="1100">
                <a:latin typeface="Consolas" panose="020B0609020204030204" pitchFamily="49" charset="0"/>
                <a:cs typeface="Times New Roman" panose="02020603050405020304" pitchFamily="18" charset="0"/>
              </a:rPr>
            </a:br>
            <a:r>
              <a:rPr lang="en-US" sz="1100">
                <a:latin typeface="Consolas" panose="020B0609020204030204" pitchFamily="49" charset="0"/>
                <a:cs typeface="Times New Roman" panose="02020603050405020304" pitchFamily="18" charset="0"/>
              </a:rPr>
              <a:t>x_axis_labels: XAxisConfig</a:t>
            </a:r>
          </a:p>
          <a:p>
            <a:pPr algn="ctr"/>
            <a:endParaRPr lang="en-US" sz="1100" b="1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5A075B-09CE-4551-F0E3-09897A8521B2}"/>
              </a:ext>
            </a:extLst>
          </p:cNvPr>
          <p:cNvSpPr txBox="1"/>
          <p:nvPr/>
        </p:nvSpPr>
        <p:spPr>
          <a:xfrm>
            <a:off x="3699355" y="1721667"/>
            <a:ext cx="5882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latin typeface="Consolas" panose="020B0609020204030204" pitchFamily="49" charset="0"/>
              </a:rPr>
              <a:t>***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9A410E-5A3A-20EC-7072-8850352B2A08}"/>
              </a:ext>
            </a:extLst>
          </p:cNvPr>
          <p:cNvSpPr txBox="1"/>
          <p:nvPr/>
        </p:nvSpPr>
        <p:spPr>
          <a:xfrm>
            <a:off x="104503" y="3832407"/>
            <a:ext cx="3385457" cy="769441"/>
          </a:xfrm>
          <a:prstGeom prst="rect">
            <a:avLst/>
          </a:prstGeom>
          <a:ln w="38100"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100" b="1">
                <a:latin typeface="Consolas" panose="020B0609020204030204" pitchFamily="49" charset="0"/>
                <a:cs typeface="Times New Roman" panose="02020603050405020304" pitchFamily="18" charset="0"/>
              </a:rPr>
              <a:t>StackedTimelinePlotter</a:t>
            </a:r>
          </a:p>
          <a:p>
            <a:pPr algn="ctr"/>
            <a:r>
              <a:rPr lang="en-US" sz="1100">
                <a:latin typeface="Consolas" panose="020B0609020204030204" pitchFamily="49" charset="0"/>
                <a:cs typeface="Times New Roman" panose="02020603050405020304" pitchFamily="18" charset="0"/>
              </a:rPr>
              <a:t>intermediate: PipeDelimitedIntermediate</a:t>
            </a:r>
          </a:p>
          <a:p>
            <a:pPr algn="ctr"/>
            <a:r>
              <a:rPr lang="en-US" sz="1100">
                <a:latin typeface="Consolas" panose="020B0609020204030204" pitchFamily="49" charset="0"/>
                <a:cs typeface="Times New Roman" panose="02020603050405020304" pitchFamily="18" charset="0"/>
              </a:rPr>
              <a:t>config: StackedTimelineConfig | None</a:t>
            </a:r>
          </a:p>
          <a:p>
            <a:pPr algn="ctr"/>
            <a:endParaRPr lang="en-US" sz="1100" b="1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EAA0A-E1D8-FF3B-96BF-9C626F925A40}"/>
              </a:ext>
            </a:extLst>
          </p:cNvPr>
          <p:cNvSpPr txBox="1"/>
          <p:nvPr/>
        </p:nvSpPr>
        <p:spPr>
          <a:xfrm>
            <a:off x="3707365" y="3762860"/>
            <a:ext cx="5882640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>
                <a:latin typeface="Consolas" panose="020B0609020204030204" pitchFamily="49" charset="0"/>
              </a:rPr>
              <a:t>Constructor</a:t>
            </a:r>
          </a:p>
          <a:p>
            <a:r>
              <a:rPr lang="en-US" sz="1100" i="1">
                <a:latin typeface="Consolas" panose="020B0609020204030204" pitchFamily="49" charset="0"/>
              </a:rPr>
              <a:t>__init__</a:t>
            </a:r>
            <a:r>
              <a:rPr lang="en-US" sz="1100">
                <a:latin typeface="Consolas" panose="020B0609020204030204" pitchFamily="49" charset="0"/>
              </a:rPr>
              <a:t>(intermediate, config)</a:t>
            </a:r>
          </a:p>
          <a:p>
            <a:endParaRPr lang="en-US" sz="1100">
              <a:latin typeface="Consolas" panose="020B0609020204030204" pitchFamily="49" charset="0"/>
            </a:endParaRPr>
          </a:p>
          <a:p>
            <a:r>
              <a:rPr lang="en-US" sz="1100" b="1">
                <a:latin typeface="Consolas" panose="020B0609020204030204" pitchFamily="49" charset="0"/>
              </a:rPr>
              <a:t>Methods</a:t>
            </a:r>
          </a:p>
          <a:p>
            <a:r>
              <a:rPr lang="en-US" sz="1100">
                <a:latin typeface="Consolas" panose="020B0609020204030204" pitchFamily="49" charset="0"/>
              </a:rPr>
              <a:t>plot(path)</a:t>
            </a:r>
          </a:p>
        </p:txBody>
      </p:sp>
    </p:spTree>
    <p:extLst>
      <p:ext uri="{BB962C8B-B14F-4D97-AF65-F5344CB8AC3E}">
        <p14:creationId xmlns:p14="http://schemas.microsoft.com/office/powerpoint/2010/main" val="9343181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29809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3243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85293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09728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kern="0" spc="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eventi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65760" y="219456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Domain-Agnostic Python Framework for Analyzing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Events, Spans, and Occurrences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206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Design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0" y="2560320"/>
            <a:ext cx="2560320" cy="2560320"/>
          </a:xfrm>
          <a:prstGeom prst="ellipse">
            <a:avLst/>
          </a:prstGeom>
          <a:solidFill>
            <a:srgbClr val="028090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98080" y="1645920"/>
            <a:ext cx="1645920" cy="164592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Challenge Appears Everywhere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8229600" cy="3657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828800" cy="384048"/>
          </a:xfrm>
          <a:prstGeom prst="rect">
            <a:avLst/>
          </a:prstGeom>
          <a:solidFill>
            <a:srgbClr val="0D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377440" y="1051560"/>
            <a:ext cx="2011680" cy="384048"/>
          </a:xfrm>
          <a:prstGeom prst="rect">
            <a:avLst/>
          </a:prstGeom>
          <a:solidFill>
            <a:srgbClr val="0D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377440" y="10515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051560"/>
            <a:ext cx="2011680" cy="384048"/>
          </a:xfrm>
          <a:prstGeom prst="rect">
            <a:avLst/>
          </a:prstGeom>
          <a:solidFill>
            <a:srgbClr val="0D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0" y="10515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766560" y="1051560"/>
            <a:ext cx="2011680" cy="384048"/>
          </a:xfrm>
          <a:prstGeom prst="rect">
            <a:avLst/>
          </a:prstGeom>
          <a:solidFill>
            <a:srgbClr val="0D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66560" y="10515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Occurrences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508760"/>
            <a:ext cx="182880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F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15087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377440" y="1508760"/>
            <a:ext cx="201168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F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423160" y="1508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year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1508760"/>
            <a:ext cx="201168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F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17720" y="1508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periods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1508760"/>
            <a:ext cx="201168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F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12280" y="1508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 visits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075688"/>
            <a:ext cx="1828800" cy="502920"/>
          </a:xfrm>
          <a:prstGeom prst="rect">
            <a:avLst/>
          </a:prstGeom>
          <a:solidFill>
            <a:srgbClr val="E8EFF5"/>
          </a:solidFill>
          <a:ln w="19050">
            <a:solidFill>
              <a:srgbClr val="E8EF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207568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Trials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377440" y="2075688"/>
            <a:ext cx="2011680" cy="502920"/>
          </a:xfrm>
          <a:prstGeom prst="rect">
            <a:avLst/>
          </a:prstGeom>
          <a:solidFill>
            <a:srgbClr val="E8EFF5"/>
          </a:solidFill>
          <a:ln w="19050">
            <a:solidFill>
              <a:srgbClr val="E8EF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423160" y="207568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period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2075688"/>
            <a:ext cx="2011680" cy="502920"/>
          </a:xfrm>
          <a:prstGeom prst="rect">
            <a:avLst/>
          </a:prstGeom>
          <a:solidFill>
            <a:srgbClr val="E8EFF5"/>
          </a:solidFill>
          <a:ln w="19050">
            <a:solidFill>
              <a:srgbClr val="E8EF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17720" y="207568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windows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766560" y="2075688"/>
            <a:ext cx="2011680" cy="502920"/>
          </a:xfrm>
          <a:prstGeom prst="rect">
            <a:avLst/>
          </a:prstGeom>
          <a:solidFill>
            <a:srgbClr val="E8EFF5"/>
          </a:solidFill>
          <a:ln w="19050">
            <a:solidFill>
              <a:srgbClr val="E8EF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12280" y="207568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events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2642616"/>
            <a:ext cx="182880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F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11480" y="264261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377440" y="2642616"/>
            <a:ext cx="201168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F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423160" y="264261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period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0" y="2642616"/>
            <a:ext cx="201168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F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17720" y="264261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enrollment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766560" y="2642616"/>
            <a:ext cx="201168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F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812280" y="264261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changes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3209544"/>
            <a:ext cx="1828800" cy="502920"/>
          </a:xfrm>
          <a:prstGeom prst="rect">
            <a:avLst/>
          </a:prstGeom>
          <a:solidFill>
            <a:srgbClr val="E8EFF5"/>
          </a:solidFill>
          <a:ln w="19050">
            <a:solidFill>
              <a:srgbClr val="E8EF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11480" y="320954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377440" y="3209544"/>
            <a:ext cx="2011680" cy="502920"/>
          </a:xfrm>
          <a:prstGeom prst="rect">
            <a:avLst/>
          </a:prstGeom>
          <a:solidFill>
            <a:srgbClr val="E8EFF5"/>
          </a:solidFill>
          <a:ln w="19050">
            <a:solidFill>
              <a:srgbClr val="E8EF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423160" y="320954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0" y="3209544"/>
            <a:ext cx="2011680" cy="502920"/>
          </a:xfrm>
          <a:prstGeom prst="rect">
            <a:avLst/>
          </a:prstGeom>
          <a:solidFill>
            <a:srgbClr val="E8EFF5"/>
          </a:solidFill>
          <a:ln w="19050">
            <a:solidFill>
              <a:srgbClr val="E8EF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617720" y="320954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periods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766560" y="3209544"/>
            <a:ext cx="2011680" cy="502920"/>
          </a:xfrm>
          <a:prstGeom prst="rect">
            <a:avLst/>
          </a:prstGeom>
          <a:solidFill>
            <a:srgbClr val="E8EFF5"/>
          </a:solidFill>
          <a:ln w="19050">
            <a:solidFill>
              <a:srgbClr val="E8EF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812280" y="320954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65760" y="45262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general-purpose Python tool existed for this structure — </a:t>
            </a:r>
            <a:r>
              <a:rPr lang="en-US" sz="1400" i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eventi.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Four-Layer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8229600" cy="3657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389120" cy="594360"/>
          </a:xfrm>
          <a:prstGeom prst="rect">
            <a:avLst/>
          </a:prstGeom>
          <a:solidFill>
            <a:srgbClr val="0D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4241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075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EventSemantics, OccurrenceSemantics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1600200"/>
            <a:ext cx="54864" cy="155448"/>
          </a:xfrm>
          <a:prstGeom prst="rect">
            <a:avLst/>
          </a:prstGeom>
          <a:solidFill>
            <a:srgbClr val="8A9B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755648"/>
            <a:ext cx="4389120" cy="5943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79222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Objects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0574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Events, EventsPerEntity, Occurrences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2350008"/>
            <a:ext cx="54864" cy="155448"/>
          </a:xfrm>
          <a:prstGeom prst="rect">
            <a:avLst/>
          </a:prstGeom>
          <a:solidFill>
            <a:srgbClr val="8A9B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2505456"/>
            <a:ext cx="4389120" cy="5943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5420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280720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EventsWithinSpansAnalyzer, OccurrencesWithinSpansAnalyzer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77440" y="3099816"/>
            <a:ext cx="54864" cy="155448"/>
          </a:xfrm>
          <a:prstGeom prst="rect">
            <a:avLst/>
          </a:prstGeom>
          <a:solidFill>
            <a:srgbClr val="8A9B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3255264"/>
            <a:ext cx="4389120" cy="5943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2918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557016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PipeDelimitedIntermediateEvents + Occurrences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77440" y="3849624"/>
            <a:ext cx="54864" cy="155448"/>
          </a:xfrm>
          <a:prstGeom prst="rect">
            <a:avLst/>
          </a:prstGeom>
          <a:solidFill>
            <a:srgbClr val="8A9B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4005072"/>
            <a:ext cx="4389120" cy="5943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40416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Visualizers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4306824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StackedEventsPlotter, ActivityOverTimePlotter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20640" y="1005840"/>
            <a:ext cx="365760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F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212080" y="10515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know what columns mean"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12080" y="13075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Decouples logic from schema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120640" y="1755648"/>
            <a:ext cx="365760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F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212080" y="18013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 data is validated"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12080" y="20574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Triage, rejected rows, audit trail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120640" y="2505456"/>
            <a:ext cx="365760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F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212080" y="25511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compute the analysis"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12080" y="28072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responsibility per analyzer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120640" y="3255264"/>
            <a:ext cx="365760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F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212080" y="33009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am the handshake"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12080" y="355701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Pipe-delimited columnar contract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120640" y="4005072"/>
            <a:ext cx="365760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F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212080" y="40507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know how to draw"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12080" y="430682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renderers, no data transforms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54880" y="1005840"/>
            <a:ext cx="365760" cy="0"/>
          </a:xfrm>
          <a:prstGeom prst="line">
            <a:avLst/>
          </a:prstGeom>
          <a:noFill/>
          <a:ln w="12700">
            <a:solidFill>
              <a:srgbClr val="E8EFF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Hierarchy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8229600" cy="3657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0D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EventSemantics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14600" y="114300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0D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14600" y="11430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OccurrenceSemantics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417320" y="1527048"/>
            <a:ext cx="0" cy="228600"/>
          </a:xfrm>
          <a:prstGeom prst="line">
            <a:avLst/>
          </a:prstGeom>
          <a:noFill/>
          <a:ln w="19050">
            <a:solidFill>
              <a:srgbClr val="8A9B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0" y="1527048"/>
            <a:ext cx="0" cy="228600"/>
          </a:xfrm>
          <a:prstGeom prst="line">
            <a:avLst/>
          </a:prstGeom>
          <a:noFill/>
          <a:ln w="19050">
            <a:solidFill>
              <a:srgbClr val="8A9B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783080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7830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83080" y="178308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783080" y="17830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EventsPerEntity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11880" y="178308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11880" y="17830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Occurrences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66360" y="178308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66360" y="17830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OccurrencesPerEntity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2167128"/>
            <a:ext cx="0" cy="228600"/>
          </a:xfrm>
          <a:prstGeom prst="line">
            <a:avLst/>
          </a:prstGeom>
          <a:noFill/>
          <a:ln w="19050">
            <a:solidFill>
              <a:srgbClr val="02C39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09360" y="21671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build_span()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417320" y="2167128"/>
            <a:ext cx="0" cy="256032"/>
          </a:xfrm>
          <a:prstGeom prst="line">
            <a:avLst/>
          </a:prstGeom>
          <a:noFill/>
          <a:ln w="19050">
            <a:solidFill>
              <a:srgbClr val="8A9B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343400" y="2167128"/>
            <a:ext cx="0" cy="256032"/>
          </a:xfrm>
          <a:prstGeom prst="line">
            <a:avLst/>
          </a:prstGeom>
          <a:noFill/>
          <a:ln w="19050">
            <a:solidFill>
              <a:srgbClr val="8A9B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2450592"/>
            <a:ext cx="283464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245059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EventsWithinSpansAnalyzer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37560" y="2450592"/>
            <a:ext cx="283464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37560" y="245059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OccurrencesWithinSpansAnalyzer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783080" y="2834640"/>
            <a:ext cx="0" cy="256032"/>
          </a:xfrm>
          <a:prstGeom prst="line">
            <a:avLst/>
          </a:prstGeom>
          <a:noFill/>
          <a:ln w="19050">
            <a:solidFill>
              <a:srgbClr val="8A9B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54880" y="2834640"/>
            <a:ext cx="0" cy="256032"/>
          </a:xfrm>
          <a:prstGeom prst="line">
            <a:avLst/>
          </a:prstGeom>
          <a:noFill/>
          <a:ln w="19050">
            <a:solidFill>
              <a:srgbClr val="8A9B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65760" y="3090672"/>
            <a:ext cx="8412480" cy="384048"/>
          </a:xfrm>
          <a:prstGeom prst="rect">
            <a:avLst/>
          </a:prstGeom>
          <a:solidFill>
            <a:srgbClr val="E8EFF5"/>
          </a:solidFill>
          <a:ln w="19050">
            <a:solidFill>
              <a:srgbClr val="8A9B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309067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PipeDelimitedIntermediate  (base — columnar contract + combine())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828800" y="3474720"/>
            <a:ext cx="0" cy="256032"/>
          </a:xfrm>
          <a:prstGeom prst="line">
            <a:avLst/>
          </a:prstGeom>
          <a:noFill/>
          <a:ln w="19050">
            <a:solidFill>
              <a:srgbClr val="8A9B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400800" y="3474720"/>
            <a:ext cx="0" cy="256032"/>
          </a:xfrm>
          <a:prstGeom prst="line">
            <a:avLst/>
          </a:prstGeom>
          <a:noFill/>
          <a:ln w="19050">
            <a:solidFill>
              <a:srgbClr val="8A9B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65760" y="3730752"/>
            <a:ext cx="3657600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5760" y="37307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PipeDelimitedIntermediateEvents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0" y="3730752"/>
            <a:ext cx="3840480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72000" y="37307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PipeDelimitedIntermediateOccurrences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194560" y="4114800"/>
            <a:ext cx="0" cy="256032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400800" y="4114800"/>
            <a:ext cx="0" cy="256032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65760" y="4370832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65760" y="43708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StackedEventsPlotter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017520" y="4370832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017520" y="43708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ActivityOverTimePlotter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577840" y="4370832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577840" y="43708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EventAnalysisHistogramPlotter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Pipe-Delimited Intermediate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8229600" cy="3657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entity. Columns follow strict naming conventions.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937760" cy="475488"/>
          </a:xfrm>
          <a:prstGeom prst="rect">
            <a:avLst/>
          </a:prstGeom>
          <a:solidFill>
            <a:srgbClr val="0D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5389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entity_id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4937760" cy="47548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04825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span_start / span_end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25856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pair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606040"/>
            <a:ext cx="4937760" cy="47548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64261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event_starts / event_ends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8529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pair (pipe-delimited)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4937760" cy="475488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23697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occ_{identity}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44728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column per occurrence type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77840" y="1051560"/>
            <a:ext cx="3200400" cy="320040"/>
          </a:xfrm>
          <a:prstGeom prst="rect">
            <a:avLst/>
          </a:prstGeom>
          <a:solidFill>
            <a:srgbClr val="0D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577840" y="1051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row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577840" y="1417320"/>
            <a:ext cx="3200400" cy="438912"/>
          </a:xfrm>
          <a:prstGeom prst="rect">
            <a:avLst/>
          </a:prstGeom>
          <a:solidFill>
            <a:srgbClr val="FFFFFF"/>
          </a:solidFill>
          <a:ln w="19050">
            <a:solidFill>
              <a:srgbClr val="E8EF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23560" y="145389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entity_id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040880" y="145389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M001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577840" y="1892808"/>
            <a:ext cx="3200400" cy="438912"/>
          </a:xfrm>
          <a:prstGeom prst="rect">
            <a:avLst/>
          </a:prstGeom>
          <a:solidFill>
            <a:srgbClr val="E8EFF5"/>
          </a:solidFill>
          <a:ln w="19050">
            <a:solidFill>
              <a:srgbClr val="E8EF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623560" y="192938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span_start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040880" y="192938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2024-01-01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577840" y="2368296"/>
            <a:ext cx="3200400" cy="438912"/>
          </a:xfrm>
          <a:prstGeom prst="rect">
            <a:avLst/>
          </a:prstGeom>
          <a:solidFill>
            <a:srgbClr val="FFFFFF"/>
          </a:solidFill>
          <a:ln w="19050">
            <a:solidFill>
              <a:srgbClr val="E8EF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623560" y="24048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span_end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040880" y="240487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2024-12-31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577840" y="2843784"/>
            <a:ext cx="3200400" cy="438912"/>
          </a:xfrm>
          <a:prstGeom prst="rect">
            <a:avLst/>
          </a:prstGeom>
          <a:solidFill>
            <a:srgbClr val="E8EFF5"/>
          </a:solidFill>
          <a:ln w="19050">
            <a:solidFill>
              <a:srgbClr val="E8EF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623560" y="28803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event_starts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040880" y="288036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2024-03-01 | 2024-07-01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577840" y="3319272"/>
            <a:ext cx="3200400" cy="438912"/>
          </a:xfrm>
          <a:prstGeom prst="rect">
            <a:avLst/>
          </a:prstGeom>
          <a:solidFill>
            <a:srgbClr val="FFFFFF"/>
          </a:solidFill>
          <a:ln w="19050">
            <a:solidFill>
              <a:srgbClr val="E8EF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623560" y="33558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event_ends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040880" y="335584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2024-05-31 | 2024-10-01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577840" y="3794760"/>
            <a:ext cx="3200400" cy="438912"/>
          </a:xfrm>
          <a:prstGeom prst="rect">
            <a:avLst/>
          </a:prstGeom>
          <a:solidFill>
            <a:srgbClr val="E8EFF5"/>
          </a:solidFill>
          <a:ln w="19050">
            <a:solidFill>
              <a:srgbClr val="E8EF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623560" y="383133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active_days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40880" y="383133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214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577840" y="4270248"/>
            <a:ext cx="3200400" cy="438912"/>
          </a:xfrm>
          <a:prstGeom prst="rect">
            <a:avLst/>
          </a:prstGeom>
          <a:solidFill>
            <a:srgbClr val="FFFFFF"/>
          </a:solidFill>
          <a:ln w="19050">
            <a:solidFill>
              <a:srgbClr val="E8EF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623560" y="430682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occ_hepb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040880" y="430682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2024-04-15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combine() merges intermediates for joint visualization →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eventi </a:t>
            </a:r>
            <a:r>
              <a:rPr lang="en-US" sz="32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Framework, Not Just a Package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8229600" cy="3657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eventi </a:t>
            </a:r>
            <a:r>
              <a:rPr lang="en-US" sz="14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organizes and connects existing analytical tools rather than duplicating them.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1645920" cy="475488"/>
          </a:xfrm>
          <a:prstGeom prst="rect">
            <a:avLst/>
          </a:prstGeom>
          <a:solidFill>
            <a:srgbClr val="0D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lifelines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57400" y="1700784"/>
            <a:ext cx="36576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68880" y="148132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analysis outputs map onto span-event 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68880" y="17099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PipeDelimitedIntermediateEvents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1645920" cy="475488"/>
          </a:xfrm>
          <a:prstGeom prst="rect">
            <a:avLst/>
          </a:prstGeom>
          <a:solidFill>
            <a:srgbClr val="0D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224028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057400" y="2478024"/>
            <a:ext cx="36576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468880" y="22585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Hawkes process models fit on occurrence inter-event times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24871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PipeDelimitedIntermediateOccurrences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1645920" cy="475488"/>
          </a:xfrm>
          <a:prstGeom prst="rect">
            <a:avLst/>
          </a:prstGeom>
          <a:solidFill>
            <a:srgbClr val="0D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301752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057400" y="3255264"/>
            <a:ext cx="36576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468880" y="30358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matrices built from intermediate columns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68880" y="32644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Any ML pipeline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794760"/>
            <a:ext cx="1645920" cy="475488"/>
          </a:xfrm>
          <a:prstGeom prst="rect">
            <a:avLst/>
          </a:prstGeom>
          <a:solidFill>
            <a:srgbClr val="0D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379476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statsmodels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057400" y="4032504"/>
            <a:ext cx="36576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468880" y="38130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on active_days, gap statistics, density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468880" y="40416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Any analyzer output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45720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analyzer producing a PipeDelimitedIntermediate-compliant DataFrame participates in </a:t>
            </a:r>
            <a:r>
              <a:rPr lang="en-US" sz="12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eventi </a:t>
            </a: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APIs and LLMs are Complementary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8229600" cy="3657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840480" cy="3474720"/>
          </a:xfrm>
          <a:prstGeom prst="rect">
            <a:avLst/>
          </a:prstGeom>
          <a:solidFill>
            <a:srgbClr val="1A1A2E"/>
          </a:solidFill>
          <a:ln w="19050">
            <a:solidFill>
              <a:srgbClr val="8A9B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eventi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df['cov'] = (df['end'] - df['start']).dt.days
mask = df['cov'] &gt; 0
df2 = df[mask].groupby('id')...
# LLM must reverse-engineer intent
# from 200 lines of mutations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4251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Hard to reason about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2651760"/>
            <a:ext cx="54864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83480" y="1005840"/>
            <a:ext cx="3840480" cy="3474720"/>
          </a:xfrm>
          <a:prstGeom prst="rect">
            <a:avLst/>
          </a:prstGeom>
          <a:solidFill>
            <a:srgbClr val="0D3040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8348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eventi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20640" y="150876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events = Events(df, sem)
result = analyzer
  .calc_active_vs_inactive()
# LLM reasons at object level:
# which class? which analyzer?
# which intermediate?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83480" y="4114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Readable concepts</a:t>
            </a:r>
            <a:endParaRPr lang="en-US" sz="1200"/>
          </a:p>
          <a:p>
            <a:pPr marL="0" indent="0" algn="ctr">
              <a:buNone/>
            </a:pPr>
            <a:r>
              <a:rPr lang="en-US" sz="12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Navigable by LLMs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"Packages provide the infrastructure. LLMs navigate it."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Pipeline to Insight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8229600" cy="3657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2336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F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023360" cy="3200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881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Events Bar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35608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bar per entity. Active (green), inactive (gray), gaps (red). Occurrence markers overlaid as lines or circles.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02336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F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023360" cy="3200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10881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Over Time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435608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entities active at each relative day from span start. Up/down arrows show entries and exits.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402336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F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4023360" cy="320040"/>
          </a:xfrm>
          <a:prstGeom prst="rect">
            <a:avLst/>
          </a:prstGeom>
          <a:solidFill>
            <a:srgbClr val="0D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0540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Days Histogram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401568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active days across entities. Percentile lines at p25/p50/p75.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402336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8EF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3017520"/>
            <a:ext cx="4023360" cy="320040"/>
          </a:xfrm>
          <a:prstGeom prst="rect">
            <a:avLst/>
          </a:prstGeom>
          <a:solidFill>
            <a:srgbClr val="0D2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0" y="30540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Days Violin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401568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Before/After/Middle/Total inactive days compared side by side. Width scaled by n.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8229600" cy="3657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03327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OccurrencesWithinEventsAnalyzer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28016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occurrence fall within an active event? Which one?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801368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801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178308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CrossOccurrenceAnalyzer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02996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between MMR and HepB — sequence, co-occurrence, lag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551176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5511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253288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OccurrencesPlotter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2779776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visualizations for occurrence distributions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300984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33009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32826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Hawkes Process Integration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3529584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Self-exciting point process modeling via tick or PoissonProcesses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050792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4050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403250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</a:t>
            </a:r>
            <a:r>
              <a:rPr lang="en-US" sz="13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eventi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427939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__init__.py, pyproject.toml, pytest suite, PyPI release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6456</TotalTime>
  <Words>2655</Words>
  <Application>Microsoft Office PowerPoint</Application>
  <PresentationFormat>On-screen Show (16:9)</PresentationFormat>
  <Paragraphs>360</Paragraphs>
  <Slides>30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Abadi</vt:lpstr>
      <vt:lpstr>Arial</vt:lpstr>
      <vt:lpstr>Calibri</vt:lpstr>
      <vt:lpstr>Centaur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eventus: Architecture</dc:title>
  <dc:subject>PptxGenJS Presentation</dc:subject>
  <dc:creator>PptxGenJS</dc:creator>
  <cp:lastModifiedBy>Daniel Arenas</cp:lastModifiedBy>
  <cp:revision>20</cp:revision>
  <dcterms:created xsi:type="dcterms:W3CDTF">2026-04-01T00:19:55Z</dcterms:created>
  <dcterms:modified xsi:type="dcterms:W3CDTF">2026-04-14T12:51:28Z</dcterms:modified>
</cp:coreProperties>
</file>