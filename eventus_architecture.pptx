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9"/>
  </p:notesMasterIdLst>
  <p:sldIdLst>
    <p:sldId id="270" r:id="rId2"/>
    <p:sldId id="271" r:id="rId3"/>
    <p:sldId id="272" r:id="rId4"/>
    <p:sldId id="265" r:id="rId5"/>
    <p:sldId id="268" r:id="rId6"/>
    <p:sldId id="267" r:id="rId7"/>
    <p:sldId id="269" r:id="rId8"/>
    <p:sldId id="266" r:id="rId9"/>
    <p:sldId id="256" r:id="rId10"/>
    <p:sldId id="257" r:id="rId11"/>
    <p:sldId id="258" r:id="rId12"/>
    <p:sldId id="259" r:id="rId13"/>
    <p:sldId id="260" r:id="rId14"/>
    <p:sldId id="261" r:id="rId15"/>
    <p:sldId id="262" r:id="rId16"/>
    <p:sldId id="263" r:id="rId17"/>
    <p:sldId id="264" r:id="rId18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84" d="100"/>
          <a:sy n="84" d="100"/>
        </p:scale>
        <p:origin x="780" y="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01T20:42:23.096"/>
    </inkml:context>
    <inkml:brush xml:id="br0">
      <inkml:brushProperty name="width" value="0.035" units="cm"/>
      <inkml:brushProperty name="height" value="0.035" units="cm"/>
      <inkml:brushProperty name="color" value="#004F8B"/>
    </inkml:brush>
  </inkml:definitions>
  <inkml:trace contextRef="#ctx0" brushRef="#br0">1 1 24575,'0'0'-8191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01T20:42:23.096"/>
    </inkml:context>
    <inkml:brush xml:id="br0">
      <inkml:brushProperty name="width" value="0.035" units="cm"/>
      <inkml:brushProperty name="height" value="0.035" units="cm"/>
      <inkml:brushProperty name="color" value="#004F8B"/>
    </inkml:brush>
  </inkml:definitions>
  <inkml:trace contextRef="#ctx0" brushRef="#br0">1 1 24575,'0'0'-8191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01T20:42:23.096"/>
    </inkml:context>
    <inkml:brush xml:id="br0">
      <inkml:brushProperty name="width" value="0.035" units="cm"/>
      <inkml:brushProperty name="height" value="0.035" units="cm"/>
      <inkml:brushProperty name="color" value="#004F8B"/>
    </inkml:brush>
  </inkml:definitions>
  <inkml:trace contextRef="#ctx0" brushRef="#br0">1 1 24575,'0'0'-8191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01T20:42:23.096"/>
    </inkml:context>
    <inkml:brush xml:id="br0">
      <inkml:brushProperty name="width" value="0.035" units="cm"/>
      <inkml:brushProperty name="height" value="0.035" units="cm"/>
      <inkml:brushProperty name="color" value="#004F8B"/>
    </inkml:brush>
  </inkml:definitions>
  <inkml:trace contextRef="#ctx0" brushRef="#br0">1 1 24575,'0'0'-8191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20620814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customXml" Target="../ink/ink1.xml"/><Relationship Id="rId1" Type="http://schemas.openxmlformats.org/officeDocument/2006/relationships/slideLayout" Target="../slideLayouts/slideLayout1.xml"/><Relationship Id="rId24" Type="http://schemas.openxmlformats.org/officeDocument/2006/relationships/image" Target="../media/image6.png"/><Relationship Id="rId23" Type="http://schemas.openxmlformats.org/officeDocument/2006/relationships/image" Target="../media/image11.png"/></Relationships>
</file>

<file path=ppt/slides/_rels/slide6.xml.rels><?xml version="1.0" encoding="UTF-8" standalone="yes"?>
<Relationships xmlns="http://schemas.openxmlformats.org/package/2006/relationships"><Relationship Id="rId25" Type="http://schemas.openxmlformats.org/officeDocument/2006/relationships/image" Target="../media/image8.png"/><Relationship Id="rId2" Type="http://schemas.openxmlformats.org/officeDocument/2006/relationships/customXml" Target="../ink/ink2.xml"/><Relationship Id="rId1" Type="http://schemas.openxmlformats.org/officeDocument/2006/relationships/slideLayout" Target="../slideLayouts/slideLayout1.xml"/><Relationship Id="rId24" Type="http://schemas.openxmlformats.org/officeDocument/2006/relationships/image" Target="../media/image7.png"/><Relationship Id="rId23" Type="http://schemas.openxmlformats.org/officeDocument/2006/relationships/image" Target="../media/image11.png"/></Relationships>
</file>

<file path=ppt/slides/_rels/slide7.xml.rels><?xml version="1.0" encoding="UTF-8" standalone="yes"?>
<Relationships xmlns="http://schemas.openxmlformats.org/package/2006/relationships"><Relationship Id="rId25" Type="http://schemas.openxmlformats.org/officeDocument/2006/relationships/image" Target="../media/image10.png"/><Relationship Id="rId2" Type="http://schemas.openxmlformats.org/officeDocument/2006/relationships/customXml" Target="../ink/ink3.xml"/><Relationship Id="rId1" Type="http://schemas.openxmlformats.org/officeDocument/2006/relationships/slideLayout" Target="../slideLayouts/slideLayout1.xml"/><Relationship Id="rId24" Type="http://schemas.openxmlformats.org/officeDocument/2006/relationships/image" Target="../media/image9.png"/><Relationship Id="rId23" Type="http://schemas.openxmlformats.org/officeDocument/2006/relationships/image" Target="../media/image11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customXml" Target="../ink/ink4.xml"/><Relationship Id="rId1" Type="http://schemas.openxmlformats.org/officeDocument/2006/relationships/slideLayout" Target="../slideLayouts/slideLayout1.xml"/><Relationship Id="rId23" Type="http://schemas.openxmlformats.org/officeDocument/2006/relationships/image" Target="../media/image11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2A12EBA4-376B-A76C-11E3-2B5886C35E2A}"/>
              </a:ext>
            </a:extLst>
          </p:cNvPr>
          <p:cNvSpPr txBox="1"/>
          <p:nvPr/>
        </p:nvSpPr>
        <p:spPr>
          <a:xfrm>
            <a:off x="53340" y="114300"/>
            <a:ext cx="8831580" cy="54784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/>
              <a:t>Setup:</a:t>
            </a:r>
          </a:p>
          <a:p>
            <a:r>
              <a:rPr lang="en-US" sz="1400"/>
              <a:t>You are a clinical researcher studying the relationship between inpatient hospitalizations and subsequent emergency department visits in a Medicaid population. Your institution's data warehouse gives you a hospitalization file — one row per claim, not one row per visit. </a:t>
            </a:r>
          </a:p>
          <a:p>
            <a:r>
              <a:rPr lang="en-US" sz="1400"/>
              <a:t>Before you can ask any scientific question, you need to answer a more mundane one:"Do I actually know how many times each patient was hospitalized?"This sounds simple. It is not.</a:t>
            </a:r>
          </a:p>
          <a:p>
            <a:endParaRPr lang="en-US" sz="1400"/>
          </a:p>
          <a:p>
            <a:r>
              <a:rPr lang="en-US" sz="1400" b="1"/>
              <a:t>Problem 1 — Duplicate claims:</a:t>
            </a:r>
            <a:r>
              <a:rPr lang="en-US" sz="1400"/>
              <a:t> A single 5-day hospitalization generates multiple rows — one per billing day, or one per diagnosis code, or one per provider. You have 47,000 rows but far fewer actual visits.</a:t>
            </a:r>
          </a:p>
          <a:p>
            <a:endParaRPr lang="en-US" sz="1400"/>
          </a:p>
          <a:p>
            <a:r>
              <a:rPr lang="en-US" sz="1400" b="1"/>
              <a:t>Problem 2 — Overlapping stays:</a:t>
            </a:r>
            <a:r>
              <a:rPr lang="en-US" sz="1400"/>
              <a:t> A patient transferred between units or facilities generates two overlapping intervals. Naively counting rows double-counts this patient's hospitalization burden.</a:t>
            </a:r>
          </a:p>
          <a:p>
            <a:endParaRPr lang="en-US" sz="1400"/>
          </a:p>
          <a:p>
            <a:r>
              <a:rPr lang="en-US" sz="1400" b="1"/>
              <a:t>Problem 3 — Missing admit dates:</a:t>
            </a:r>
            <a:r>
              <a:rPr lang="en-US" sz="1400"/>
              <a:t> 3% of rows have null admit_date. Another 1% have null patient_id. These need to be removed — but you need to know how many and why, because your IRB report will ask.</a:t>
            </a:r>
          </a:p>
          <a:p>
            <a:endParaRPr lang="en-US" sz="1400"/>
          </a:p>
          <a:p>
            <a:r>
              <a:rPr lang="en-US" sz="1400" b="1"/>
              <a:t>Problem 4 — Implausible dates:</a:t>
            </a:r>
            <a:r>
              <a:rPr lang="en-US" sz="1400"/>
              <a:t> System errors produce admit dates in 1899 or 2087. A script that silently keeps these will corrupt every downstream analysis.</a:t>
            </a:r>
          </a:p>
          <a:p>
            <a:endParaRPr lang="en-US" sz="1400"/>
          </a:p>
          <a:p>
            <a:r>
              <a:rPr lang="en-US" sz="1400" b="1"/>
              <a:t>Problem 5 — Same-day readmissions vs. continuous stays:</a:t>
            </a:r>
            <a:r>
              <a:rPr lang="en-US" sz="1400"/>
              <a:t> A patient discharged on Monday and readmitted on Tuesday — is that one stay or two? The answer depends on your research question and needs to be a conscious, documented choice, not an accident of how you sorted a DataFrame.</a:t>
            </a:r>
          </a:p>
          <a:p>
            <a:endParaRPr lang="en-US" sz="1400"/>
          </a:p>
          <a:p>
            <a:endParaRPr lang="en-US" sz="1400"/>
          </a:p>
          <a:p>
            <a:endParaRPr lang="en-US" sz="1400"/>
          </a:p>
        </p:txBody>
      </p:sp>
    </p:spTree>
    <p:extLst>
      <p:ext uri="{BB962C8B-B14F-4D97-AF65-F5344CB8AC3E}">
        <p14:creationId xmlns:p14="http://schemas.microsoft.com/office/powerpoint/2010/main" val="280361633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A4E0AD94-0046-AA02-DCF1-FFFC6F54B60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3574" y="2837756"/>
            <a:ext cx="5245370" cy="2228965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41A127FA-E2A3-7832-B04B-AF7654FB655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4858000" cy="1054154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C12E3A34-8BDC-0178-0229-CCAAEAE940F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1058" y="1228368"/>
            <a:ext cx="4724643" cy="1435174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1745B434-E1C8-EDE9-4584-3B3E51655C20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r="39034"/>
          <a:stretch>
            <a:fillRect/>
          </a:stretch>
        </p:blipFill>
        <p:spPr>
          <a:xfrm>
            <a:off x="5105643" y="1275324"/>
            <a:ext cx="3817299" cy="38681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4775428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52C164C1-B916-989E-C413-F1D5093BEAB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25851" y="545996"/>
            <a:ext cx="5029458" cy="20257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8891044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4BD98FE-2ECA-29F0-CBC6-27CDFF0C634B}"/>
              </a:ext>
            </a:extLst>
          </p:cNvPr>
          <p:cNvSpPr txBox="1"/>
          <p:nvPr/>
        </p:nvSpPr>
        <p:spPr>
          <a:xfrm>
            <a:off x="169817" y="634526"/>
            <a:ext cx="2468881" cy="461665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200">
                <a:latin typeface="Times New Roman" panose="02020603050405020304" pitchFamily="18" charset="0"/>
                <a:cs typeface="Times New Roman" panose="02020603050405020304" pitchFamily="18" charset="0"/>
              </a:rPr>
              <a:t>Semantics</a:t>
            </a:r>
          </a:p>
          <a:p>
            <a:pPr algn="ctr"/>
            <a:r>
              <a:rPr lang="en-US" sz="1200">
                <a:latin typeface="Times New Roman" panose="02020603050405020304" pitchFamily="18" charset="0"/>
                <a:cs typeface="Times New Roman" panose="02020603050405020304" pitchFamily="18" charset="0"/>
              </a:rPr>
              <a:t>"I know what columns mean"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0D0BECE-032C-B05E-8016-6B42864B4776}"/>
              </a:ext>
            </a:extLst>
          </p:cNvPr>
          <p:cNvSpPr txBox="1"/>
          <p:nvPr/>
        </p:nvSpPr>
        <p:spPr>
          <a:xfrm>
            <a:off x="169816" y="1329034"/>
            <a:ext cx="2468881" cy="461665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200">
                <a:latin typeface="Times New Roman" panose="02020603050405020304" pitchFamily="18" charset="0"/>
                <a:cs typeface="Times New Roman" panose="02020603050405020304" pitchFamily="18" charset="0"/>
              </a:rPr>
              <a:t>Data Objects</a:t>
            </a:r>
          </a:p>
          <a:p>
            <a:pPr algn="ctr"/>
            <a:r>
              <a:rPr lang="en-US" sz="1200">
                <a:latin typeface="Times New Roman" panose="02020603050405020304" pitchFamily="18" charset="0"/>
                <a:cs typeface="Times New Roman" panose="02020603050405020304" pitchFamily="18" charset="0"/>
              </a:rPr>
              <a:t>"I hold clean/validated data"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AD37947-6237-1437-B713-3D564F8E3ED7}"/>
              </a:ext>
            </a:extLst>
          </p:cNvPr>
          <p:cNvSpPr txBox="1"/>
          <p:nvPr/>
        </p:nvSpPr>
        <p:spPr>
          <a:xfrm>
            <a:off x="141515" y="2001237"/>
            <a:ext cx="2468881" cy="461665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200">
                <a:latin typeface="Times New Roman" panose="02020603050405020304" pitchFamily="18" charset="0"/>
                <a:cs typeface="Times New Roman" panose="02020603050405020304" pitchFamily="18" charset="0"/>
              </a:rPr>
              <a:t>Analyzers</a:t>
            </a:r>
          </a:p>
          <a:p>
            <a:pPr algn="ctr"/>
            <a:r>
              <a:rPr lang="en-US" sz="1200">
                <a:latin typeface="Times New Roman" panose="02020603050405020304" pitchFamily="18" charset="0"/>
                <a:cs typeface="Times New Roman" panose="02020603050405020304" pitchFamily="18" charset="0"/>
              </a:rPr>
              <a:t>"I compute shareable stuff"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2F159B6-AAD1-8C7B-FB9A-D5654E8FD269}"/>
              </a:ext>
            </a:extLst>
          </p:cNvPr>
          <p:cNvSpPr txBox="1"/>
          <p:nvPr/>
        </p:nvSpPr>
        <p:spPr>
          <a:xfrm>
            <a:off x="169814" y="2676460"/>
            <a:ext cx="2468881" cy="461665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200">
                <a:latin typeface="Times New Roman" panose="02020603050405020304" pitchFamily="18" charset="0"/>
                <a:cs typeface="Times New Roman" panose="02020603050405020304" pitchFamily="18" charset="0"/>
              </a:rPr>
              <a:t>Intermediates</a:t>
            </a:r>
          </a:p>
          <a:p>
            <a:pPr algn="ctr"/>
            <a:r>
              <a:rPr lang="en-US" sz="1200">
                <a:latin typeface="Times New Roman" panose="02020603050405020304" pitchFamily="18" charset="0"/>
                <a:cs typeface="Times New Roman" panose="02020603050405020304" pitchFamily="18" charset="0"/>
              </a:rPr>
              <a:t>"Pipe-delimited columnar contract"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798FD70-B53D-EFA2-F0F4-CE70E0B3D67C}"/>
              </a:ext>
            </a:extLst>
          </p:cNvPr>
          <p:cNvSpPr txBox="1"/>
          <p:nvPr/>
        </p:nvSpPr>
        <p:spPr>
          <a:xfrm>
            <a:off x="169817" y="3517334"/>
            <a:ext cx="2468881" cy="461665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200">
                <a:latin typeface="Times New Roman" panose="02020603050405020304" pitchFamily="18" charset="0"/>
                <a:cs typeface="Times New Roman" panose="02020603050405020304" pitchFamily="18" charset="0"/>
              </a:rPr>
              <a:t>Visualizers</a:t>
            </a:r>
          </a:p>
          <a:p>
            <a:pPr algn="ctr"/>
            <a:r>
              <a:rPr lang="en-US" sz="1200">
                <a:latin typeface="Times New Roman" panose="02020603050405020304" pitchFamily="18" charset="0"/>
                <a:cs typeface="Times New Roman" panose="02020603050405020304" pitchFamily="18" charset="0"/>
              </a:rPr>
              <a:t>"I draw pictures"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D17D607-8AB3-D7CA-2898-CC19C4FAC22D}"/>
              </a:ext>
            </a:extLst>
          </p:cNvPr>
          <p:cNvSpPr txBox="1"/>
          <p:nvPr/>
        </p:nvSpPr>
        <p:spPr>
          <a:xfrm>
            <a:off x="2984862" y="726858"/>
            <a:ext cx="284770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>
                <a:latin typeface="Consolas" panose="020B0609020204030204" pitchFamily="49" charset="0"/>
                <a:cs typeface="Vrinda" panose="020B0502040204020203" pitchFamily="34" charset="0"/>
              </a:rPr>
              <a:t>EventSemantics, OccurrenceSemantics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FC39483-E1D0-FA0F-7227-A0A4E5CD4E10}"/>
              </a:ext>
            </a:extLst>
          </p:cNvPr>
          <p:cNvSpPr txBox="1"/>
          <p:nvPr/>
        </p:nvSpPr>
        <p:spPr>
          <a:xfrm>
            <a:off x="2984862" y="1421366"/>
            <a:ext cx="522514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>
                <a:latin typeface="Consolas" panose="020B0609020204030204" pitchFamily="49" charset="0"/>
                <a:cs typeface="Vrinda" panose="020B0502040204020203" pitchFamily="34" charset="0"/>
              </a:rPr>
              <a:t>Events, EventsPerEntity, Spans, Occurrences, OccurrencesPerEntity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AD248FF-441C-8730-A19A-C6709E01C765}"/>
              </a:ext>
            </a:extLst>
          </p:cNvPr>
          <p:cNvSpPr txBox="1"/>
          <p:nvPr/>
        </p:nvSpPr>
        <p:spPr>
          <a:xfrm>
            <a:off x="2984862" y="2001237"/>
            <a:ext cx="598932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>
                <a:latin typeface="Consolas" panose="020B0609020204030204" pitchFamily="49" charset="0"/>
                <a:cs typeface="Vrinda" panose="020B0502040204020203" pitchFamily="34" charset="0"/>
              </a:rPr>
              <a:t>EventsWithinSpanAnalyzer, OccurrencesWithinSpanAnalyzer, ***OccurrencesWithinEventsAnalyzer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9E67F2D-B886-0FA2-5EAB-6CE2D88D6F8A}"/>
              </a:ext>
            </a:extLst>
          </p:cNvPr>
          <p:cNvSpPr txBox="1"/>
          <p:nvPr/>
        </p:nvSpPr>
        <p:spPr>
          <a:xfrm>
            <a:off x="2984861" y="2692503"/>
            <a:ext cx="598932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>
                <a:latin typeface="Consolas" panose="020B0609020204030204" pitchFamily="49" charset="0"/>
                <a:cs typeface="Vrinda" panose="020B0502040204020203" pitchFamily="34" charset="0"/>
              </a:rPr>
              <a:t>PipeDelimitedIntermediate, PipeDelimitedIntermediateEvents, PipeDelimitedIntermediateOccurrences, ***EventsOccurrences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EF75954-011D-DEB2-35B2-808EF5106C86}"/>
              </a:ext>
            </a:extLst>
          </p:cNvPr>
          <p:cNvSpPr txBox="1"/>
          <p:nvPr/>
        </p:nvSpPr>
        <p:spPr>
          <a:xfrm>
            <a:off x="2984862" y="3562209"/>
            <a:ext cx="598932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>
                <a:latin typeface="Consolas" panose="020B0609020204030204" pitchFamily="49" charset="0"/>
                <a:cs typeface="Vrinda" panose="020B0502040204020203" pitchFamily="34" charset="0"/>
              </a:rPr>
              <a:t>StackedBarsPlotter(change name), ActivityOverTimePlotter, EventWithinSpanAnalysisHistogramPlotter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DE8C2BE-F953-734F-60AF-10A9420782FC}"/>
              </a:ext>
            </a:extLst>
          </p:cNvPr>
          <p:cNvSpPr txBox="1"/>
          <p:nvPr/>
        </p:nvSpPr>
        <p:spPr>
          <a:xfrm>
            <a:off x="6936377" y="102716"/>
            <a:ext cx="220762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/>
              <a:t>Five Abstractions</a:t>
            </a:r>
          </a:p>
        </p:txBody>
      </p:sp>
    </p:spTree>
    <p:extLst>
      <p:ext uri="{BB962C8B-B14F-4D97-AF65-F5344CB8AC3E}">
        <p14:creationId xmlns:p14="http://schemas.microsoft.com/office/powerpoint/2010/main" val="427931113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C6626E-754E-90A5-C750-75506B1827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B7F21EF0-00F1-010D-BC21-4BCF4735C809}"/>
              </a:ext>
            </a:extLst>
          </p:cNvPr>
          <p:cNvSpPr txBox="1"/>
          <p:nvPr/>
        </p:nvSpPr>
        <p:spPr>
          <a:xfrm>
            <a:off x="5596166" y="287382"/>
            <a:ext cx="344859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/>
              <a:t>Configurability/Reproducibility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25" name="Ink 24">
                <a:extLst>
                  <a:ext uri="{FF2B5EF4-FFF2-40B4-BE49-F238E27FC236}">
                    <a16:creationId xmlns:a16="http://schemas.microsoft.com/office/drawing/2014/main" id="{934C1257-0597-70AC-ABBC-46F404245F6D}"/>
                  </a:ext>
                </a:extLst>
              </p14:cNvPr>
              <p14:cNvContentPartPr/>
              <p14:nvPr/>
            </p14:nvContentPartPr>
            <p14:xfrm>
              <a:off x="4036269" y="653091"/>
              <a:ext cx="360" cy="360"/>
            </p14:xfrm>
          </p:contentPart>
        </mc:Choice>
        <mc:Fallback xmlns="">
          <p:pic>
            <p:nvPicPr>
              <p:cNvPr id="25" name="Ink 24">
                <a:extLst>
                  <a:ext uri="{FF2B5EF4-FFF2-40B4-BE49-F238E27FC236}">
                    <a16:creationId xmlns:a16="http://schemas.microsoft.com/office/drawing/2014/main" id="{68DB5CBF-D701-D322-4416-C438505D842C}"/>
                  </a:ext>
                </a:extLst>
              </p:cNvPr>
              <p:cNvPicPr/>
              <p:nvPr/>
            </p:nvPicPr>
            <p:blipFill>
              <a:blip r:embed="rId23"/>
              <a:stretch>
                <a:fillRect/>
              </a:stretch>
            </p:blipFill>
            <p:spPr>
              <a:xfrm>
                <a:off x="4030149" y="646971"/>
                <a:ext cx="12600" cy="12600"/>
              </a:xfrm>
              <a:prstGeom prst="rect">
                <a:avLst/>
              </a:prstGeom>
            </p:spPr>
          </p:pic>
        </mc:Fallback>
      </mc:AlternateContent>
      <p:sp>
        <p:nvSpPr>
          <p:cNvPr id="23" name="TextBox 22">
            <a:extLst>
              <a:ext uri="{FF2B5EF4-FFF2-40B4-BE49-F238E27FC236}">
                <a16:creationId xmlns:a16="http://schemas.microsoft.com/office/drawing/2014/main" id="{C30085CE-B221-AF99-8754-B7ED129D807B}"/>
              </a:ext>
            </a:extLst>
          </p:cNvPr>
          <p:cNvSpPr txBox="1"/>
          <p:nvPr/>
        </p:nvSpPr>
        <p:spPr>
          <a:xfrm>
            <a:off x="561703" y="3282567"/>
            <a:ext cx="4572000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i="1"/>
              <a:t>Why is the semantics abstraction needed:</a:t>
            </a:r>
          </a:p>
          <a:p>
            <a:r>
              <a:rPr lang="en-US" sz="1200" i="1"/>
              <a:t>A pandas DataFrame does not know what its columns mean — 'begin_date' could be a birth date, a coverage start, or a contract signing. EventSemantics is built for exactly one purpose: to hold that meaning explicitly, validate it on construction, and carry it through the entire pipeline so no downstream function ever has to guess.</a:t>
            </a:r>
          </a:p>
          <a:p>
            <a:endParaRPr lang="en-US" sz="1200"/>
          </a:p>
          <a:p>
            <a:r>
              <a:rPr lang="en-US" sz="1200" i="1"/>
              <a:t>Nothing else in your script needs to remember that the column to describe this particular event was 'enrollment_start_date'.</a:t>
            </a:r>
            <a:endParaRPr lang="en-US" sz="120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2F377D5-6B9D-4B1E-592A-C4DA8D7CC6C5}"/>
              </a:ext>
            </a:extLst>
          </p:cNvPr>
          <p:cNvSpPr txBox="1"/>
          <p:nvPr/>
        </p:nvSpPr>
        <p:spPr>
          <a:xfrm>
            <a:off x="3794757" y="1276809"/>
            <a:ext cx="195163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00" i="1"/>
              <a:t>EventSemantics.build_from_yaml(filename)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F50E3F5-BB79-2DC0-B257-815FC6EE8DA5}"/>
              </a:ext>
            </a:extLst>
          </p:cNvPr>
          <p:cNvSpPr txBox="1"/>
          <p:nvPr/>
        </p:nvSpPr>
        <p:spPr>
          <a:xfrm>
            <a:off x="5746389" y="1197309"/>
            <a:ext cx="2468881" cy="1015663"/>
          </a:xfrm>
          <a:prstGeom prst="rect">
            <a:avLst/>
          </a:prstGeom>
          <a:noFill/>
          <a:ln>
            <a:solidFill>
              <a:schemeClr val="accent5">
                <a:lumMod val="20000"/>
                <a:lumOff val="80000"/>
              </a:schemeClr>
            </a:solidFill>
          </a:ln>
          <a:effectLst>
            <a:glow rad="101600">
              <a:schemeClr val="accent2">
                <a:satMod val="175000"/>
                <a:alpha val="40000"/>
              </a:schemeClr>
            </a:glow>
          </a:effectLst>
          <a:scene3d>
            <a:camera prst="orthographicFront"/>
            <a:lightRig rig="threePt" dir="t"/>
          </a:scene3d>
          <a:sp3d>
            <a:bevelT w="114300" prst="artDeco"/>
          </a:sp3d>
        </p:spPr>
        <p:txBody>
          <a:bodyPr wrap="square" rtlCol="0">
            <a:spAutoFit/>
          </a:bodyPr>
          <a:lstStyle/>
          <a:p>
            <a:pPr algn="ctr"/>
            <a:r>
              <a:rPr lang="en-US" sz="1200" b="1">
                <a:latin typeface="Consolas" panose="020B0609020204030204" pitchFamily="49" charset="0"/>
                <a:cs typeface="Times New Roman" panose="02020603050405020304" pitchFamily="18" charset="0"/>
              </a:rPr>
              <a:t>EventSemantics</a:t>
            </a:r>
          </a:p>
          <a:p>
            <a:pPr algn="ctr"/>
            <a:r>
              <a:rPr lang="en-US" sz="1200">
                <a:latin typeface="Centaur" panose="02030504050205020304" pitchFamily="18" charset="0"/>
                <a:cs typeface="Times New Roman" panose="02020603050405020304" pitchFamily="18" charset="0"/>
              </a:rPr>
              <a:t>type: str</a:t>
            </a:r>
          </a:p>
          <a:p>
            <a:pPr algn="ctr"/>
            <a:r>
              <a:rPr lang="en-US" sz="1200">
                <a:latin typeface="Centaur" panose="02030504050205020304" pitchFamily="18" charset="0"/>
                <a:cs typeface="Times New Roman" panose="02020603050405020304" pitchFamily="18" charset="0"/>
              </a:rPr>
              <a:t>entity_id_col: str</a:t>
            </a:r>
          </a:p>
          <a:p>
            <a:pPr algn="ctr"/>
            <a:r>
              <a:rPr lang="en-US" sz="1200">
                <a:latin typeface="Centaur" panose="02030504050205020304" pitchFamily="18" charset="0"/>
                <a:cs typeface="Times New Roman" panose="02020603050405020304" pitchFamily="18" charset="0"/>
              </a:rPr>
              <a:t>start_time_col: str</a:t>
            </a:r>
          </a:p>
          <a:p>
            <a:pPr algn="ctr"/>
            <a:r>
              <a:rPr lang="en-US" sz="1200">
                <a:latin typeface="Centaur" panose="02030504050205020304" pitchFamily="18" charset="0"/>
                <a:cs typeface="Times New Roman" panose="02020603050405020304" pitchFamily="18" charset="0"/>
              </a:rPr>
              <a:t>end_time_col: str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EF81AB5A-5A1A-6E45-3E27-DC9724B6574D}"/>
              </a:ext>
            </a:extLst>
          </p:cNvPr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209007" y="1067268"/>
            <a:ext cx="3435527" cy="819192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72646052-BDF4-47ED-FEBB-394801542414}"/>
              </a:ext>
            </a:extLst>
          </p:cNvPr>
          <p:cNvSpPr txBox="1"/>
          <p:nvPr/>
        </p:nvSpPr>
        <p:spPr>
          <a:xfrm>
            <a:off x="4086950" y="2587309"/>
            <a:ext cx="4572000" cy="6001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100" i="1"/>
              <a:t>Validated on construction. If your YAML cannot fully describe the events — the object does not get built. You get specific errors, not silent failures downstream.</a:t>
            </a: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2EB97454-440A-6B72-D276-6E456796A21E}"/>
              </a:ext>
            </a:extLst>
          </p:cNvPr>
          <p:cNvCxnSpPr/>
          <p:nvPr/>
        </p:nvCxnSpPr>
        <p:spPr>
          <a:xfrm>
            <a:off x="3905794" y="1705140"/>
            <a:ext cx="1690372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04EECC1A-3B46-8054-AD8B-BFB5AD1449C9}"/>
              </a:ext>
            </a:extLst>
          </p:cNvPr>
          <p:cNvSpPr txBox="1"/>
          <p:nvPr/>
        </p:nvSpPr>
        <p:spPr>
          <a:xfrm>
            <a:off x="6419761" y="4302120"/>
            <a:ext cx="2404834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000"/>
              <a:t>Declarative construction of the object</a:t>
            </a:r>
          </a:p>
          <a:p>
            <a:pPr algn="ctr"/>
            <a:r>
              <a:rPr lang="en-US" sz="1000"/>
              <a:t>(as opposed to manually writing code to create the object)</a:t>
            </a:r>
          </a:p>
        </p:txBody>
      </p:sp>
    </p:spTree>
    <p:extLst>
      <p:ext uri="{BB962C8B-B14F-4D97-AF65-F5344CB8AC3E}">
        <p14:creationId xmlns:p14="http://schemas.microsoft.com/office/powerpoint/2010/main" val="390307129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CD937A-300F-30EF-4A6F-28182B72BB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7511C7B0-179E-8736-5A7C-5D3487AA398D}"/>
              </a:ext>
            </a:extLst>
          </p:cNvPr>
          <p:cNvSpPr txBox="1"/>
          <p:nvPr/>
        </p:nvSpPr>
        <p:spPr>
          <a:xfrm>
            <a:off x="5695407" y="102716"/>
            <a:ext cx="344859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/>
              <a:t>Anatomy of Objects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F14131F-7EF8-D00F-3F11-6BBAFDE3B920}"/>
              </a:ext>
            </a:extLst>
          </p:cNvPr>
          <p:cNvSpPr txBox="1"/>
          <p:nvPr/>
        </p:nvSpPr>
        <p:spPr>
          <a:xfrm>
            <a:off x="209005" y="1038815"/>
            <a:ext cx="2468881" cy="646331"/>
          </a:xfrm>
          <a:prstGeom prst="rect">
            <a:avLst/>
          </a:prstGeom>
          <a:noFill/>
          <a:ln>
            <a:solidFill>
              <a:schemeClr val="accent5">
                <a:lumMod val="20000"/>
                <a:lumOff val="80000"/>
              </a:schemeClr>
            </a:solidFill>
          </a:ln>
          <a:effectLst>
            <a:glow rad="101600">
              <a:schemeClr val="accent2">
                <a:satMod val="175000"/>
                <a:alpha val="40000"/>
              </a:schemeClr>
            </a:glow>
          </a:effectLst>
          <a:scene3d>
            <a:camera prst="orthographicFront"/>
            <a:lightRig rig="threePt" dir="t"/>
          </a:scene3d>
          <a:sp3d>
            <a:bevelT w="114300" prst="artDeco"/>
          </a:sp3d>
        </p:spPr>
        <p:txBody>
          <a:bodyPr wrap="square" rtlCol="0">
            <a:spAutoFit/>
          </a:bodyPr>
          <a:lstStyle/>
          <a:p>
            <a:pPr algn="ctr"/>
            <a:r>
              <a:rPr lang="en-US" sz="1200" b="1">
                <a:latin typeface="Consolas" panose="020B0609020204030204" pitchFamily="49" charset="0"/>
                <a:cs typeface="Times New Roman" panose="02020603050405020304" pitchFamily="18" charset="0"/>
              </a:rPr>
              <a:t>Events</a:t>
            </a:r>
          </a:p>
          <a:p>
            <a:pPr algn="ctr"/>
            <a:r>
              <a:rPr lang="en-US" sz="1200">
                <a:latin typeface="Centaur" panose="02030504050205020304" pitchFamily="18" charset="0"/>
                <a:cs typeface="Times New Roman" panose="02020603050405020304" pitchFamily="18" charset="0"/>
              </a:rPr>
              <a:t>data: pd.Dataframe</a:t>
            </a:r>
          </a:p>
          <a:p>
            <a:pPr algn="ctr"/>
            <a:r>
              <a:rPr lang="en-US" sz="1200">
                <a:latin typeface="Centaur" panose="02030504050205020304" pitchFamily="18" charset="0"/>
                <a:cs typeface="Times New Roman" panose="02020603050405020304" pitchFamily="18" charset="0"/>
              </a:rPr>
              <a:t>semantics: EventSemantics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25" name="Ink 24">
                <a:extLst>
                  <a:ext uri="{FF2B5EF4-FFF2-40B4-BE49-F238E27FC236}">
                    <a16:creationId xmlns:a16="http://schemas.microsoft.com/office/drawing/2014/main" id="{C31E4B7A-5EDB-B9D0-27FE-4C337523B2E0}"/>
                  </a:ext>
                </a:extLst>
              </p14:cNvPr>
              <p14:cNvContentPartPr/>
              <p14:nvPr/>
            </p14:nvContentPartPr>
            <p14:xfrm>
              <a:off x="4036269" y="653091"/>
              <a:ext cx="360" cy="360"/>
            </p14:xfrm>
          </p:contentPart>
        </mc:Choice>
        <mc:Fallback xmlns="">
          <p:pic>
            <p:nvPicPr>
              <p:cNvPr id="25" name="Ink 24">
                <a:extLst>
                  <a:ext uri="{FF2B5EF4-FFF2-40B4-BE49-F238E27FC236}">
                    <a16:creationId xmlns:a16="http://schemas.microsoft.com/office/drawing/2014/main" id="{68DB5CBF-D701-D322-4416-C438505D842C}"/>
                  </a:ext>
                </a:extLst>
              </p:cNvPr>
              <p:cNvPicPr/>
              <p:nvPr/>
            </p:nvPicPr>
            <p:blipFill>
              <a:blip r:embed="rId23"/>
              <a:stretch>
                <a:fillRect/>
              </a:stretch>
            </p:blipFill>
            <p:spPr>
              <a:xfrm>
                <a:off x="4030149" y="646971"/>
                <a:ext cx="12600" cy="12600"/>
              </a:xfrm>
              <a:prstGeom prst="rect">
                <a:avLst/>
              </a:prstGeom>
            </p:spPr>
          </p:pic>
        </mc:Fallback>
      </mc:AlternateContent>
      <p:sp>
        <p:nvSpPr>
          <p:cNvPr id="10" name="TextBox 9">
            <a:extLst>
              <a:ext uri="{FF2B5EF4-FFF2-40B4-BE49-F238E27FC236}">
                <a16:creationId xmlns:a16="http://schemas.microsoft.com/office/drawing/2014/main" id="{3A7132C3-3A69-63CD-0CA0-2DA429CFB8C5}"/>
              </a:ext>
            </a:extLst>
          </p:cNvPr>
          <p:cNvSpPr txBox="1"/>
          <p:nvPr/>
        </p:nvSpPr>
        <p:spPr>
          <a:xfrm>
            <a:off x="6361610" y="1006972"/>
            <a:ext cx="2468881" cy="646331"/>
          </a:xfrm>
          <a:prstGeom prst="rect">
            <a:avLst/>
          </a:prstGeom>
          <a:noFill/>
          <a:ln>
            <a:solidFill>
              <a:schemeClr val="accent5">
                <a:lumMod val="20000"/>
                <a:lumOff val="80000"/>
              </a:schemeClr>
            </a:solidFill>
          </a:ln>
          <a:effectLst>
            <a:glow rad="101600">
              <a:schemeClr val="accent2">
                <a:satMod val="175000"/>
                <a:alpha val="40000"/>
              </a:schemeClr>
            </a:glow>
          </a:effectLst>
          <a:scene3d>
            <a:camera prst="orthographicFront"/>
            <a:lightRig rig="threePt" dir="t"/>
          </a:scene3d>
          <a:sp3d>
            <a:bevelT w="114300" prst="artDeco"/>
          </a:sp3d>
        </p:spPr>
        <p:txBody>
          <a:bodyPr wrap="square" rtlCol="0">
            <a:spAutoFit/>
          </a:bodyPr>
          <a:lstStyle/>
          <a:p>
            <a:pPr algn="ctr"/>
            <a:r>
              <a:rPr lang="en-US" sz="1200" b="1">
                <a:latin typeface="Consolas" panose="020B0609020204030204" pitchFamily="49" charset="0"/>
                <a:cs typeface="Times New Roman" panose="02020603050405020304" pitchFamily="18" charset="0"/>
              </a:rPr>
              <a:t>Ocurrences</a:t>
            </a:r>
          </a:p>
          <a:p>
            <a:pPr algn="ctr"/>
            <a:r>
              <a:rPr lang="en-US" sz="1200">
                <a:latin typeface="Centaur" panose="02030504050205020304" pitchFamily="18" charset="0"/>
                <a:cs typeface="Times New Roman" panose="02020603050405020304" pitchFamily="18" charset="0"/>
              </a:rPr>
              <a:t>data: pd.Dataframe</a:t>
            </a:r>
          </a:p>
          <a:p>
            <a:pPr algn="ctr"/>
            <a:r>
              <a:rPr lang="en-US" sz="1200">
                <a:latin typeface="Centaur" panose="02030504050205020304" pitchFamily="18" charset="0"/>
                <a:cs typeface="Times New Roman" panose="02020603050405020304" pitchFamily="18" charset="0"/>
              </a:rPr>
              <a:t>semantics: OccurrenceSemantics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B4F1E447-C2CE-960A-76D7-D94CD8D38FAC}"/>
              </a:ext>
            </a:extLst>
          </p:cNvPr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5107577" y="2478704"/>
            <a:ext cx="3892731" cy="957977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FA1E84EE-6814-249E-33EA-3F6D2C0CD515}"/>
              </a:ext>
            </a:extLst>
          </p:cNvPr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5112784" y="3771961"/>
            <a:ext cx="3931976" cy="852351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EDC8C54C-4044-56A5-DF8A-572E64BE1462}"/>
              </a:ext>
            </a:extLst>
          </p:cNvPr>
          <p:cNvSpPr txBox="1"/>
          <p:nvPr/>
        </p:nvSpPr>
        <p:spPr>
          <a:xfrm>
            <a:off x="146958" y="102716"/>
            <a:ext cx="491489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i="1">
                <a:latin typeface="Abadi" panose="020B0604020104020204" pitchFamily="34" charset="0"/>
              </a:rPr>
              <a:t>A DataFrame tells you what the numbers are. Semantics tells you what they mean. Every eventi data object carries both — so the pipeline never loses context.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CC717DFC-1600-F853-E442-79A668F1DFD6}"/>
              </a:ext>
            </a:extLst>
          </p:cNvPr>
          <p:cNvSpPr txBox="1"/>
          <p:nvPr/>
        </p:nvSpPr>
        <p:spPr>
          <a:xfrm>
            <a:off x="318407" y="2812351"/>
            <a:ext cx="4572000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i="1">
                <a:latin typeface="Abadi" panose="020B0604020104020204" pitchFamily="34" charset="0"/>
              </a:rPr>
              <a:t>Why this level of abstraction:</a:t>
            </a:r>
          </a:p>
          <a:p>
            <a:r>
              <a:rPr lang="en-US" sz="1200" i="1">
                <a:latin typeface="Abadi" panose="020B0604020104020204" pitchFamily="34" charset="0"/>
              </a:rPr>
              <a:t>The type is the guarantee.</a:t>
            </a:r>
          </a:p>
          <a:p>
            <a:r>
              <a:rPr lang="en-US" sz="1200" i="1">
                <a:latin typeface="Abadi" panose="020B0604020104020204" pitchFamily="34" charset="0"/>
              </a:rPr>
              <a:t>No checking if the column still exists. No asserting the dates parsed correctly. No confirming the entity ID is not null. No re-validating what you already validated three functions ago. No praying that whoever called your function remembered to clean the data first. </a:t>
            </a:r>
          </a:p>
          <a:p>
            <a:endParaRPr lang="en-US" sz="1200" i="1">
              <a:latin typeface="Abadi" panose="020B0604020104020204" pitchFamily="34" charset="0"/>
            </a:endParaRPr>
          </a:p>
          <a:p>
            <a:r>
              <a:rPr lang="en-US" sz="1200" i="1">
                <a:latin typeface="Abadi" panose="020B0604020104020204" pitchFamily="34" charset="0"/>
              </a:rPr>
              <a:t>If an Events object exists, it is clean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41FBD51-66A8-64BC-F1A6-7C135903A50A}"/>
              </a:ext>
            </a:extLst>
          </p:cNvPr>
          <p:cNvSpPr txBox="1"/>
          <p:nvPr/>
        </p:nvSpPr>
        <p:spPr>
          <a:xfrm>
            <a:off x="3226526" y="1020610"/>
            <a:ext cx="2468881" cy="646331"/>
          </a:xfrm>
          <a:prstGeom prst="rect">
            <a:avLst/>
          </a:prstGeom>
          <a:noFill/>
          <a:ln>
            <a:solidFill>
              <a:schemeClr val="accent5">
                <a:lumMod val="20000"/>
                <a:lumOff val="80000"/>
              </a:schemeClr>
            </a:solidFill>
          </a:ln>
          <a:effectLst>
            <a:glow rad="101600">
              <a:schemeClr val="accent2">
                <a:satMod val="175000"/>
                <a:alpha val="40000"/>
              </a:schemeClr>
            </a:glow>
          </a:effectLst>
          <a:scene3d>
            <a:camera prst="orthographicFront"/>
            <a:lightRig rig="threePt" dir="t"/>
          </a:scene3d>
          <a:sp3d>
            <a:bevelT w="114300" prst="artDeco"/>
          </a:sp3d>
        </p:spPr>
        <p:txBody>
          <a:bodyPr wrap="square" rtlCol="0">
            <a:spAutoFit/>
          </a:bodyPr>
          <a:lstStyle/>
          <a:p>
            <a:pPr algn="ctr"/>
            <a:r>
              <a:rPr lang="en-US" sz="1200" b="1">
                <a:latin typeface="Consolas" panose="020B0609020204030204" pitchFamily="49" charset="0"/>
                <a:cs typeface="Times New Roman" panose="02020603050405020304" pitchFamily="18" charset="0"/>
              </a:rPr>
              <a:t>ObsPeriodPerEntity</a:t>
            </a:r>
          </a:p>
          <a:p>
            <a:pPr algn="ctr"/>
            <a:r>
              <a:rPr lang="en-US" sz="1200">
                <a:latin typeface="Centaur" panose="02030504050205020304" pitchFamily="18" charset="0"/>
                <a:cs typeface="Times New Roman" panose="02020603050405020304" pitchFamily="18" charset="0"/>
              </a:rPr>
              <a:t>data: pd.Dataframe</a:t>
            </a:r>
          </a:p>
          <a:p>
            <a:pPr algn="ctr"/>
            <a:r>
              <a:rPr lang="en-US" sz="1200">
                <a:latin typeface="Centaur" panose="02030504050205020304" pitchFamily="18" charset="0"/>
                <a:cs typeface="Times New Roman" panose="02020603050405020304" pitchFamily="18" charset="0"/>
              </a:rPr>
              <a:t>semantics: EventSemantics</a:t>
            </a:r>
          </a:p>
        </p:txBody>
      </p:sp>
    </p:spTree>
    <p:extLst>
      <p:ext uri="{BB962C8B-B14F-4D97-AF65-F5344CB8AC3E}">
        <p14:creationId xmlns:p14="http://schemas.microsoft.com/office/powerpoint/2010/main" val="176281391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09F3A3-705C-8818-9704-E42DF21DF0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031F908-CF12-B013-507B-2119D7DB7F36}"/>
              </a:ext>
            </a:extLst>
          </p:cNvPr>
          <p:cNvSpPr txBox="1"/>
          <p:nvPr/>
        </p:nvSpPr>
        <p:spPr>
          <a:xfrm>
            <a:off x="5695407" y="102716"/>
            <a:ext cx="344859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/>
              <a:t>Analyzers utilize object contracts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25" name="Ink 24">
                <a:extLst>
                  <a:ext uri="{FF2B5EF4-FFF2-40B4-BE49-F238E27FC236}">
                    <a16:creationId xmlns:a16="http://schemas.microsoft.com/office/drawing/2014/main" id="{226DC564-6F22-77F7-B96C-7EE10959332A}"/>
                  </a:ext>
                </a:extLst>
              </p14:cNvPr>
              <p14:cNvContentPartPr/>
              <p14:nvPr/>
            </p14:nvContentPartPr>
            <p14:xfrm>
              <a:off x="4036269" y="653091"/>
              <a:ext cx="360" cy="360"/>
            </p14:xfrm>
          </p:contentPart>
        </mc:Choice>
        <mc:Fallback xmlns="">
          <p:pic>
            <p:nvPicPr>
              <p:cNvPr id="25" name="Ink 24">
                <a:extLst>
                  <a:ext uri="{FF2B5EF4-FFF2-40B4-BE49-F238E27FC236}">
                    <a16:creationId xmlns:a16="http://schemas.microsoft.com/office/drawing/2014/main" id="{68DB5CBF-D701-D322-4416-C438505D842C}"/>
                  </a:ext>
                </a:extLst>
              </p:cNvPr>
              <p:cNvPicPr/>
              <p:nvPr/>
            </p:nvPicPr>
            <p:blipFill>
              <a:blip r:embed="rId23"/>
              <a:stretch>
                <a:fillRect/>
              </a:stretch>
            </p:blipFill>
            <p:spPr>
              <a:xfrm>
                <a:off x="4030149" y="646971"/>
                <a:ext cx="12600" cy="12600"/>
              </a:xfrm>
              <a:prstGeom prst="rect">
                <a:avLst/>
              </a:prstGeom>
            </p:spPr>
          </p:pic>
        </mc:Fallback>
      </mc:AlternateContent>
      <p:sp>
        <p:nvSpPr>
          <p:cNvPr id="10" name="TextBox 9">
            <a:extLst>
              <a:ext uri="{FF2B5EF4-FFF2-40B4-BE49-F238E27FC236}">
                <a16:creationId xmlns:a16="http://schemas.microsoft.com/office/drawing/2014/main" id="{E3CDD131-78C9-CA9F-255D-BABD3B5ECA46}"/>
              </a:ext>
            </a:extLst>
          </p:cNvPr>
          <p:cNvSpPr txBox="1"/>
          <p:nvPr/>
        </p:nvSpPr>
        <p:spPr>
          <a:xfrm>
            <a:off x="501830" y="846952"/>
            <a:ext cx="2468881" cy="1015663"/>
          </a:xfrm>
          <a:prstGeom prst="rect">
            <a:avLst/>
          </a:prstGeom>
          <a:noFill/>
          <a:ln>
            <a:solidFill>
              <a:schemeClr val="accent5">
                <a:lumMod val="20000"/>
                <a:lumOff val="80000"/>
              </a:schemeClr>
            </a:solidFill>
          </a:ln>
          <a:effectLst>
            <a:glow rad="101600">
              <a:srgbClr val="FF0000">
                <a:alpha val="40000"/>
              </a:srgbClr>
            </a:glow>
          </a:effectLst>
          <a:scene3d>
            <a:camera prst="orthographicFront"/>
            <a:lightRig rig="threePt" dir="t"/>
          </a:scene3d>
          <a:sp3d>
            <a:bevelT w="114300" prst="artDeco"/>
          </a:sp3d>
        </p:spPr>
        <p:txBody>
          <a:bodyPr wrap="square" rtlCol="0">
            <a:spAutoFit/>
          </a:bodyPr>
          <a:lstStyle/>
          <a:p>
            <a:pPr algn="ctr"/>
            <a:r>
              <a:rPr lang="en-US" sz="1200" b="1">
                <a:latin typeface="Consolas" panose="020B0609020204030204" pitchFamily="49" charset="0"/>
                <a:cs typeface="Times New Roman" panose="02020603050405020304" pitchFamily="18" charset="0"/>
              </a:rPr>
              <a:t>EventsWithinSpanAnalyzer</a:t>
            </a:r>
          </a:p>
          <a:p>
            <a:pPr algn="ctr"/>
            <a:r>
              <a:rPr lang="en-US" sz="1200">
                <a:latin typeface="Centaur" panose="02030504050205020304" pitchFamily="18" charset="0"/>
                <a:cs typeface="Times New Roman" panose="02020603050405020304" pitchFamily="18" charset="0"/>
              </a:rPr>
              <a:t>events: Events</a:t>
            </a:r>
          </a:p>
          <a:p>
            <a:pPr algn="ctr"/>
            <a:r>
              <a:rPr lang="en-US" sz="1200">
                <a:latin typeface="Centaur" panose="02030504050205020304" pitchFamily="18" charset="0"/>
                <a:cs typeface="Times New Roman" panose="02020603050405020304" pitchFamily="18" charset="0"/>
              </a:rPr>
              <a:t>spans: Spans</a:t>
            </a:r>
          </a:p>
          <a:p>
            <a:pPr algn="ctr"/>
            <a:r>
              <a:rPr lang="en-US" sz="1200">
                <a:latin typeface="Centaur" panose="02030504050205020304" pitchFamily="18" charset="0"/>
                <a:cs typeface="Times New Roman" panose="02020603050405020304" pitchFamily="18" charset="0"/>
              </a:rPr>
              <a:t>entity_col: str</a:t>
            </a:r>
          </a:p>
          <a:p>
            <a:pPr algn="ctr"/>
            <a:r>
              <a:rPr lang="en-US" sz="1200">
                <a:latin typeface="Centaur" panose="02030504050205020304" pitchFamily="18" charset="0"/>
                <a:cs typeface="Times New Roman" panose="02020603050405020304" pitchFamily="18" charset="0"/>
              </a:rPr>
              <a:t>meaningful_gap: int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62CE5E8-39A3-71C1-E5A9-1A474F33078E}"/>
              </a:ext>
            </a:extLst>
          </p:cNvPr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4209796" y="846952"/>
            <a:ext cx="4934204" cy="990651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0BCBA484-C3EC-9F64-37CD-309B4CC08A32}"/>
              </a:ext>
            </a:extLst>
          </p:cNvPr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4241549" y="2208697"/>
            <a:ext cx="4902452" cy="5588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7072248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7D58151-86B3-7A36-A1E3-A3FA01AC8F35}"/>
              </a:ext>
            </a:extLst>
          </p:cNvPr>
          <p:cNvSpPr txBox="1"/>
          <p:nvPr/>
        </p:nvSpPr>
        <p:spPr>
          <a:xfrm>
            <a:off x="5695407" y="102716"/>
            <a:ext cx="344859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/>
              <a:t>Parallelism and Composability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CD8B5AC-0557-001C-8981-09F1DA2189B7}"/>
              </a:ext>
            </a:extLst>
          </p:cNvPr>
          <p:cNvSpPr txBox="1"/>
          <p:nvPr/>
        </p:nvSpPr>
        <p:spPr>
          <a:xfrm>
            <a:off x="5183776" y="945088"/>
            <a:ext cx="2468881" cy="461665"/>
          </a:xfrm>
          <a:prstGeom prst="rect">
            <a:avLst/>
          </a:prstGeom>
          <a:noFill/>
          <a:ln>
            <a:solidFill>
              <a:schemeClr val="accent5">
                <a:lumMod val="20000"/>
                <a:lumOff val="80000"/>
              </a:schemeClr>
            </a:solidFill>
          </a:ln>
          <a:effectLst>
            <a:glow rad="101600">
              <a:schemeClr val="accent1">
                <a:satMod val="175000"/>
                <a:alpha val="40000"/>
              </a:schemeClr>
            </a:glow>
          </a:effectLst>
          <a:scene3d>
            <a:camera prst="orthographicFront"/>
            <a:lightRig rig="threePt" dir="t"/>
          </a:scene3d>
          <a:sp3d>
            <a:bevelT w="114300" prst="artDeco"/>
          </a:sp3d>
        </p:spPr>
        <p:txBody>
          <a:bodyPr wrap="square" rtlCol="0">
            <a:spAutoFit/>
          </a:bodyPr>
          <a:lstStyle/>
          <a:p>
            <a:pPr algn="ctr"/>
            <a:r>
              <a:rPr lang="en-US" sz="1200" b="1">
                <a:latin typeface="Consolas" panose="020B0609020204030204" pitchFamily="49" charset="0"/>
                <a:cs typeface="Times New Roman" panose="02020603050405020304" pitchFamily="18" charset="0"/>
              </a:rPr>
              <a:t>Occurrences</a:t>
            </a:r>
          </a:p>
          <a:p>
            <a:pPr algn="ctr"/>
            <a:r>
              <a:rPr lang="en-US" sz="1200" b="1">
                <a:latin typeface="Consolas" panose="020B0609020204030204" pitchFamily="49" charset="0"/>
                <a:cs typeface="Times New Roman" panose="02020603050405020304" pitchFamily="18" charset="0"/>
              </a:rPr>
              <a:t>(i.e. ED day, vaccine day)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ACCE28A-7E1F-6D48-7A0B-140873068F91}"/>
              </a:ext>
            </a:extLst>
          </p:cNvPr>
          <p:cNvSpPr txBox="1"/>
          <p:nvPr/>
        </p:nvSpPr>
        <p:spPr>
          <a:xfrm>
            <a:off x="4998719" y="1873376"/>
            <a:ext cx="2838996" cy="461665"/>
          </a:xfrm>
          <a:prstGeom prst="rect">
            <a:avLst/>
          </a:prstGeom>
          <a:noFill/>
          <a:ln>
            <a:solidFill>
              <a:schemeClr val="accent5">
                <a:lumMod val="20000"/>
                <a:lumOff val="80000"/>
              </a:schemeClr>
            </a:solidFill>
          </a:ln>
          <a:effectLst>
            <a:glow rad="101600">
              <a:schemeClr val="accent1">
                <a:satMod val="175000"/>
                <a:alpha val="40000"/>
              </a:schemeClr>
            </a:glow>
          </a:effectLst>
          <a:scene3d>
            <a:camera prst="orthographicFront"/>
            <a:lightRig rig="threePt" dir="t"/>
          </a:scene3d>
          <a:sp3d>
            <a:bevelT w="114300" prst="artDeco"/>
          </a:sp3d>
        </p:spPr>
        <p:txBody>
          <a:bodyPr wrap="square" rtlCol="0">
            <a:spAutoFit/>
          </a:bodyPr>
          <a:lstStyle/>
          <a:p>
            <a:pPr algn="ctr"/>
            <a:r>
              <a:rPr lang="en-US" sz="1200" b="1">
                <a:latin typeface="Consolas" panose="020B0609020204030204" pitchFamily="49" charset="0"/>
                <a:cs typeface="Times New Roman" panose="02020603050405020304" pitchFamily="18" charset="0"/>
              </a:rPr>
              <a:t>OccurrencesWithinSpanAnalyzer</a:t>
            </a:r>
          </a:p>
          <a:p>
            <a:pPr algn="ctr"/>
            <a:r>
              <a:rPr lang="en-US" sz="1200" b="1">
                <a:latin typeface="Consolas" panose="020B0609020204030204" pitchFamily="49" charset="0"/>
                <a:cs typeface="Times New Roman" panose="02020603050405020304" pitchFamily="18" charset="0"/>
              </a:rPr>
              <a:t>.calc()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4D228A2-6AFB-7FA5-A05D-ED480ED00FC2}"/>
              </a:ext>
            </a:extLst>
          </p:cNvPr>
          <p:cNvSpPr txBox="1"/>
          <p:nvPr/>
        </p:nvSpPr>
        <p:spPr>
          <a:xfrm>
            <a:off x="4761411" y="2776571"/>
            <a:ext cx="3370218" cy="461665"/>
          </a:xfrm>
          <a:prstGeom prst="rect">
            <a:avLst/>
          </a:prstGeom>
          <a:noFill/>
          <a:ln>
            <a:solidFill>
              <a:schemeClr val="accent5">
                <a:lumMod val="20000"/>
                <a:lumOff val="80000"/>
              </a:schemeClr>
            </a:solidFill>
          </a:ln>
          <a:effectLst>
            <a:glow rad="101600">
              <a:schemeClr val="accent1">
                <a:satMod val="175000"/>
                <a:alpha val="40000"/>
              </a:schemeClr>
            </a:glow>
          </a:effectLst>
          <a:scene3d>
            <a:camera prst="orthographicFront"/>
            <a:lightRig rig="threePt" dir="t"/>
          </a:scene3d>
          <a:sp3d>
            <a:bevelT w="114300" prst="artDeco"/>
          </a:sp3d>
        </p:spPr>
        <p:txBody>
          <a:bodyPr wrap="square" rtlCol="0">
            <a:spAutoFit/>
          </a:bodyPr>
          <a:lstStyle/>
          <a:p>
            <a:pPr algn="ctr"/>
            <a:r>
              <a:rPr lang="en-US" sz="1200" b="1">
                <a:latin typeface="Consolas" panose="020B0609020204030204" pitchFamily="49" charset="0"/>
                <a:cs typeface="Times New Roman" panose="02020603050405020304" pitchFamily="18" charset="0"/>
              </a:rPr>
              <a:t>PipeDelimitedIntermediateOccurences</a:t>
            </a:r>
          </a:p>
          <a:p>
            <a:pPr algn="ctr"/>
            <a:r>
              <a:rPr lang="en-US" sz="1200" b="1">
                <a:latin typeface="Consolas" panose="020B0609020204030204" pitchFamily="49" charset="0"/>
                <a:cs typeface="Times New Roman" panose="02020603050405020304" pitchFamily="18" charset="0"/>
              </a:rPr>
              <a:t>.self_analyze(), .print_summary()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79E06BB-A302-5214-11BE-E28285D805C5}"/>
              </a:ext>
            </a:extLst>
          </p:cNvPr>
          <p:cNvSpPr txBox="1"/>
          <p:nvPr/>
        </p:nvSpPr>
        <p:spPr>
          <a:xfrm>
            <a:off x="777239" y="945296"/>
            <a:ext cx="2468881" cy="461665"/>
          </a:xfrm>
          <a:prstGeom prst="rect">
            <a:avLst/>
          </a:prstGeom>
          <a:noFill/>
          <a:ln>
            <a:solidFill>
              <a:schemeClr val="accent5">
                <a:lumMod val="20000"/>
                <a:lumOff val="80000"/>
              </a:schemeClr>
            </a:solidFill>
          </a:ln>
          <a:effectLst>
            <a:glow rad="101600">
              <a:schemeClr val="accent2">
                <a:satMod val="175000"/>
                <a:alpha val="40000"/>
              </a:schemeClr>
            </a:glow>
          </a:effectLst>
          <a:scene3d>
            <a:camera prst="orthographicFront"/>
            <a:lightRig rig="threePt" dir="t"/>
          </a:scene3d>
          <a:sp3d>
            <a:bevelT w="114300" prst="artDeco"/>
          </a:sp3d>
        </p:spPr>
        <p:txBody>
          <a:bodyPr wrap="square" rtlCol="0">
            <a:spAutoFit/>
          </a:bodyPr>
          <a:lstStyle/>
          <a:p>
            <a:pPr algn="ctr"/>
            <a:r>
              <a:rPr lang="en-US" sz="1200" b="1">
                <a:latin typeface="Consolas" panose="020B0609020204030204" pitchFamily="49" charset="0"/>
                <a:cs typeface="Times New Roman" panose="02020603050405020304" pitchFamily="18" charset="0"/>
              </a:rPr>
              <a:t>Events</a:t>
            </a:r>
            <a:br>
              <a:rPr lang="en-US" sz="1200" b="1">
                <a:latin typeface="Consolas" panose="020B0609020204030204" pitchFamily="49" charset="0"/>
                <a:cs typeface="Times New Roman" panose="02020603050405020304" pitchFamily="18" charset="0"/>
              </a:rPr>
            </a:br>
            <a:r>
              <a:rPr lang="en-US" sz="1200" b="1">
                <a:latin typeface="Consolas" panose="020B0609020204030204" pitchFamily="49" charset="0"/>
                <a:cs typeface="Times New Roman" panose="02020603050405020304" pitchFamily="18" charset="0"/>
              </a:rPr>
              <a:t>(i.e. insurance-coverage)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FB24CEA-30E5-5CBA-B6FD-8AD5009A90DA}"/>
              </a:ext>
            </a:extLst>
          </p:cNvPr>
          <p:cNvSpPr txBox="1"/>
          <p:nvPr/>
        </p:nvSpPr>
        <p:spPr>
          <a:xfrm>
            <a:off x="592182" y="1873584"/>
            <a:ext cx="2838996" cy="461665"/>
          </a:xfrm>
          <a:prstGeom prst="rect">
            <a:avLst/>
          </a:prstGeom>
          <a:noFill/>
          <a:ln>
            <a:solidFill>
              <a:schemeClr val="accent5">
                <a:lumMod val="20000"/>
                <a:lumOff val="80000"/>
              </a:schemeClr>
            </a:solidFill>
          </a:ln>
          <a:effectLst>
            <a:glow rad="101600">
              <a:schemeClr val="accent2">
                <a:satMod val="175000"/>
                <a:alpha val="40000"/>
              </a:schemeClr>
            </a:glow>
          </a:effectLst>
          <a:scene3d>
            <a:camera prst="orthographicFront"/>
            <a:lightRig rig="threePt" dir="t"/>
          </a:scene3d>
          <a:sp3d>
            <a:bevelT w="114300" prst="artDeco"/>
          </a:sp3d>
        </p:spPr>
        <p:txBody>
          <a:bodyPr wrap="square" rtlCol="0">
            <a:spAutoFit/>
          </a:bodyPr>
          <a:lstStyle/>
          <a:p>
            <a:pPr algn="ctr"/>
            <a:r>
              <a:rPr lang="en-US" sz="1200" b="1">
                <a:latin typeface="Consolas" panose="020B0609020204030204" pitchFamily="49" charset="0"/>
                <a:cs typeface="Times New Roman" panose="02020603050405020304" pitchFamily="18" charset="0"/>
              </a:rPr>
              <a:t>EventsWithinSpanAnalyzer</a:t>
            </a:r>
          </a:p>
          <a:p>
            <a:pPr algn="ctr"/>
            <a:r>
              <a:rPr lang="en-US" sz="1200" b="1">
                <a:latin typeface="Consolas" panose="020B0609020204030204" pitchFamily="49" charset="0"/>
                <a:cs typeface="Times New Roman" panose="02020603050405020304" pitchFamily="18" charset="0"/>
              </a:rPr>
              <a:t>.calc_active_vs_inactive()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5E27686-F227-D7B9-185A-555BA080B570}"/>
              </a:ext>
            </a:extLst>
          </p:cNvPr>
          <p:cNvSpPr txBox="1"/>
          <p:nvPr/>
        </p:nvSpPr>
        <p:spPr>
          <a:xfrm>
            <a:off x="354874" y="2776779"/>
            <a:ext cx="3370218" cy="461665"/>
          </a:xfrm>
          <a:prstGeom prst="rect">
            <a:avLst/>
          </a:prstGeom>
          <a:noFill/>
          <a:ln>
            <a:solidFill>
              <a:schemeClr val="accent5">
                <a:lumMod val="20000"/>
                <a:lumOff val="80000"/>
              </a:schemeClr>
            </a:solidFill>
          </a:ln>
          <a:effectLst>
            <a:glow rad="101600">
              <a:schemeClr val="accent2">
                <a:satMod val="175000"/>
                <a:alpha val="40000"/>
              </a:schemeClr>
            </a:glow>
          </a:effectLst>
          <a:scene3d>
            <a:camera prst="orthographicFront"/>
            <a:lightRig rig="threePt" dir="t"/>
          </a:scene3d>
          <a:sp3d>
            <a:bevelT w="114300" prst="artDeco"/>
          </a:sp3d>
        </p:spPr>
        <p:txBody>
          <a:bodyPr wrap="square" rtlCol="0">
            <a:spAutoFit/>
          </a:bodyPr>
          <a:lstStyle/>
          <a:p>
            <a:pPr algn="ctr"/>
            <a:r>
              <a:rPr lang="en-US" sz="1200" b="1">
                <a:latin typeface="Consolas" panose="020B0609020204030204" pitchFamily="49" charset="0"/>
                <a:cs typeface="Times New Roman" panose="02020603050405020304" pitchFamily="18" charset="0"/>
              </a:rPr>
              <a:t>PipeDelimitedIntermediateEvents</a:t>
            </a:r>
          </a:p>
          <a:p>
            <a:pPr algn="ctr"/>
            <a:r>
              <a:rPr lang="en-US" sz="1200" b="1">
                <a:latin typeface="Consolas" panose="020B0609020204030204" pitchFamily="49" charset="0"/>
                <a:cs typeface="Times New Roman" panose="02020603050405020304" pitchFamily="18" charset="0"/>
              </a:rPr>
              <a:t>.self_analyze(), .tier1/2/3()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201D2B9-E328-98D6-72D3-A0C7AE802AC3}"/>
              </a:ext>
            </a:extLst>
          </p:cNvPr>
          <p:cNvSpPr txBox="1"/>
          <p:nvPr/>
        </p:nvSpPr>
        <p:spPr>
          <a:xfrm>
            <a:off x="3608614" y="3706284"/>
            <a:ext cx="1390105" cy="261610"/>
          </a:xfrm>
          <a:prstGeom prst="rect">
            <a:avLst/>
          </a:prstGeom>
          <a:noFill/>
          <a:ln>
            <a:solidFill>
              <a:schemeClr val="tx1"/>
            </a:solidFill>
            <a:prstDash val="sysDot"/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100">
                <a:latin typeface="Abadi" panose="020B0604020104020204" pitchFamily="34" charset="0"/>
              </a:rPr>
              <a:t>add objects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25" name="Ink 24">
                <a:extLst>
                  <a:ext uri="{FF2B5EF4-FFF2-40B4-BE49-F238E27FC236}">
                    <a16:creationId xmlns:a16="http://schemas.microsoft.com/office/drawing/2014/main" id="{68DB5CBF-D701-D322-4416-C438505D842C}"/>
                  </a:ext>
                </a:extLst>
              </p14:cNvPr>
              <p14:cNvContentPartPr/>
              <p14:nvPr/>
            </p14:nvContentPartPr>
            <p14:xfrm>
              <a:off x="4036269" y="653091"/>
              <a:ext cx="360" cy="360"/>
            </p14:xfrm>
          </p:contentPart>
        </mc:Choice>
        <mc:Fallback xmlns="">
          <p:pic>
            <p:nvPicPr>
              <p:cNvPr id="25" name="Ink 24">
                <a:extLst>
                  <a:ext uri="{FF2B5EF4-FFF2-40B4-BE49-F238E27FC236}">
                    <a16:creationId xmlns:a16="http://schemas.microsoft.com/office/drawing/2014/main" id="{68DB5CBF-D701-D322-4416-C438505D842C}"/>
                  </a:ext>
                </a:extLst>
              </p:cNvPr>
              <p:cNvPicPr/>
              <p:nvPr/>
            </p:nvPicPr>
            <p:blipFill>
              <a:blip r:embed="rId23"/>
              <a:stretch>
                <a:fillRect/>
              </a:stretch>
            </p:blipFill>
            <p:spPr>
              <a:xfrm>
                <a:off x="4030149" y="646971"/>
                <a:ext cx="12600" cy="12600"/>
              </a:xfrm>
              <a:prstGeom prst="rect">
                <a:avLst/>
              </a:prstGeom>
            </p:spPr>
          </p:pic>
        </mc:Fallback>
      </mc:AlternateContent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05A859ED-E06B-274D-17CB-3FEA7780F090}"/>
              </a:ext>
            </a:extLst>
          </p:cNvPr>
          <p:cNvCxnSpPr>
            <a:stCxn id="8" idx="2"/>
            <a:endCxn id="9" idx="0"/>
          </p:cNvCxnSpPr>
          <p:nvPr/>
        </p:nvCxnSpPr>
        <p:spPr>
          <a:xfrm>
            <a:off x="2039983" y="3238444"/>
            <a:ext cx="2263684" cy="46784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46575BD2-FB31-A170-A790-2AFEEA89FB6C}"/>
              </a:ext>
            </a:extLst>
          </p:cNvPr>
          <p:cNvCxnSpPr>
            <a:cxnSpLocks/>
            <a:stCxn id="5" idx="2"/>
            <a:endCxn id="9" idx="0"/>
          </p:cNvCxnSpPr>
          <p:nvPr/>
        </p:nvCxnSpPr>
        <p:spPr>
          <a:xfrm flipH="1">
            <a:off x="4303667" y="3238236"/>
            <a:ext cx="2142853" cy="46804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77BE384C-5999-6A35-D7ED-50B38B267B85}"/>
              </a:ext>
            </a:extLst>
          </p:cNvPr>
          <p:cNvCxnSpPr>
            <a:cxnSpLocks/>
            <a:stCxn id="5" idx="2"/>
          </p:cNvCxnSpPr>
          <p:nvPr/>
        </p:nvCxnSpPr>
        <p:spPr>
          <a:xfrm flipH="1">
            <a:off x="5375093" y="3238236"/>
            <a:ext cx="1071427" cy="112475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E62B8F02-B538-3AF8-2F69-2D570ECB750D}"/>
              </a:ext>
            </a:extLst>
          </p:cNvPr>
          <p:cNvSpPr txBox="1"/>
          <p:nvPr/>
        </p:nvSpPr>
        <p:spPr>
          <a:xfrm>
            <a:off x="2618558" y="4408731"/>
            <a:ext cx="3370218" cy="276999"/>
          </a:xfrm>
          <a:prstGeom prst="rect">
            <a:avLst/>
          </a:prstGeom>
          <a:noFill/>
          <a:ln>
            <a:solidFill>
              <a:schemeClr val="accent5">
                <a:lumMod val="20000"/>
                <a:lumOff val="80000"/>
              </a:schemeClr>
            </a:solidFill>
          </a:ln>
          <a:effectLst>
            <a:glow rad="101600">
              <a:schemeClr val="accent4">
                <a:satMod val="175000"/>
                <a:alpha val="40000"/>
              </a:schemeClr>
            </a:glow>
          </a:effectLst>
          <a:scene3d>
            <a:camera prst="orthographicFront"/>
            <a:lightRig rig="threePt" dir="t"/>
          </a:scene3d>
          <a:sp3d>
            <a:bevelT w="114300" prst="artDeco"/>
          </a:sp3d>
        </p:spPr>
        <p:txBody>
          <a:bodyPr wrap="square" rtlCol="0">
            <a:spAutoFit/>
          </a:bodyPr>
          <a:lstStyle/>
          <a:p>
            <a:pPr algn="ctr"/>
            <a:r>
              <a:rPr lang="en-US" sz="1200" b="1">
                <a:latin typeface="Consolas" panose="020B0609020204030204" pitchFamily="49" charset="0"/>
                <a:cs typeface="Times New Roman" panose="02020603050405020304" pitchFamily="18" charset="0"/>
              </a:rPr>
              <a:t>StackedBarsPlotter</a:t>
            </a: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A6443675-EB6E-072E-E721-E90B1ED7F448}"/>
              </a:ext>
            </a:extLst>
          </p:cNvPr>
          <p:cNvCxnSpPr>
            <a:cxnSpLocks/>
            <a:stCxn id="8" idx="2"/>
          </p:cNvCxnSpPr>
          <p:nvPr/>
        </p:nvCxnSpPr>
        <p:spPr>
          <a:xfrm>
            <a:off x="2039983" y="3238444"/>
            <a:ext cx="1055642" cy="117028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7B26C338-B9CF-64EE-5B48-270AF23AA4BE}"/>
              </a:ext>
            </a:extLst>
          </p:cNvPr>
          <p:cNvCxnSpPr>
            <a:cxnSpLocks/>
            <a:stCxn id="9" idx="2"/>
            <a:endCxn id="11" idx="0"/>
          </p:cNvCxnSpPr>
          <p:nvPr/>
        </p:nvCxnSpPr>
        <p:spPr>
          <a:xfrm>
            <a:off x="4303667" y="3967894"/>
            <a:ext cx="0" cy="44083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E78E5E55-A5DE-FE84-CBF1-8BA954AEF9AB}"/>
              </a:ext>
            </a:extLst>
          </p:cNvPr>
          <p:cNvSpPr txBox="1"/>
          <p:nvPr/>
        </p:nvSpPr>
        <p:spPr>
          <a:xfrm>
            <a:off x="6123215" y="3758505"/>
            <a:ext cx="2592977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i="1"/>
              <a:t>Plotter can therefore plot either occurrences within an span; or events within a span; or both within a span.</a:t>
            </a:r>
            <a:br>
              <a:rPr lang="en-US" sz="1200" i="1"/>
            </a:br>
            <a:r>
              <a:rPr lang="en-US" sz="1200" i="1"/>
              <a:t>All orchestrated by a YAML that understands the objects.</a:t>
            </a:r>
          </a:p>
          <a:p>
            <a:r>
              <a:rPr lang="en-US" sz="1200" i="1"/>
              <a:t>The plotter does not care which path was taken.</a:t>
            </a:r>
          </a:p>
        </p:txBody>
      </p:sp>
    </p:spTree>
    <p:extLst>
      <p:ext uri="{BB962C8B-B14F-4D97-AF65-F5344CB8AC3E}">
        <p14:creationId xmlns:p14="http://schemas.microsoft.com/office/powerpoint/2010/main" val="231718940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2B4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02809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65760" y="1097280"/>
            <a:ext cx="8412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0" b="1" kern="0" spc="80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eventi</a:t>
            </a:r>
            <a:endParaRPr lang="en-US" sz="7200" dirty="0"/>
          </a:p>
        </p:txBody>
      </p:sp>
      <p:sp>
        <p:nvSpPr>
          <p:cNvPr id="4" name="Text 2"/>
          <p:cNvSpPr/>
          <p:nvPr/>
        </p:nvSpPr>
        <p:spPr>
          <a:xfrm>
            <a:off x="365760" y="2194560"/>
            <a:ext cx="8412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Domain-Agnostic Python Framework for Analyzing</a:t>
            </a:r>
            <a:endParaRPr lang="en-US" sz="2200" dirty="0"/>
          </a:p>
          <a:p>
            <a:pPr marL="0" indent="0" algn="l">
              <a:buNone/>
            </a:pPr>
            <a:r>
              <a:rPr lang="en-US" sz="220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Events, Spans, and Occurrences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365760" y="420624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i="1" dirty="0">
                <a:solidFill>
                  <a:srgbClr val="8A9B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 &amp; Design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858000" y="2560320"/>
            <a:ext cx="2560320" cy="2560320"/>
          </a:xfrm>
          <a:prstGeom prst="ellipse">
            <a:avLst/>
          </a:prstGeom>
          <a:solidFill>
            <a:srgbClr val="028090">
              <a:alpha val="15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7498080" y="1645920"/>
            <a:ext cx="1645920" cy="1645920"/>
          </a:xfrm>
          <a:prstGeom prst="ellipse">
            <a:avLst/>
          </a:prstGeom>
          <a:solidFill>
            <a:srgbClr val="02C39A">
              <a:alpha val="20000"/>
            </a:srgbClr>
          </a:solidFill>
          <a:ln/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0D2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Challenge Appears Everywhere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886968"/>
            <a:ext cx="8229600" cy="36576"/>
          </a:xfrm>
          <a:prstGeom prst="rect">
            <a:avLst/>
          </a:prstGeom>
          <a:solidFill>
            <a:srgbClr val="02809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365760" y="1051560"/>
            <a:ext cx="1828800" cy="384048"/>
          </a:xfrm>
          <a:prstGeom prst="rect">
            <a:avLst/>
          </a:prstGeom>
          <a:solidFill>
            <a:srgbClr val="0D2B4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365760" y="1051560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Domain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2377440" y="1051560"/>
            <a:ext cx="2011680" cy="384048"/>
          </a:xfrm>
          <a:prstGeom prst="rect">
            <a:avLst/>
          </a:prstGeom>
          <a:solidFill>
            <a:srgbClr val="0D2B4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2377440" y="1051560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Span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0" y="1051560"/>
            <a:ext cx="2011680" cy="384048"/>
          </a:xfrm>
          <a:prstGeom prst="rect">
            <a:avLst/>
          </a:prstGeom>
          <a:solidFill>
            <a:srgbClr val="0D2B4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4572000" y="1051560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Events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766560" y="1051560"/>
            <a:ext cx="2011680" cy="384048"/>
          </a:xfrm>
          <a:prstGeom prst="rect">
            <a:avLst/>
          </a:prstGeom>
          <a:solidFill>
            <a:srgbClr val="0D2B4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6766560" y="1051560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Occurrences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508760"/>
            <a:ext cx="1828800" cy="502920"/>
          </a:xfrm>
          <a:prstGeom prst="rect">
            <a:avLst/>
          </a:prstGeom>
          <a:solidFill>
            <a:srgbClr val="FFFFFF"/>
          </a:solidFill>
          <a:ln w="19050">
            <a:solidFill>
              <a:srgbClr val="E8EFF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411480" y="150876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D2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Insurance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2377440" y="1508760"/>
            <a:ext cx="2011680" cy="502920"/>
          </a:xfrm>
          <a:prstGeom prst="rect">
            <a:avLst/>
          </a:prstGeom>
          <a:solidFill>
            <a:srgbClr val="FFFFFF"/>
          </a:solidFill>
          <a:ln w="19050">
            <a:solidFill>
              <a:srgbClr val="E8EFF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2423160" y="1508760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1A2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Enrollment year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572000" y="1508760"/>
            <a:ext cx="2011680" cy="502920"/>
          </a:xfrm>
          <a:prstGeom prst="rect">
            <a:avLst/>
          </a:prstGeom>
          <a:solidFill>
            <a:srgbClr val="FFFFFF"/>
          </a:solidFill>
          <a:ln w="19050">
            <a:solidFill>
              <a:srgbClr val="E8EFF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4617720" y="1508760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1A2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Coverage periods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766560" y="1508760"/>
            <a:ext cx="2011680" cy="502920"/>
          </a:xfrm>
          <a:prstGeom prst="rect">
            <a:avLst/>
          </a:prstGeom>
          <a:solidFill>
            <a:srgbClr val="FFFFFF"/>
          </a:solidFill>
          <a:ln w="19050">
            <a:solidFill>
              <a:srgbClr val="E8EFF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6812280" y="1508760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1A2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 visits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365760" y="2075688"/>
            <a:ext cx="1828800" cy="502920"/>
          </a:xfrm>
          <a:prstGeom prst="rect">
            <a:avLst/>
          </a:prstGeom>
          <a:solidFill>
            <a:srgbClr val="E8EFF5"/>
          </a:solidFill>
          <a:ln w="19050">
            <a:solidFill>
              <a:srgbClr val="E8EFF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411480" y="2075688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D2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Trials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2377440" y="2075688"/>
            <a:ext cx="2011680" cy="502920"/>
          </a:xfrm>
          <a:prstGeom prst="rect">
            <a:avLst/>
          </a:prstGeom>
          <a:solidFill>
            <a:srgbClr val="E8EFF5"/>
          </a:solidFill>
          <a:ln w="19050">
            <a:solidFill>
              <a:srgbClr val="E8EFF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2423160" y="2075688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1A2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Study period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4572000" y="2075688"/>
            <a:ext cx="2011680" cy="502920"/>
          </a:xfrm>
          <a:prstGeom prst="rect">
            <a:avLst/>
          </a:prstGeom>
          <a:solidFill>
            <a:srgbClr val="E8EFF5"/>
          </a:solidFill>
          <a:ln w="19050">
            <a:solidFill>
              <a:srgbClr val="E8EFF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4617720" y="2075688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1A2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Treatment windows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6766560" y="2075688"/>
            <a:ext cx="2011680" cy="502920"/>
          </a:xfrm>
          <a:prstGeom prst="rect">
            <a:avLst/>
          </a:prstGeom>
          <a:solidFill>
            <a:srgbClr val="E8EFF5"/>
          </a:solidFill>
          <a:ln w="19050">
            <a:solidFill>
              <a:srgbClr val="E8EFF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6812280" y="2075688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1A2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Adverse events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365760" y="2642616"/>
            <a:ext cx="1828800" cy="502920"/>
          </a:xfrm>
          <a:prstGeom prst="rect">
            <a:avLst/>
          </a:prstGeom>
          <a:solidFill>
            <a:srgbClr val="FFFFFF"/>
          </a:solidFill>
          <a:ln w="19050">
            <a:solidFill>
              <a:srgbClr val="E8EFF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411480" y="2642616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D2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HR Analytics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2377440" y="2642616"/>
            <a:ext cx="2011680" cy="502920"/>
          </a:xfrm>
          <a:prstGeom prst="rect">
            <a:avLst/>
          </a:prstGeom>
          <a:solidFill>
            <a:srgbClr val="FFFFFF"/>
          </a:solidFill>
          <a:ln w="19050">
            <a:solidFill>
              <a:srgbClr val="E8EFF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2423160" y="2642616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1A2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Employment period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4572000" y="2642616"/>
            <a:ext cx="2011680" cy="502920"/>
          </a:xfrm>
          <a:prstGeom prst="rect">
            <a:avLst/>
          </a:prstGeom>
          <a:solidFill>
            <a:srgbClr val="FFFFFF"/>
          </a:solidFill>
          <a:ln w="19050">
            <a:solidFill>
              <a:srgbClr val="E8EFF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Text 31"/>
          <p:cNvSpPr/>
          <p:nvPr/>
        </p:nvSpPr>
        <p:spPr>
          <a:xfrm>
            <a:off x="4617720" y="2642616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1A2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Benefit enrollment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6766560" y="2642616"/>
            <a:ext cx="2011680" cy="502920"/>
          </a:xfrm>
          <a:prstGeom prst="rect">
            <a:avLst/>
          </a:prstGeom>
          <a:solidFill>
            <a:srgbClr val="FFFFFF"/>
          </a:solidFill>
          <a:ln w="19050">
            <a:solidFill>
              <a:srgbClr val="E8EFF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Text 33"/>
          <p:cNvSpPr/>
          <p:nvPr/>
        </p:nvSpPr>
        <p:spPr>
          <a:xfrm>
            <a:off x="6812280" y="2642616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1A2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Salary changes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365760" y="3209544"/>
            <a:ext cx="1828800" cy="502920"/>
          </a:xfrm>
          <a:prstGeom prst="rect">
            <a:avLst/>
          </a:prstGeom>
          <a:solidFill>
            <a:srgbClr val="E8EFF5"/>
          </a:solidFill>
          <a:ln w="19050">
            <a:solidFill>
              <a:srgbClr val="E8EFF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" name="Text 35"/>
          <p:cNvSpPr/>
          <p:nvPr/>
        </p:nvSpPr>
        <p:spPr>
          <a:xfrm>
            <a:off x="411480" y="3209544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D2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Education</a:t>
            </a:r>
            <a:endParaRPr lang="en-US" sz="1200" dirty="0"/>
          </a:p>
        </p:txBody>
      </p:sp>
      <p:sp>
        <p:nvSpPr>
          <p:cNvPr id="38" name="Shape 36"/>
          <p:cNvSpPr/>
          <p:nvPr/>
        </p:nvSpPr>
        <p:spPr>
          <a:xfrm>
            <a:off x="2377440" y="3209544"/>
            <a:ext cx="2011680" cy="502920"/>
          </a:xfrm>
          <a:prstGeom prst="rect">
            <a:avLst/>
          </a:prstGeom>
          <a:solidFill>
            <a:srgbClr val="E8EFF5"/>
          </a:solidFill>
          <a:ln w="19050">
            <a:solidFill>
              <a:srgbClr val="E8EFF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9" name="Text 37"/>
          <p:cNvSpPr/>
          <p:nvPr/>
        </p:nvSpPr>
        <p:spPr>
          <a:xfrm>
            <a:off x="2423160" y="3209544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1A2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Academic year</a:t>
            </a:r>
            <a:endParaRPr lang="en-US" sz="1200" dirty="0"/>
          </a:p>
        </p:txBody>
      </p:sp>
      <p:sp>
        <p:nvSpPr>
          <p:cNvPr id="40" name="Shape 38"/>
          <p:cNvSpPr/>
          <p:nvPr/>
        </p:nvSpPr>
        <p:spPr>
          <a:xfrm>
            <a:off x="4572000" y="3209544"/>
            <a:ext cx="2011680" cy="502920"/>
          </a:xfrm>
          <a:prstGeom prst="rect">
            <a:avLst/>
          </a:prstGeom>
          <a:solidFill>
            <a:srgbClr val="E8EFF5"/>
          </a:solidFill>
          <a:ln w="19050">
            <a:solidFill>
              <a:srgbClr val="E8EFF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1" name="Text 39"/>
          <p:cNvSpPr/>
          <p:nvPr/>
        </p:nvSpPr>
        <p:spPr>
          <a:xfrm>
            <a:off x="4617720" y="3209544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1A2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Enrollment periods</a:t>
            </a:r>
            <a:endParaRPr lang="en-US" sz="1200" dirty="0"/>
          </a:p>
        </p:txBody>
      </p:sp>
      <p:sp>
        <p:nvSpPr>
          <p:cNvPr id="42" name="Shape 40"/>
          <p:cNvSpPr/>
          <p:nvPr/>
        </p:nvSpPr>
        <p:spPr>
          <a:xfrm>
            <a:off x="6766560" y="3209544"/>
            <a:ext cx="2011680" cy="502920"/>
          </a:xfrm>
          <a:prstGeom prst="rect">
            <a:avLst/>
          </a:prstGeom>
          <a:solidFill>
            <a:srgbClr val="E8EFF5"/>
          </a:solidFill>
          <a:ln w="19050">
            <a:solidFill>
              <a:srgbClr val="E8EFF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3" name="Text 41"/>
          <p:cNvSpPr/>
          <p:nvPr/>
        </p:nvSpPr>
        <p:spPr>
          <a:xfrm>
            <a:off x="6812280" y="3209544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1A2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Absences</a:t>
            </a:r>
            <a:endParaRPr lang="en-US" sz="1200" dirty="0"/>
          </a:p>
        </p:txBody>
      </p:sp>
      <p:sp>
        <p:nvSpPr>
          <p:cNvPr id="44" name="Text 42"/>
          <p:cNvSpPr/>
          <p:nvPr/>
        </p:nvSpPr>
        <p:spPr>
          <a:xfrm>
            <a:off x="365760" y="4526280"/>
            <a:ext cx="8412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i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general-purpose Python tool existed for this structure — </a:t>
            </a:r>
            <a:r>
              <a:rPr lang="en-US" sz="1400" i="1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until eventi.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0D2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Four-Layer Architecture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886968"/>
            <a:ext cx="8229600" cy="36576"/>
          </a:xfrm>
          <a:prstGeom prst="rect">
            <a:avLst/>
          </a:prstGeom>
          <a:solidFill>
            <a:srgbClr val="02809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365760" y="1005840"/>
            <a:ext cx="4389120" cy="594360"/>
          </a:xfrm>
          <a:prstGeom prst="rect">
            <a:avLst/>
          </a:prstGeom>
          <a:solidFill>
            <a:srgbClr val="0D2B4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457200" y="1042416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Semantics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57200" y="1307592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EventSemantics, OccurrenceSemantics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2377440" y="1600200"/>
            <a:ext cx="54864" cy="155448"/>
          </a:xfrm>
          <a:prstGeom prst="rect">
            <a:avLst/>
          </a:prstGeom>
          <a:solidFill>
            <a:srgbClr val="8A9BB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365760" y="1755648"/>
            <a:ext cx="4389120" cy="594360"/>
          </a:xfrm>
          <a:prstGeom prst="rect">
            <a:avLst/>
          </a:prstGeom>
          <a:solidFill>
            <a:srgbClr val="02809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457200" y="1792224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Validated Objects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57200" y="2057400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Events, EventsPerEntity, Occurrences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2377440" y="2350008"/>
            <a:ext cx="54864" cy="155448"/>
          </a:xfrm>
          <a:prstGeom prst="rect">
            <a:avLst/>
          </a:prstGeom>
          <a:solidFill>
            <a:srgbClr val="8A9BB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365760" y="2505456"/>
            <a:ext cx="4389120" cy="594360"/>
          </a:xfrm>
          <a:prstGeom prst="rect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457200" y="2542032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Analyzers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57200" y="2807208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EventsWithinSpansAnalyzer, OccurrencesWithinSpansAnalyzer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2377440" y="3099816"/>
            <a:ext cx="54864" cy="155448"/>
          </a:xfrm>
          <a:prstGeom prst="rect">
            <a:avLst/>
          </a:prstGeom>
          <a:solidFill>
            <a:srgbClr val="8A9BB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365760" y="3255264"/>
            <a:ext cx="4389120" cy="594360"/>
          </a:xfrm>
          <a:prstGeom prst="rect">
            <a:avLst/>
          </a:prstGeom>
          <a:solidFill>
            <a:srgbClr val="02809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457200" y="3291840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Intermediates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57200" y="3557016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PipeDelimitedIntermediateEvents + Occurrences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2377440" y="3849624"/>
            <a:ext cx="54864" cy="155448"/>
          </a:xfrm>
          <a:prstGeom prst="rect">
            <a:avLst/>
          </a:prstGeom>
          <a:solidFill>
            <a:srgbClr val="8A9BB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365760" y="4005072"/>
            <a:ext cx="4389120" cy="594360"/>
          </a:xfrm>
          <a:prstGeom prst="rect">
            <a:avLst/>
          </a:prstGeom>
          <a:solidFill>
            <a:srgbClr val="02C39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457200" y="4041648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Visualizers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" y="4306824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StackedEventsPlotter, ActivityOverTimePlotter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120640" y="1005840"/>
            <a:ext cx="3657600" cy="594360"/>
          </a:xfrm>
          <a:prstGeom prst="rect">
            <a:avLst/>
          </a:prstGeom>
          <a:solidFill>
            <a:srgbClr val="FFFFFF"/>
          </a:solidFill>
          <a:ln w="19050">
            <a:solidFill>
              <a:srgbClr val="E8EFF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5212080" y="1051560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i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"I know what columns mean"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5212080" y="1307592"/>
            <a:ext cx="3474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1A2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Decouples logic from schema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5120640" y="1755648"/>
            <a:ext cx="3657600" cy="594360"/>
          </a:xfrm>
          <a:prstGeom prst="rect">
            <a:avLst/>
          </a:prstGeom>
          <a:solidFill>
            <a:srgbClr val="FFFFFF"/>
          </a:solidFill>
          <a:ln w="19050">
            <a:solidFill>
              <a:srgbClr val="E8EFF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5212080" y="1801368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i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"My data is validated"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5212080" y="2057400"/>
            <a:ext cx="3474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1A2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Triage, rejected rows, audit trail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5120640" y="2505456"/>
            <a:ext cx="3657600" cy="594360"/>
          </a:xfrm>
          <a:prstGeom prst="rect">
            <a:avLst/>
          </a:prstGeom>
          <a:solidFill>
            <a:srgbClr val="FFFFFF"/>
          </a:solidFill>
          <a:ln w="19050">
            <a:solidFill>
              <a:srgbClr val="E8EFF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Text 28"/>
          <p:cNvSpPr/>
          <p:nvPr/>
        </p:nvSpPr>
        <p:spPr>
          <a:xfrm>
            <a:off x="5212080" y="2551176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i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"I compute the analysis"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5212080" y="2807208"/>
            <a:ext cx="3474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1A2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responsibility per analyzer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5120640" y="3255264"/>
            <a:ext cx="3657600" cy="594360"/>
          </a:xfrm>
          <a:prstGeom prst="rect">
            <a:avLst/>
          </a:prstGeom>
          <a:solidFill>
            <a:srgbClr val="FFFFFF"/>
          </a:solidFill>
          <a:ln w="19050">
            <a:solidFill>
              <a:srgbClr val="E8EFF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Text 31"/>
          <p:cNvSpPr/>
          <p:nvPr/>
        </p:nvSpPr>
        <p:spPr>
          <a:xfrm>
            <a:off x="5212080" y="3300984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i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"I am the handshake"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5212080" y="3557016"/>
            <a:ext cx="3474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1A2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Pipe-delimited columnar contract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5120640" y="4005072"/>
            <a:ext cx="3657600" cy="594360"/>
          </a:xfrm>
          <a:prstGeom prst="rect">
            <a:avLst/>
          </a:prstGeom>
          <a:solidFill>
            <a:srgbClr val="FFFFFF"/>
          </a:solidFill>
          <a:ln w="19050">
            <a:solidFill>
              <a:srgbClr val="E8EFF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" name="Text 34"/>
          <p:cNvSpPr/>
          <p:nvPr/>
        </p:nvSpPr>
        <p:spPr>
          <a:xfrm>
            <a:off x="5212080" y="4050792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i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"I know how to draw"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5212080" y="4306824"/>
            <a:ext cx="3474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1A2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Pure renderers, no data transforms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4754880" y="1005840"/>
            <a:ext cx="365760" cy="0"/>
          </a:xfrm>
          <a:prstGeom prst="line">
            <a:avLst/>
          </a:prstGeom>
          <a:noFill/>
          <a:ln w="12700">
            <a:solidFill>
              <a:srgbClr val="E8EFF5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0D2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 Hierarchy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886968"/>
            <a:ext cx="8229600" cy="36576"/>
          </a:xfrm>
          <a:prstGeom prst="rect">
            <a:avLst/>
          </a:prstGeom>
          <a:solidFill>
            <a:srgbClr val="02809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365760" y="1143000"/>
            <a:ext cx="2011680" cy="384048"/>
          </a:xfrm>
          <a:prstGeom prst="roundRect">
            <a:avLst>
              <a:gd name="adj" fmla="val 19048"/>
            </a:avLst>
          </a:prstGeom>
          <a:solidFill>
            <a:srgbClr val="0D2B4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365760" y="1143000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EventSemantics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2514600" y="1143000"/>
            <a:ext cx="2286000" cy="384048"/>
          </a:xfrm>
          <a:prstGeom prst="roundRect">
            <a:avLst>
              <a:gd name="adj" fmla="val 19048"/>
            </a:avLst>
          </a:prstGeom>
          <a:solidFill>
            <a:srgbClr val="0D2B4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2514600" y="1143000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OccurrenceSemantics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1417320" y="1527048"/>
            <a:ext cx="0" cy="228600"/>
          </a:xfrm>
          <a:prstGeom prst="line">
            <a:avLst/>
          </a:prstGeom>
          <a:noFill/>
          <a:ln w="19050">
            <a:solidFill>
              <a:srgbClr val="8A9BB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3657600" y="1527048"/>
            <a:ext cx="0" cy="228600"/>
          </a:xfrm>
          <a:prstGeom prst="line">
            <a:avLst/>
          </a:prstGeom>
          <a:noFill/>
          <a:ln w="19050">
            <a:solidFill>
              <a:srgbClr val="8A9BB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365760" y="1783080"/>
            <a:ext cx="1280160" cy="384048"/>
          </a:xfrm>
          <a:prstGeom prst="roundRect">
            <a:avLst>
              <a:gd name="adj" fmla="val 19048"/>
            </a:avLst>
          </a:prstGeom>
          <a:solidFill>
            <a:srgbClr val="02809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365760" y="1783080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783080" y="1783080"/>
            <a:ext cx="1737360" cy="384048"/>
          </a:xfrm>
          <a:prstGeom prst="roundRect">
            <a:avLst>
              <a:gd name="adj" fmla="val 19048"/>
            </a:avLst>
          </a:prstGeom>
          <a:solidFill>
            <a:srgbClr val="00A89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1783080" y="1783080"/>
            <a:ext cx="1737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EventsPerEntity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3611880" y="1783080"/>
            <a:ext cx="1463040" cy="384048"/>
          </a:xfrm>
          <a:prstGeom prst="roundRect">
            <a:avLst>
              <a:gd name="adj" fmla="val 19048"/>
            </a:avLst>
          </a:prstGeom>
          <a:solidFill>
            <a:srgbClr val="02809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3611880" y="1783080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Occurrences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166360" y="1783080"/>
            <a:ext cx="2011680" cy="384048"/>
          </a:xfrm>
          <a:prstGeom prst="roundRect">
            <a:avLst>
              <a:gd name="adj" fmla="val 19048"/>
            </a:avLst>
          </a:prstGeom>
          <a:solidFill>
            <a:srgbClr val="00A89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5166360" y="1783080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OccurrencesPerEntity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172200" y="2167128"/>
            <a:ext cx="0" cy="228600"/>
          </a:xfrm>
          <a:prstGeom prst="line">
            <a:avLst/>
          </a:prstGeom>
          <a:noFill/>
          <a:ln w="19050">
            <a:solidFill>
              <a:srgbClr val="02C39A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6309360" y="2167128"/>
            <a:ext cx="1371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build_span()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1417320" y="2167128"/>
            <a:ext cx="0" cy="256032"/>
          </a:xfrm>
          <a:prstGeom prst="line">
            <a:avLst/>
          </a:prstGeom>
          <a:noFill/>
          <a:ln w="19050">
            <a:solidFill>
              <a:srgbClr val="8A9BB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Shape 19"/>
          <p:cNvSpPr/>
          <p:nvPr/>
        </p:nvSpPr>
        <p:spPr>
          <a:xfrm>
            <a:off x="4343400" y="2167128"/>
            <a:ext cx="0" cy="256032"/>
          </a:xfrm>
          <a:prstGeom prst="line">
            <a:avLst/>
          </a:prstGeom>
          <a:noFill/>
          <a:ln w="19050">
            <a:solidFill>
              <a:srgbClr val="8A9BB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Shape 20"/>
          <p:cNvSpPr/>
          <p:nvPr/>
        </p:nvSpPr>
        <p:spPr>
          <a:xfrm>
            <a:off x="365760" y="2450592"/>
            <a:ext cx="2834640" cy="384048"/>
          </a:xfrm>
          <a:prstGeom prst="roundRect">
            <a:avLst>
              <a:gd name="adj" fmla="val 19048"/>
            </a:avLst>
          </a:prstGeom>
          <a:solidFill>
            <a:srgbClr val="1C729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365760" y="2450592"/>
            <a:ext cx="2834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EventsWithinSpansAnalyzer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3337560" y="2450592"/>
            <a:ext cx="2834640" cy="384048"/>
          </a:xfrm>
          <a:prstGeom prst="roundRect">
            <a:avLst>
              <a:gd name="adj" fmla="val 19048"/>
            </a:avLst>
          </a:prstGeom>
          <a:solidFill>
            <a:srgbClr val="1C729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3337560" y="2450592"/>
            <a:ext cx="2834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OccurrencesWithinSpansAnalyzer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1783080" y="2834640"/>
            <a:ext cx="0" cy="256032"/>
          </a:xfrm>
          <a:prstGeom prst="line">
            <a:avLst/>
          </a:prstGeom>
          <a:noFill/>
          <a:ln w="19050">
            <a:solidFill>
              <a:srgbClr val="8A9BB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Shape 25"/>
          <p:cNvSpPr/>
          <p:nvPr/>
        </p:nvSpPr>
        <p:spPr>
          <a:xfrm>
            <a:off x="4754880" y="2834640"/>
            <a:ext cx="0" cy="256032"/>
          </a:xfrm>
          <a:prstGeom prst="line">
            <a:avLst/>
          </a:prstGeom>
          <a:noFill/>
          <a:ln w="19050">
            <a:solidFill>
              <a:srgbClr val="8A9BB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Shape 26"/>
          <p:cNvSpPr/>
          <p:nvPr/>
        </p:nvSpPr>
        <p:spPr>
          <a:xfrm>
            <a:off x="365760" y="3090672"/>
            <a:ext cx="8412480" cy="384048"/>
          </a:xfrm>
          <a:prstGeom prst="rect">
            <a:avLst/>
          </a:prstGeom>
          <a:solidFill>
            <a:srgbClr val="E8EFF5"/>
          </a:solidFill>
          <a:ln w="19050">
            <a:solidFill>
              <a:srgbClr val="8A9BB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365760" y="3090672"/>
            <a:ext cx="8412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D2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PipeDelimitedIntermediate  (base — columnar contract + combine())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1828800" y="3474720"/>
            <a:ext cx="0" cy="256032"/>
          </a:xfrm>
          <a:prstGeom prst="line">
            <a:avLst/>
          </a:prstGeom>
          <a:noFill/>
          <a:ln w="19050">
            <a:solidFill>
              <a:srgbClr val="8A9BB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Shape 29"/>
          <p:cNvSpPr/>
          <p:nvPr/>
        </p:nvSpPr>
        <p:spPr>
          <a:xfrm>
            <a:off x="6400800" y="3474720"/>
            <a:ext cx="0" cy="256032"/>
          </a:xfrm>
          <a:prstGeom prst="line">
            <a:avLst/>
          </a:prstGeom>
          <a:noFill/>
          <a:ln w="19050">
            <a:solidFill>
              <a:srgbClr val="8A9BB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Shape 30"/>
          <p:cNvSpPr/>
          <p:nvPr/>
        </p:nvSpPr>
        <p:spPr>
          <a:xfrm>
            <a:off x="365760" y="3730752"/>
            <a:ext cx="3657600" cy="384048"/>
          </a:xfrm>
          <a:prstGeom prst="roundRect">
            <a:avLst>
              <a:gd name="adj" fmla="val 19048"/>
            </a:avLst>
          </a:prstGeom>
          <a:solidFill>
            <a:srgbClr val="02809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3" name="Text 31"/>
          <p:cNvSpPr/>
          <p:nvPr/>
        </p:nvSpPr>
        <p:spPr>
          <a:xfrm>
            <a:off x="365760" y="3730752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PipeDelimitedIntermediateEvents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4572000" y="3730752"/>
            <a:ext cx="3840480" cy="384048"/>
          </a:xfrm>
          <a:prstGeom prst="roundRect">
            <a:avLst>
              <a:gd name="adj" fmla="val 19048"/>
            </a:avLst>
          </a:prstGeom>
          <a:solidFill>
            <a:srgbClr val="02809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5" name="Text 33"/>
          <p:cNvSpPr/>
          <p:nvPr/>
        </p:nvSpPr>
        <p:spPr>
          <a:xfrm>
            <a:off x="4572000" y="3730752"/>
            <a:ext cx="3840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PipeDelimitedIntermediateOccurrences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2194560" y="4114800"/>
            <a:ext cx="0" cy="256032"/>
          </a:xfrm>
          <a:prstGeom prst="line">
            <a:avLst/>
          </a:prstGeom>
          <a:noFill/>
          <a:ln w="19050">
            <a:solidFill>
              <a:srgbClr val="02C39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" name="Shape 35"/>
          <p:cNvSpPr/>
          <p:nvPr/>
        </p:nvSpPr>
        <p:spPr>
          <a:xfrm>
            <a:off x="6400800" y="4114800"/>
            <a:ext cx="0" cy="256032"/>
          </a:xfrm>
          <a:prstGeom prst="line">
            <a:avLst/>
          </a:prstGeom>
          <a:noFill/>
          <a:ln w="19050">
            <a:solidFill>
              <a:srgbClr val="02C39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" name="Shape 36"/>
          <p:cNvSpPr/>
          <p:nvPr/>
        </p:nvSpPr>
        <p:spPr>
          <a:xfrm>
            <a:off x="365760" y="4370832"/>
            <a:ext cx="2560320" cy="384048"/>
          </a:xfrm>
          <a:prstGeom prst="roundRect">
            <a:avLst>
              <a:gd name="adj" fmla="val 19048"/>
            </a:avLst>
          </a:prstGeom>
          <a:solidFill>
            <a:srgbClr val="02C39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9" name="Text 37"/>
          <p:cNvSpPr/>
          <p:nvPr/>
        </p:nvSpPr>
        <p:spPr>
          <a:xfrm>
            <a:off x="365760" y="4370832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D2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StackedEventsPlotter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3017520" y="4370832"/>
            <a:ext cx="2468880" cy="384048"/>
          </a:xfrm>
          <a:prstGeom prst="roundRect">
            <a:avLst>
              <a:gd name="adj" fmla="val 19048"/>
            </a:avLst>
          </a:prstGeom>
          <a:solidFill>
            <a:srgbClr val="02C39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1" name="Text 39"/>
          <p:cNvSpPr/>
          <p:nvPr/>
        </p:nvSpPr>
        <p:spPr>
          <a:xfrm>
            <a:off x="3017520" y="4370832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D2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ActivityOverTimePlotter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5577840" y="4370832"/>
            <a:ext cx="2926080" cy="384048"/>
          </a:xfrm>
          <a:prstGeom prst="roundRect">
            <a:avLst>
              <a:gd name="adj" fmla="val 19048"/>
            </a:avLst>
          </a:prstGeom>
          <a:solidFill>
            <a:srgbClr val="02C39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3" name="Text 41"/>
          <p:cNvSpPr/>
          <p:nvPr/>
        </p:nvSpPr>
        <p:spPr>
          <a:xfrm>
            <a:off x="5577840" y="4370832"/>
            <a:ext cx="2926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D2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EventAnalysisHistogramPlotter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0D2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Pipe-Delimited Intermediate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886968"/>
            <a:ext cx="8229600" cy="36576"/>
          </a:xfrm>
          <a:prstGeom prst="rect">
            <a:avLst/>
          </a:prstGeom>
          <a:solidFill>
            <a:srgbClr val="02809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365760" y="1051560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8A9B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row per entity. Columns follow strict naming conventions.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365760" y="1417320"/>
            <a:ext cx="4937760" cy="475488"/>
          </a:xfrm>
          <a:prstGeom prst="rect">
            <a:avLst/>
          </a:prstGeom>
          <a:solidFill>
            <a:srgbClr val="0D2B4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457200" y="1453896"/>
            <a:ext cx="2926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entity_id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1664208"/>
            <a:ext cx="4754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Required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65760" y="2011680"/>
            <a:ext cx="4937760" cy="475488"/>
          </a:xfrm>
          <a:prstGeom prst="rect">
            <a:avLst/>
          </a:prstGeom>
          <a:solidFill>
            <a:srgbClr val="02809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457200" y="2048256"/>
            <a:ext cx="2926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span_start / span_end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57200" y="2258568"/>
            <a:ext cx="4754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Optional pair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65760" y="2606040"/>
            <a:ext cx="4937760" cy="475488"/>
          </a:xfrm>
          <a:prstGeom prst="rect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457200" y="2642616"/>
            <a:ext cx="2926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event_starts / event_ends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57200" y="2852928"/>
            <a:ext cx="4754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Optional pair (pipe-delimited)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365760" y="3200400"/>
            <a:ext cx="4937760" cy="475488"/>
          </a:xfrm>
          <a:prstGeom prst="rect">
            <a:avLst/>
          </a:prstGeom>
          <a:solidFill>
            <a:srgbClr val="00A89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457200" y="3236976"/>
            <a:ext cx="2926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occ_{identity}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57200" y="3447288"/>
            <a:ext cx="4754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column per occurrence type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577840" y="1051560"/>
            <a:ext cx="3200400" cy="320040"/>
          </a:xfrm>
          <a:prstGeom prst="rect">
            <a:avLst/>
          </a:prstGeom>
          <a:solidFill>
            <a:srgbClr val="0D2B4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5577840" y="10515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 row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577840" y="1417320"/>
            <a:ext cx="3200400" cy="438912"/>
          </a:xfrm>
          <a:prstGeom prst="rect">
            <a:avLst/>
          </a:prstGeom>
          <a:solidFill>
            <a:srgbClr val="FFFFFF"/>
          </a:solidFill>
          <a:ln w="19050">
            <a:solidFill>
              <a:srgbClr val="E8EFF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5623560" y="1453896"/>
            <a:ext cx="1371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02809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entity_id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7040880" y="1453896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A2E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M001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5577840" y="1892808"/>
            <a:ext cx="3200400" cy="438912"/>
          </a:xfrm>
          <a:prstGeom prst="rect">
            <a:avLst/>
          </a:prstGeom>
          <a:solidFill>
            <a:srgbClr val="E8EFF5"/>
          </a:solidFill>
          <a:ln w="19050">
            <a:solidFill>
              <a:srgbClr val="E8EFF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5623560" y="1929384"/>
            <a:ext cx="1371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02809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span_start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7040880" y="1929384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A2E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2024-01-01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5577840" y="2368296"/>
            <a:ext cx="3200400" cy="438912"/>
          </a:xfrm>
          <a:prstGeom prst="rect">
            <a:avLst/>
          </a:prstGeom>
          <a:solidFill>
            <a:srgbClr val="FFFFFF"/>
          </a:solidFill>
          <a:ln w="19050">
            <a:solidFill>
              <a:srgbClr val="E8EFF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5623560" y="2404872"/>
            <a:ext cx="1371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02809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span_end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7040880" y="2404872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A2E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2024-12-31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5577840" y="2843784"/>
            <a:ext cx="3200400" cy="438912"/>
          </a:xfrm>
          <a:prstGeom prst="rect">
            <a:avLst/>
          </a:prstGeom>
          <a:solidFill>
            <a:srgbClr val="E8EFF5"/>
          </a:solidFill>
          <a:ln w="19050">
            <a:solidFill>
              <a:srgbClr val="E8EFF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5623560" y="2880360"/>
            <a:ext cx="1371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02809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event_starts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7040880" y="2880360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A2E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2024-03-01 | 2024-07-01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5577840" y="3319272"/>
            <a:ext cx="3200400" cy="438912"/>
          </a:xfrm>
          <a:prstGeom prst="rect">
            <a:avLst/>
          </a:prstGeom>
          <a:solidFill>
            <a:srgbClr val="FFFFFF"/>
          </a:solidFill>
          <a:ln w="19050">
            <a:solidFill>
              <a:srgbClr val="E8EFF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Text 30"/>
          <p:cNvSpPr/>
          <p:nvPr/>
        </p:nvSpPr>
        <p:spPr>
          <a:xfrm>
            <a:off x="5623560" y="3355848"/>
            <a:ext cx="1371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02809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event_ends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7040880" y="335584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A2E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2024-05-31 | 2024-10-01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5577840" y="3794760"/>
            <a:ext cx="3200400" cy="438912"/>
          </a:xfrm>
          <a:prstGeom prst="rect">
            <a:avLst/>
          </a:prstGeom>
          <a:solidFill>
            <a:srgbClr val="E8EFF5"/>
          </a:solidFill>
          <a:ln w="19050">
            <a:solidFill>
              <a:srgbClr val="E8EFF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Text 33"/>
          <p:cNvSpPr/>
          <p:nvPr/>
        </p:nvSpPr>
        <p:spPr>
          <a:xfrm>
            <a:off x="5623560" y="3831336"/>
            <a:ext cx="1371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02809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active_days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7040880" y="3831336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A2E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214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5577840" y="4270248"/>
            <a:ext cx="3200400" cy="438912"/>
          </a:xfrm>
          <a:prstGeom prst="rect">
            <a:avLst/>
          </a:prstGeom>
          <a:solidFill>
            <a:srgbClr val="FFFFFF"/>
          </a:solidFill>
          <a:ln w="19050">
            <a:solidFill>
              <a:srgbClr val="E8EFF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" name="Text 36"/>
          <p:cNvSpPr/>
          <p:nvPr/>
        </p:nvSpPr>
        <p:spPr>
          <a:xfrm>
            <a:off x="5623560" y="4306824"/>
            <a:ext cx="1371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02809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occ_hepb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7040880" y="4306824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A2E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2024-04-15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365760" y="4663440"/>
            <a:ext cx="8412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combine() merges intermediates for joint visualization →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>
                <a:solidFill>
                  <a:srgbClr val="0D2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eventi </a:t>
            </a:r>
            <a:r>
              <a:rPr lang="en-US" sz="3200" b="1" dirty="0">
                <a:solidFill>
                  <a:srgbClr val="0D2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a Framework, Not Just a Package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886968"/>
            <a:ext cx="8229600" cy="36576"/>
          </a:xfrm>
          <a:prstGeom prst="rect">
            <a:avLst/>
          </a:prstGeom>
          <a:solidFill>
            <a:srgbClr val="02809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365760" y="100584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i="1">
                <a:solidFill>
                  <a:srgbClr val="8A9B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eventi </a:t>
            </a:r>
            <a:r>
              <a:rPr lang="en-US" sz="1400" i="1" dirty="0">
                <a:solidFill>
                  <a:srgbClr val="8A9B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organizes and connects existing analytical tools rather than duplicating them.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365760" y="1463040"/>
            <a:ext cx="1645920" cy="475488"/>
          </a:xfrm>
          <a:prstGeom prst="rect">
            <a:avLst/>
          </a:prstGeom>
          <a:solidFill>
            <a:srgbClr val="0D2B4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365760" y="1463040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lifelines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2057400" y="1700784"/>
            <a:ext cx="365760" cy="0"/>
          </a:xfrm>
          <a:prstGeom prst="line">
            <a:avLst/>
          </a:prstGeom>
          <a:noFill/>
          <a:ln w="254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2468880" y="1481328"/>
            <a:ext cx="4114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2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Survival analysis outputs map onto span-event structure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2468880" y="1709928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PipeDelimitedIntermediateEvents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65760" y="2240280"/>
            <a:ext cx="1645920" cy="475488"/>
          </a:xfrm>
          <a:prstGeom prst="rect">
            <a:avLst/>
          </a:prstGeom>
          <a:solidFill>
            <a:srgbClr val="0D2B4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365760" y="2240280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tick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2057400" y="2478024"/>
            <a:ext cx="365760" cy="0"/>
          </a:xfrm>
          <a:prstGeom prst="line">
            <a:avLst/>
          </a:prstGeom>
          <a:noFill/>
          <a:ln w="254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2468880" y="2258568"/>
            <a:ext cx="4114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2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Hawkes process models fit on occurrence inter-event times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2468880" y="2487168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PipeDelimitedIntermediateOccurrences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65760" y="3017520"/>
            <a:ext cx="1645920" cy="475488"/>
          </a:xfrm>
          <a:prstGeom prst="rect">
            <a:avLst/>
          </a:prstGeom>
          <a:solidFill>
            <a:srgbClr val="0D2B4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365760" y="3017520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scikit-learn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2057400" y="3255264"/>
            <a:ext cx="365760" cy="0"/>
          </a:xfrm>
          <a:prstGeom prst="line">
            <a:avLst/>
          </a:prstGeom>
          <a:noFill/>
          <a:ln w="254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2468880" y="3035808"/>
            <a:ext cx="4114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2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matrices built from intermediate columns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2468880" y="3264408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Any ML pipeline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365760" y="3794760"/>
            <a:ext cx="1645920" cy="475488"/>
          </a:xfrm>
          <a:prstGeom prst="rect">
            <a:avLst/>
          </a:prstGeom>
          <a:solidFill>
            <a:srgbClr val="0D2B4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365760" y="3794760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statsmodels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2057400" y="4032504"/>
            <a:ext cx="365760" cy="0"/>
          </a:xfrm>
          <a:prstGeom prst="line">
            <a:avLst/>
          </a:prstGeom>
          <a:noFill/>
          <a:ln w="254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2468880" y="3813048"/>
            <a:ext cx="4114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2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Regression on active_days, gap statistics, density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2468880" y="4041648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Any analyzer output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365760" y="4572000"/>
            <a:ext cx="8412480" cy="384048"/>
          </a:xfrm>
          <a:prstGeom prst="rect">
            <a:avLst/>
          </a:prstGeom>
          <a:solidFill>
            <a:srgbClr val="02809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457200" y="4572000"/>
            <a:ext cx="8229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analyzer producing a PipeDelimitedIntermediate-compliant DataFrame participates in </a:t>
            </a:r>
            <a:r>
              <a:rPr lang="en-US" sz="1200" i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eventi </a:t>
            </a:r>
            <a:r>
              <a:rPr lang="en-US" sz="12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pipeline.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D2B4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Structured APIs and LLMs are Complementary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886968"/>
            <a:ext cx="8229600" cy="36576"/>
          </a:xfrm>
          <a:prstGeom prst="rect">
            <a:avLst/>
          </a:prstGeom>
          <a:solidFill>
            <a:srgbClr val="02809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365760" y="1005840"/>
            <a:ext cx="3840480" cy="3474720"/>
          </a:xfrm>
          <a:prstGeom prst="rect">
            <a:avLst/>
          </a:prstGeom>
          <a:solidFill>
            <a:srgbClr val="1A1A2E"/>
          </a:solidFill>
          <a:ln w="19050">
            <a:solidFill>
              <a:srgbClr val="8A9BB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365760" y="1005840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>
                <a:solidFill>
                  <a:srgbClr val="8A9B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 eventi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02920" y="1508760"/>
            <a:ext cx="356616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8A9B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df['cov'] = (df['end'] - df['start']).dt.days
mask = df['cov'] &gt; 0
df2 = df[mask].groupby('id')...
# LLM must reverse-engineer intent
# from 200 lines of mutations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365760" y="4251960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  Hard to reason about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343400" y="2651760"/>
            <a:ext cx="548640" cy="0"/>
          </a:xfrm>
          <a:prstGeom prst="line">
            <a:avLst/>
          </a:prstGeom>
          <a:noFill/>
          <a:ln w="254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4983480" y="1005840"/>
            <a:ext cx="3840480" cy="3474720"/>
          </a:xfrm>
          <a:prstGeom prst="rect">
            <a:avLst/>
          </a:prstGeom>
          <a:solidFill>
            <a:srgbClr val="0D3040"/>
          </a:solidFill>
          <a:ln w="1905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4983480" y="1005840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eventi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5120640" y="1508760"/>
            <a:ext cx="356616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events = Events(df, sem)
result = analyzer
  .calc_active_vs_inactive()
# LLM reasons at object level:
# which class? which analyzer?
# which intermediate?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983480" y="4114800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200" b="1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Readable concepts</a:t>
            </a:r>
            <a:endParaRPr lang="en-US" sz="1200"/>
          </a:p>
          <a:p>
            <a:pPr marL="0" indent="0" algn="ctr">
              <a:buNone/>
            </a:pPr>
            <a:r>
              <a:rPr lang="en-US" sz="1200" b="1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r>
              <a:rPr lang="en-US" sz="12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Navigable by LLMs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365760" y="466344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i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"Packages provide the infrastructure. LLMs navigate it."</a:t>
            </a:r>
            <a:endParaRPr lang="en-US" sz="14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0D2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Pipeline to Insight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886968"/>
            <a:ext cx="8229600" cy="36576"/>
          </a:xfrm>
          <a:prstGeom prst="rect">
            <a:avLst/>
          </a:prstGeom>
          <a:solidFill>
            <a:srgbClr val="02809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365760" y="1051560"/>
            <a:ext cx="4023360" cy="1783080"/>
          </a:xfrm>
          <a:prstGeom prst="rect">
            <a:avLst/>
          </a:prstGeom>
          <a:solidFill>
            <a:srgbClr val="FFFFFF"/>
          </a:solidFill>
          <a:ln w="19050">
            <a:solidFill>
              <a:srgbClr val="E8EFF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365760" y="1051560"/>
            <a:ext cx="4023360" cy="320040"/>
          </a:xfrm>
          <a:prstGeom prst="rect">
            <a:avLst/>
          </a:prstGeom>
          <a:solidFill>
            <a:srgbClr val="02809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457200" y="1088136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Stacked Events Bar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1435608"/>
            <a:ext cx="38404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1A2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bar per entity. Active (green), inactive (gray), gaps (red). Occurrence markers overlaid as lines or circles.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754880" y="1051560"/>
            <a:ext cx="4023360" cy="1783080"/>
          </a:xfrm>
          <a:prstGeom prst="rect">
            <a:avLst/>
          </a:prstGeom>
          <a:solidFill>
            <a:srgbClr val="FFFFFF"/>
          </a:solidFill>
          <a:ln w="19050">
            <a:solidFill>
              <a:srgbClr val="E8EFF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4754880" y="1051560"/>
            <a:ext cx="4023360" cy="320040"/>
          </a:xfrm>
          <a:prstGeom prst="rect">
            <a:avLst/>
          </a:prstGeom>
          <a:solidFill>
            <a:srgbClr val="02809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4846320" y="1088136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Activity Over Time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846320" y="1435608"/>
            <a:ext cx="38404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1A2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Fraction of entities active at each relative day from span start. Up/down arrows show entries and exits.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65760" y="3017520"/>
            <a:ext cx="4023360" cy="1783080"/>
          </a:xfrm>
          <a:prstGeom prst="rect">
            <a:avLst/>
          </a:prstGeom>
          <a:solidFill>
            <a:srgbClr val="FFFFFF"/>
          </a:solidFill>
          <a:ln w="19050">
            <a:solidFill>
              <a:srgbClr val="E8EFF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365760" y="3017520"/>
            <a:ext cx="4023360" cy="320040"/>
          </a:xfrm>
          <a:prstGeom prst="rect">
            <a:avLst/>
          </a:prstGeom>
          <a:solidFill>
            <a:srgbClr val="0D2B4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457200" y="3054096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Active Days Histogram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3401568"/>
            <a:ext cx="38404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1A2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Distribution of active days across entities. Percentile lines at p25/p50/p75.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754880" y="3017520"/>
            <a:ext cx="4023360" cy="1783080"/>
          </a:xfrm>
          <a:prstGeom prst="rect">
            <a:avLst/>
          </a:prstGeom>
          <a:solidFill>
            <a:srgbClr val="FFFFFF"/>
          </a:solidFill>
          <a:ln w="19050">
            <a:solidFill>
              <a:srgbClr val="E8EFF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4754880" y="3017520"/>
            <a:ext cx="4023360" cy="320040"/>
          </a:xfrm>
          <a:prstGeom prst="rect">
            <a:avLst/>
          </a:prstGeom>
          <a:solidFill>
            <a:srgbClr val="0D2B4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4846320" y="3054096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Inactive Days Violin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4846320" y="3401568"/>
            <a:ext cx="38404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1A2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Before/After/Middle/Total inactive days compared side by side. Width scaled by n.</a:t>
            </a:r>
            <a:endParaRPr lang="en-US" sz="11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D2B4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What's Next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886968"/>
            <a:ext cx="8229600" cy="36576"/>
          </a:xfrm>
          <a:prstGeom prst="rect">
            <a:avLst/>
          </a:prstGeom>
          <a:solidFill>
            <a:srgbClr val="02809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02C39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274320" y="1051560"/>
            <a:ext cx="411480" cy="411480"/>
          </a:xfrm>
          <a:prstGeom prst="ellipse">
            <a:avLst/>
          </a:prstGeom>
          <a:solidFill>
            <a:srgbClr val="02809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274320" y="10515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22960" y="1033272"/>
            <a:ext cx="7955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OccurrencesWithinEventsAnalyzer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822960" y="1280160"/>
            <a:ext cx="7955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8A9B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 the occurrence fall within an active event? Which one?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274320" y="1801368"/>
            <a:ext cx="411480" cy="411480"/>
          </a:xfrm>
          <a:prstGeom prst="ellipse">
            <a:avLst/>
          </a:prstGeom>
          <a:solidFill>
            <a:srgbClr val="02809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274320" y="1801368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822960" y="1783080"/>
            <a:ext cx="7955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CrossOccurrenceAnalyzer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822960" y="2029968"/>
            <a:ext cx="7955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8A9B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between MMR and HepB — sequence, co-occurrence, lag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2551176"/>
            <a:ext cx="411480" cy="411480"/>
          </a:xfrm>
          <a:prstGeom prst="ellipse">
            <a:avLst/>
          </a:prstGeom>
          <a:solidFill>
            <a:srgbClr val="02809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274320" y="2551176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22960" y="2532888"/>
            <a:ext cx="7955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OccurrencesPlotter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822960" y="2779776"/>
            <a:ext cx="7955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8A9B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Dedicated visualizations for occurrence distributions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274320" y="3300984"/>
            <a:ext cx="411480" cy="411480"/>
          </a:xfrm>
          <a:prstGeom prst="ellipse">
            <a:avLst/>
          </a:prstGeom>
          <a:solidFill>
            <a:srgbClr val="02809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274320" y="3300984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822960" y="3282696"/>
            <a:ext cx="7955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Hawkes Process Integration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822960" y="3529584"/>
            <a:ext cx="7955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8A9B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Self-exciting point process modeling via tick or PoissonProcesses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274320" y="4050792"/>
            <a:ext cx="411480" cy="411480"/>
          </a:xfrm>
          <a:prstGeom prst="ellipse">
            <a:avLst/>
          </a:prstGeom>
          <a:solidFill>
            <a:srgbClr val="02809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274320" y="405079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822960" y="4032504"/>
            <a:ext cx="7955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 </a:t>
            </a:r>
            <a:r>
              <a:rPr lang="en-US" sz="1300" b="1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 eventi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822960" y="4279392"/>
            <a:ext cx="7955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8A9B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__init__.py, pyproject.toml, pytest suite, PyPI release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2736</TotalTime>
  <Words>1431</Words>
  <Application>Microsoft Office PowerPoint</Application>
  <PresentationFormat>On-screen Show (16:9)</PresentationFormat>
  <Paragraphs>229</Paragraphs>
  <Slides>17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4" baseType="lpstr">
      <vt:lpstr>Abadi</vt:lpstr>
      <vt:lpstr>Arial</vt:lpstr>
      <vt:lpstr>Calibri</vt:lpstr>
      <vt:lpstr>Centaur</vt:lpstr>
      <vt:lpstr>Consolas</vt:lpstr>
      <vt:lpstr>Times New Roman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eventus: Architecture</dc:title>
  <dc:subject>PptxGenJS Presentation</dc:subject>
  <dc:creator>PptxGenJS</dc:creator>
  <cp:lastModifiedBy>Daniel Arenas</cp:lastModifiedBy>
  <cp:revision>11</cp:revision>
  <dcterms:created xsi:type="dcterms:W3CDTF">2026-04-01T00:19:55Z</dcterms:created>
  <dcterms:modified xsi:type="dcterms:W3CDTF">2026-04-09T13:13:58Z</dcterms:modified>
</cp:coreProperties>
</file>