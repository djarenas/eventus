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70" r:id="rId2"/>
    <p:sldId id="290" r:id="rId3"/>
    <p:sldId id="271" r:id="rId4"/>
    <p:sldId id="289" r:id="rId5"/>
    <p:sldId id="268" r:id="rId6"/>
    <p:sldId id="291" r:id="rId7"/>
    <p:sldId id="288" r:id="rId8"/>
    <p:sldId id="274" r:id="rId9"/>
    <p:sldId id="292" r:id="rId10"/>
    <p:sldId id="293" r:id="rId11"/>
    <p:sldId id="296" r:id="rId12"/>
    <p:sldId id="294" r:id="rId13"/>
    <p:sldId id="295" r:id="rId14"/>
    <p:sldId id="276" r:id="rId15"/>
    <p:sldId id="302" r:id="rId16"/>
    <p:sldId id="278" r:id="rId17"/>
    <p:sldId id="297" r:id="rId18"/>
    <p:sldId id="300" r:id="rId19"/>
    <p:sldId id="301" r:id="rId20"/>
    <p:sldId id="298" r:id="rId21"/>
    <p:sldId id="299" r:id="rId22"/>
    <p:sldId id="279" r:id="rId23"/>
    <p:sldId id="286" r:id="rId24"/>
    <p:sldId id="280" r:id="rId25"/>
    <p:sldId id="281" r:id="rId26"/>
    <p:sldId id="265" r:id="rId27"/>
    <p:sldId id="267" r:id="rId28"/>
    <p:sldId id="269" r:id="rId29"/>
    <p:sldId id="266" r:id="rId30"/>
    <p:sldId id="273" r:id="rId31"/>
    <p:sldId id="287" r:id="rId32"/>
    <p:sldId id="282" r:id="rId33"/>
    <p:sldId id="283" r:id="rId34"/>
    <p:sldId id="284" r:id="rId35"/>
    <p:sldId id="285" r:id="rId36"/>
    <p:sldId id="256" r:id="rId37"/>
    <p:sldId id="257" r:id="rId38"/>
    <p:sldId id="258" r:id="rId39"/>
    <p:sldId id="259" r:id="rId40"/>
    <p:sldId id="260" r:id="rId41"/>
    <p:sldId id="261" r:id="rId42"/>
    <p:sldId id="262" r:id="rId43"/>
    <p:sldId id="263" r:id="rId44"/>
    <p:sldId id="264" r:id="rId4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11T23:27:25.084"/>
    </inkml:context>
    <inkml:brush xml:id="br0">
      <inkml:brushProperty name="width" value="0.035" units="cm"/>
      <inkml:brushProperty name="height" value="0.035" units="cm"/>
      <inkml:brushProperty name="color" value="#004F8B"/>
    </inkml:brush>
  </inkml:definitions>
  <inkml:trace contextRef="#ctx0" brushRef="#br0">1 136 24575,'1243'0'-2797,"-1076"0"2118,938-5-2620,-4-30 2540,-712 12-709,-81 3 1101,271-22 2665,-456 33 1950,-119 8-3970,0 1-1,0-1 0,0 1 0,0 0 1,0 1-1,0-1 0,0 1 1,0 0-1,7 2 0,-10-3-272,0 1-1,0-1 0,-1 1 1,1-1-1,0 1 0,-1 0 0,1-1 1,0 1-1,-1 0 0,1 0 1,-1-1-1,1 1 0,-1 0 1,1 0-1,-1 0 0,0 0 1,1-1-1,-1 3 0,1-1-7,-1 1 0,0-1 0,0 0 0,0 1-1,0-1 1,-1 1 0,1-1 0,-1 1-1,-1 3 1,-3 9 3,-1-1 0,0 0 0,-1 0 0,0-1 0,-13 16 0,-53 61 0,69-85 0,-361 367-383,-32-32 0,91-109 383,290-219 0,8-5 0,0-1 0,0 0 0,-1 0 0,1-1 0,-1 0 0,-1-1 0,1 0 0,-17 5 0,24-9-73,0 0 0,1 0 1,-1 0-1,0 0 0,0 0 0,1 0 0,-1 0 1,0-1-1,0 1 0,1-1 0,-1 1 0,0-1 1,1 0-1,-1 1 0,0-1 0,-1-1 0,-16-20-6114</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11T23:27:26.205"/>
    </inkml:context>
    <inkml:brush xml:id="br0">
      <inkml:brushProperty name="width" value="0.035" units="cm"/>
      <inkml:brushProperty name="height" value="0.035" units="cm"/>
      <inkml:brushProperty name="color" value="#004F8B"/>
    </inkml:brush>
  </inkml:definitions>
  <inkml:trace contextRef="#ctx0" brushRef="#br0">2130 1804 24575,'-4'-7'0,"-21"-19"0,-36-27 0,-47-32 0,-43-29 0,-43-33 0,-38-34-2783,-18-25 2783,-6-16 0,10 3 0,32 27 0,44 34 0,40 41 658,42 40-6724</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06208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customXml" Target="../ink/ink1.xml"/><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customXml" Target="../ink/ink3.xml"/><Relationship Id="rId1" Type="http://schemas.openxmlformats.org/officeDocument/2006/relationships/slideLayout" Target="../slideLayouts/slideLayout1.xml"/><Relationship Id="rId23" Type="http://schemas.openxmlformats.org/officeDocument/2006/relationships/image" Target="../media/image110.png"/></Relationships>
</file>

<file path=ppt/slides/_rels/slide6.xml.rels><?xml version="1.0" encoding="UTF-8" standalone="yes"?>
<Relationships xmlns="http://schemas.openxmlformats.org/package/2006/relationships"><Relationship Id="rId26" Type="http://schemas.openxmlformats.org/officeDocument/2006/relationships/image" Target="../media/image10.png"/><Relationship Id="rId25" Type="http://schemas.openxmlformats.org/officeDocument/2006/relationships/image" Target="../media/image9.png"/><Relationship Id="rId2" Type="http://schemas.openxmlformats.org/officeDocument/2006/relationships/customXml" Target="../ink/ink4.xml"/><Relationship Id="rId1" Type="http://schemas.openxmlformats.org/officeDocument/2006/relationships/slideLayout" Target="../slideLayouts/slideLayout1.xml"/><Relationship Id="rId24" Type="http://schemas.openxmlformats.org/officeDocument/2006/relationships/image" Target="../media/image8.png"/><Relationship Id="rId23" Type="http://schemas.openxmlformats.org/officeDocument/2006/relationships/image" Target="../media/image110.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jp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5" Type="http://schemas.openxmlformats.org/officeDocument/2006/relationships/image" Target="../media/image24.png"/><Relationship Id="rId2" Type="http://schemas.openxmlformats.org/officeDocument/2006/relationships/customXml" Target="../ink/ink5.xml"/><Relationship Id="rId1" Type="http://schemas.openxmlformats.org/officeDocument/2006/relationships/slideLayout" Target="../slideLayouts/slideLayout1.xml"/><Relationship Id="rId24" Type="http://schemas.openxmlformats.org/officeDocument/2006/relationships/image" Target="../media/image23.png"/><Relationship Id="rId23" Type="http://schemas.openxmlformats.org/officeDocument/2006/relationships/image" Target="../media/image110.png"/></Relationships>
</file>

<file path=ppt/slides/_rels/slide28.xml.rels><?xml version="1.0" encoding="UTF-8" standalone="yes"?>
<Relationships xmlns="http://schemas.openxmlformats.org/package/2006/relationships"><Relationship Id="rId25" Type="http://schemas.openxmlformats.org/officeDocument/2006/relationships/image" Target="../media/image26.png"/><Relationship Id="rId2" Type="http://schemas.openxmlformats.org/officeDocument/2006/relationships/customXml" Target="../ink/ink6.xml"/><Relationship Id="rId1" Type="http://schemas.openxmlformats.org/officeDocument/2006/relationships/slideLayout" Target="../slideLayouts/slideLayout1.xml"/><Relationship Id="rId24" Type="http://schemas.openxmlformats.org/officeDocument/2006/relationships/image" Target="../media/image25.png"/><Relationship Id="rId23" Type="http://schemas.openxmlformats.org/officeDocument/2006/relationships/image" Target="../media/image110.png"/></Relationships>
</file>

<file path=ppt/slides/_rels/slide29.xml.rels><?xml version="1.0" encoding="UTF-8" standalone="yes"?>
<Relationships xmlns="http://schemas.openxmlformats.org/package/2006/relationships"><Relationship Id="rId2" Type="http://schemas.openxmlformats.org/officeDocument/2006/relationships/customXml" Target="../ink/ink7.xml"/><Relationship Id="rId1" Type="http://schemas.openxmlformats.org/officeDocument/2006/relationships/slideLayout" Target="../slideLayouts/slideLayout1.xml"/><Relationship Id="rId23" Type="http://schemas.openxmlformats.org/officeDocument/2006/relationships/image" Target="../media/image1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A12EBA4-376B-A76C-11E3-2B5886C35E2A}"/>
              </a:ext>
            </a:extLst>
          </p:cNvPr>
          <p:cNvSpPr txBox="1"/>
          <p:nvPr/>
        </p:nvSpPr>
        <p:spPr>
          <a:xfrm>
            <a:off x="53340" y="114300"/>
            <a:ext cx="8831580" cy="5478423"/>
          </a:xfrm>
          <a:prstGeom prst="rect">
            <a:avLst/>
          </a:prstGeom>
          <a:noFill/>
        </p:spPr>
        <p:txBody>
          <a:bodyPr wrap="square" rtlCol="0">
            <a:spAutoFit/>
          </a:bodyPr>
          <a:lstStyle/>
          <a:p>
            <a:r>
              <a:rPr lang="en-US" sz="1400" b="1"/>
              <a:t>Vignette # 1:</a:t>
            </a:r>
          </a:p>
          <a:p>
            <a:r>
              <a:rPr lang="en-US" sz="1400"/>
              <a:t>You are a clinical researcher studying the relationship between inpatient hospitalizations and subsequent emergency department visits in a Medicaid population. Your institution's data warehouse gives you a hospitalization file — one row per claim, not one row per visit. </a:t>
            </a:r>
          </a:p>
          <a:p>
            <a:r>
              <a:rPr lang="en-US" sz="1400"/>
              <a:t>Before you can ask any scientific question, you need to answer a more mundane one:"Do I actually know how many times each patient was hospitalized?"This sounds simple. It is not.</a:t>
            </a:r>
          </a:p>
          <a:p>
            <a:endParaRPr lang="en-US" sz="1400"/>
          </a:p>
          <a:p>
            <a:r>
              <a:rPr lang="en-US" sz="1400" b="1"/>
              <a:t>Problem 1 — Duplicate claims:</a:t>
            </a:r>
            <a:r>
              <a:rPr lang="en-US" sz="1400"/>
              <a:t> A single 5-day hospitalization generates multiple rows — one per billing day, or one per diagnosis code, or one per provider. You have 47,000 rows but far fewer actual visits.</a:t>
            </a:r>
          </a:p>
          <a:p>
            <a:endParaRPr lang="en-US" sz="1400"/>
          </a:p>
          <a:p>
            <a:r>
              <a:rPr lang="en-US" sz="1400" b="1"/>
              <a:t>Problem 2 — Overlapping stays:</a:t>
            </a:r>
            <a:r>
              <a:rPr lang="en-US" sz="1400"/>
              <a:t> A patient transferred between units or facilities generates two overlapping intervals. Naively counting rows double-counts this patient's hospitalization burden.</a:t>
            </a:r>
          </a:p>
          <a:p>
            <a:endParaRPr lang="en-US" sz="1400"/>
          </a:p>
          <a:p>
            <a:r>
              <a:rPr lang="en-US" sz="1400" b="1"/>
              <a:t>Problem 3 — Missing admit dates:</a:t>
            </a:r>
            <a:r>
              <a:rPr lang="en-US" sz="1400"/>
              <a:t> 3% of rows have null admit_date. Another 1% have null patient_id. These need to be removed — but you need to know how many and why, because your IRB report will ask.</a:t>
            </a:r>
          </a:p>
          <a:p>
            <a:endParaRPr lang="en-US" sz="1400"/>
          </a:p>
          <a:p>
            <a:r>
              <a:rPr lang="en-US" sz="1400" b="1"/>
              <a:t>Problem 4 — Implausible dates:</a:t>
            </a:r>
            <a:r>
              <a:rPr lang="en-US" sz="1400"/>
              <a:t> System errors produce admit dates in 1899 or 2087. A script that silently keeps these will corrupt every downstream analysis.</a:t>
            </a:r>
          </a:p>
          <a:p>
            <a:endParaRPr lang="en-US" sz="1400"/>
          </a:p>
          <a:p>
            <a:r>
              <a:rPr lang="en-US" sz="1400" b="1"/>
              <a:t>Problem 5 — Same-day readmissions vs. continuous stays:</a:t>
            </a:r>
            <a:r>
              <a:rPr lang="en-US" sz="1400"/>
              <a:t> A patient discharged on Monday and readmitted on Tuesday — is that one stay or two? The answer depends on your research question and needs to be a conscious, documented choice, not an accident of how you sorted a DataFrame.</a:t>
            </a:r>
          </a:p>
          <a:p>
            <a:endParaRPr lang="en-US" sz="1400"/>
          </a:p>
          <a:p>
            <a:endParaRPr lang="en-US" sz="1400"/>
          </a:p>
          <a:p>
            <a:endParaRPr lang="en-US" sz="1400"/>
          </a:p>
        </p:txBody>
      </p:sp>
    </p:spTree>
    <p:extLst>
      <p:ext uri="{BB962C8B-B14F-4D97-AF65-F5344CB8AC3E}">
        <p14:creationId xmlns:p14="http://schemas.microsoft.com/office/powerpoint/2010/main" val="2803616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2311B-5986-D612-FC0E-A25E4F7DF88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1DB637-2C1C-FBDB-3EF1-87BA8019556C}"/>
              </a:ext>
            </a:extLst>
          </p:cNvPr>
          <p:cNvSpPr txBox="1"/>
          <p:nvPr/>
        </p:nvSpPr>
        <p:spPr>
          <a:xfrm>
            <a:off x="53340" y="114300"/>
            <a:ext cx="8831580" cy="5478423"/>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Without Eventus: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We asked Claude to write code to clean hospitalization data with these choices: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Drop nulls on patient_id, admit_date, discharge_date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Drop implausible dates (before 1920, after 2100)</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Enforce causality (admit ≤ discharge)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Drop exact duplicates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Merge overlapping stays (gap = 0 days)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Result: </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61 total lines, 42 lines of actual code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The column name "patient_id", "admit_date", "discharge_date" appear hardcoded 33 times across the script.</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What you don't get:</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count of rows dropped at each step</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named reason per dropped row</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The gap=0 choice is a &lt;= buried inside a loop on line 40 — undocumented, not configurable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Script is single-use — rename one column in your data warehouse and it breaks in multiple placesN</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errors raised — silent failures</a:t>
            </a:r>
          </a:p>
          <a:p>
            <a:endParaRPr lang="en-US" sz="1400">
              <a:latin typeface="Times New Roman" panose="02020603050405020304" pitchFamily="18" charset="0"/>
              <a:cs typeface="Times New Roman" panose="02020603050405020304" pitchFamily="18" charset="0"/>
            </a:endParaRPr>
          </a:p>
          <a:p>
            <a:r>
              <a:rPr lang="en-US" sz="1400"/>
              <a:t>Further tweaks were added to move column names and cleaning choices to global constants at the top — refactored to ~59 lines. Still no audit trail per row, and no documented record of cleaning choices outside of a long script.z</a:t>
            </a:r>
          </a:p>
          <a:p>
            <a:r>
              <a:rPr lang="en-US" sz="1400">
                <a:latin typeface="Times New Roman" panose="02020603050405020304" pitchFamily="18" charset="0"/>
                <a:cs typeface="Times New Roman" panose="02020603050405020304" pitchFamily="18" charset="0"/>
              </a:rPr>
              <a:t>There were also no errors raised. Claude estimated that ~90 lines of code were required to add error transparency.</a:t>
            </a:r>
          </a:p>
          <a:p>
            <a:endParaRPr lang="en-US" sz="1400">
              <a:latin typeface="Times New Roman" panose="02020603050405020304" pitchFamily="18" charset="0"/>
              <a:cs typeface="Times New Roman" panose="02020603050405020304" pitchFamily="18" charset="0"/>
            </a:endParaRPr>
          </a:p>
          <a:p>
            <a:endParaRPr lang="en-US" sz="14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70741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29512E9-2C46-C149-16AE-4D78C4B73E35}"/>
              </a:ext>
            </a:extLst>
          </p:cNvPr>
          <p:cNvPicPr>
            <a:picLocks noChangeAspect="1"/>
          </p:cNvPicPr>
          <p:nvPr/>
        </p:nvPicPr>
        <p:blipFill>
          <a:blip r:embed="rId2"/>
          <a:stretch>
            <a:fillRect/>
          </a:stretch>
        </p:blipFill>
        <p:spPr>
          <a:xfrm>
            <a:off x="-1" y="329870"/>
            <a:ext cx="2637064" cy="1315962"/>
          </a:xfrm>
          <a:prstGeom prst="rect">
            <a:avLst/>
          </a:prstGeom>
        </p:spPr>
      </p:pic>
      <p:pic>
        <p:nvPicPr>
          <p:cNvPr id="11" name="Picture 10">
            <a:extLst>
              <a:ext uri="{FF2B5EF4-FFF2-40B4-BE49-F238E27FC236}">
                <a16:creationId xmlns:a16="http://schemas.microsoft.com/office/drawing/2014/main" id="{F83D7A71-2661-5823-D6DF-64FDFD3EA59F}"/>
              </a:ext>
            </a:extLst>
          </p:cNvPr>
          <p:cNvPicPr>
            <a:picLocks noChangeAspect="1"/>
          </p:cNvPicPr>
          <p:nvPr/>
        </p:nvPicPr>
        <p:blipFill>
          <a:blip r:embed="rId3"/>
          <a:stretch>
            <a:fillRect/>
          </a:stretch>
        </p:blipFill>
        <p:spPr>
          <a:xfrm>
            <a:off x="-1" y="1850589"/>
            <a:ext cx="5527221" cy="1698860"/>
          </a:xfrm>
          <a:prstGeom prst="rect">
            <a:avLst/>
          </a:prstGeom>
        </p:spPr>
      </p:pic>
      <p:pic>
        <p:nvPicPr>
          <p:cNvPr id="13" name="Picture 12">
            <a:extLst>
              <a:ext uri="{FF2B5EF4-FFF2-40B4-BE49-F238E27FC236}">
                <a16:creationId xmlns:a16="http://schemas.microsoft.com/office/drawing/2014/main" id="{BB39336D-E921-C006-D690-FA0731093839}"/>
              </a:ext>
            </a:extLst>
          </p:cNvPr>
          <p:cNvPicPr>
            <a:picLocks noChangeAspect="1"/>
          </p:cNvPicPr>
          <p:nvPr/>
        </p:nvPicPr>
        <p:blipFill>
          <a:blip r:embed="rId4"/>
          <a:stretch>
            <a:fillRect/>
          </a:stretch>
        </p:blipFill>
        <p:spPr>
          <a:xfrm>
            <a:off x="3719869" y="176261"/>
            <a:ext cx="5424130" cy="1469571"/>
          </a:xfrm>
          <a:prstGeom prst="rect">
            <a:avLst/>
          </a:prstGeom>
        </p:spPr>
      </p:pic>
      <p:pic>
        <p:nvPicPr>
          <p:cNvPr id="15" name="Picture 14">
            <a:extLst>
              <a:ext uri="{FF2B5EF4-FFF2-40B4-BE49-F238E27FC236}">
                <a16:creationId xmlns:a16="http://schemas.microsoft.com/office/drawing/2014/main" id="{B9EE501A-1F69-79DB-DEDB-CC134BBA136A}"/>
              </a:ext>
            </a:extLst>
          </p:cNvPr>
          <p:cNvPicPr>
            <a:picLocks noChangeAspect="1"/>
          </p:cNvPicPr>
          <p:nvPr/>
        </p:nvPicPr>
        <p:blipFill>
          <a:blip r:embed="rId5"/>
          <a:stretch>
            <a:fillRect/>
          </a:stretch>
        </p:blipFill>
        <p:spPr>
          <a:xfrm>
            <a:off x="5793731" y="3363686"/>
            <a:ext cx="3421228" cy="1779814"/>
          </a:xfrm>
          <a:prstGeom prst="rect">
            <a:avLst/>
          </a:prstGeom>
        </p:spPr>
      </p:pic>
      <p:grpSp>
        <p:nvGrpSpPr>
          <p:cNvPr id="18" name="Group 17">
            <a:extLst>
              <a:ext uri="{FF2B5EF4-FFF2-40B4-BE49-F238E27FC236}">
                <a16:creationId xmlns:a16="http://schemas.microsoft.com/office/drawing/2014/main" id="{959A2273-31B2-AA64-366D-58A56CA706D7}"/>
              </a:ext>
            </a:extLst>
          </p:cNvPr>
          <p:cNvGrpSpPr/>
          <p:nvPr/>
        </p:nvGrpSpPr>
        <p:grpSpPr>
          <a:xfrm>
            <a:off x="667920" y="3738728"/>
            <a:ext cx="1827000" cy="1165320"/>
            <a:chOff x="2367180" y="3448761"/>
            <a:chExt cx="1827000" cy="1165320"/>
          </a:xfrm>
        </p:grpSpPr>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0382919-651D-25F6-F799-B4D17DBACB2A}"/>
                    </a:ext>
                  </a:extLst>
                </p14:cNvPr>
                <p14:cNvContentPartPr/>
                <p14:nvPr/>
              </p14:nvContentPartPr>
              <p14:xfrm>
                <a:off x="2367180" y="4163721"/>
                <a:ext cx="1827000" cy="450360"/>
              </p14:xfrm>
            </p:contentPart>
          </mc:Choice>
          <mc:Fallback xmlns="">
            <p:pic>
              <p:nvPicPr>
                <p:cNvPr id="16" name="Ink 15">
                  <a:extLst>
                    <a:ext uri="{FF2B5EF4-FFF2-40B4-BE49-F238E27FC236}">
                      <a16:creationId xmlns:a16="http://schemas.microsoft.com/office/drawing/2014/main" id="{A0382919-651D-25F6-F799-B4D17DBACB2A}"/>
                    </a:ext>
                  </a:extLst>
                </p:cNvPr>
                <p:cNvPicPr/>
                <p:nvPr/>
              </p:nvPicPr>
              <p:blipFill>
                <a:blip r:embed="rId7"/>
                <a:stretch>
                  <a:fillRect/>
                </a:stretch>
              </p:blipFill>
              <p:spPr>
                <a:xfrm>
                  <a:off x="2361060" y="4157601"/>
                  <a:ext cx="183924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7" name="Ink 16">
                  <a:extLst>
                    <a:ext uri="{FF2B5EF4-FFF2-40B4-BE49-F238E27FC236}">
                      <a16:creationId xmlns:a16="http://schemas.microsoft.com/office/drawing/2014/main" id="{84AEC689-B2C2-29BA-7FD1-59FA0673ECC2}"/>
                    </a:ext>
                  </a:extLst>
                </p14:cNvPr>
                <p14:cNvContentPartPr/>
                <p14:nvPr/>
              </p14:nvContentPartPr>
              <p14:xfrm>
                <a:off x="3397140" y="3448761"/>
                <a:ext cx="766800" cy="649800"/>
              </p14:xfrm>
            </p:contentPart>
          </mc:Choice>
          <mc:Fallback xmlns="">
            <p:pic>
              <p:nvPicPr>
                <p:cNvPr id="17" name="Ink 16">
                  <a:extLst>
                    <a:ext uri="{FF2B5EF4-FFF2-40B4-BE49-F238E27FC236}">
                      <a16:creationId xmlns:a16="http://schemas.microsoft.com/office/drawing/2014/main" id="{84AEC689-B2C2-29BA-7FD1-59FA0673ECC2}"/>
                    </a:ext>
                  </a:extLst>
                </p:cNvPr>
                <p:cNvPicPr/>
                <p:nvPr/>
              </p:nvPicPr>
              <p:blipFill>
                <a:blip r:embed="rId9"/>
                <a:stretch>
                  <a:fillRect/>
                </a:stretch>
              </p:blipFill>
              <p:spPr>
                <a:xfrm>
                  <a:off x="3391020" y="3442641"/>
                  <a:ext cx="779040" cy="662040"/>
                </a:xfrm>
                <a:prstGeom prst="rect">
                  <a:avLst/>
                </a:prstGeom>
              </p:spPr>
            </p:pic>
          </mc:Fallback>
        </mc:AlternateContent>
      </p:grpSp>
      <p:sp>
        <p:nvSpPr>
          <p:cNvPr id="2" name="TextBox 1">
            <a:extLst>
              <a:ext uri="{FF2B5EF4-FFF2-40B4-BE49-F238E27FC236}">
                <a16:creationId xmlns:a16="http://schemas.microsoft.com/office/drawing/2014/main" id="{4DE62664-011F-EF10-A49D-5C23E9A2D768}"/>
              </a:ext>
            </a:extLst>
          </p:cNvPr>
          <p:cNvSpPr txBox="1"/>
          <p:nvPr/>
        </p:nvSpPr>
        <p:spPr>
          <a:xfrm>
            <a:off x="5978000" y="1971585"/>
            <a:ext cx="2675106" cy="1200329"/>
          </a:xfrm>
          <a:prstGeom prst="rect">
            <a:avLst/>
          </a:prstGeom>
          <a:noFill/>
        </p:spPr>
        <p:txBody>
          <a:bodyPr wrap="square" rtlCol="0">
            <a:spAutoFit/>
          </a:bodyPr>
          <a:lstStyle/>
          <a:p>
            <a:r>
              <a:rPr lang="en-US">
                <a:latin typeface="Times New Roman" panose="02020603050405020304" pitchFamily="18" charset="0"/>
                <a:cs typeface="Times New Roman" panose="02020603050405020304" pitchFamily="18" charset="0"/>
              </a:rPr>
              <a:t>Two config files: </a:t>
            </a:r>
            <a:r>
              <a:rPr lang="en-US" b="1">
                <a:latin typeface="Times New Roman" panose="02020603050405020304" pitchFamily="18" charset="0"/>
                <a:cs typeface="Times New Roman" panose="02020603050405020304" pitchFamily="18" charset="0"/>
              </a:rPr>
              <a:t>11 lines</a:t>
            </a:r>
          </a:p>
          <a:p>
            <a:r>
              <a:rPr lang="en-US" b="1" i="1">
                <a:latin typeface="Times New Roman" panose="02020603050405020304" pitchFamily="18" charset="0"/>
                <a:cs typeface="Times New Roman" panose="02020603050405020304" pitchFamily="18" charset="0"/>
              </a:rPr>
              <a:t>Easier to save and audit later</a:t>
            </a:r>
            <a:br>
              <a:rPr lang="en-US" i="1">
                <a:latin typeface="Times New Roman" panose="02020603050405020304" pitchFamily="18" charset="0"/>
                <a:cs typeface="Times New Roman" panose="02020603050405020304" pitchFamily="18" charset="0"/>
              </a:rPr>
            </a:br>
            <a:r>
              <a:rPr lang="en-US">
                <a:latin typeface="Times New Roman" panose="02020603050405020304" pitchFamily="18" charset="0"/>
                <a:cs typeface="Times New Roman" panose="02020603050405020304" pitchFamily="18" charset="0"/>
              </a:rPr>
              <a:t>Script: </a:t>
            </a:r>
            <a:r>
              <a:rPr lang="en-US" b="1">
                <a:latin typeface="Times New Roman" panose="02020603050405020304" pitchFamily="18" charset="0"/>
                <a:cs typeface="Times New Roman" panose="02020603050405020304" pitchFamily="18" charset="0"/>
              </a:rPr>
              <a:t>6 lines</a:t>
            </a:r>
          </a:p>
        </p:txBody>
      </p:sp>
      <p:sp>
        <p:nvSpPr>
          <p:cNvPr id="4" name="TextBox 3">
            <a:extLst>
              <a:ext uri="{FF2B5EF4-FFF2-40B4-BE49-F238E27FC236}">
                <a16:creationId xmlns:a16="http://schemas.microsoft.com/office/drawing/2014/main" id="{051EE5B2-29C3-370E-2006-2FDF98D812C4}"/>
              </a:ext>
            </a:extLst>
          </p:cNvPr>
          <p:cNvSpPr txBox="1"/>
          <p:nvPr/>
        </p:nvSpPr>
        <p:spPr>
          <a:xfrm>
            <a:off x="-34290" y="-8405"/>
            <a:ext cx="460629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5" name="TextBox 4">
            <a:extLst>
              <a:ext uri="{FF2B5EF4-FFF2-40B4-BE49-F238E27FC236}">
                <a16:creationId xmlns:a16="http://schemas.microsoft.com/office/drawing/2014/main" id="{7A8506D8-C064-5E75-9C13-FB31334330A2}"/>
              </a:ext>
            </a:extLst>
          </p:cNvPr>
          <p:cNvSpPr txBox="1"/>
          <p:nvPr/>
        </p:nvSpPr>
        <p:spPr>
          <a:xfrm>
            <a:off x="3154820" y="4681835"/>
            <a:ext cx="2675106" cy="461665"/>
          </a:xfrm>
          <a:prstGeom prst="rect">
            <a:avLst/>
          </a:prstGeom>
          <a:noFill/>
        </p:spPr>
        <p:txBody>
          <a:bodyPr wrap="square" rtlCol="0">
            <a:spAutoFit/>
          </a:bodyPr>
          <a:lstStyle/>
          <a:p>
            <a:r>
              <a:rPr lang="en-US" sz="1200">
                <a:latin typeface="Times New Roman" panose="02020603050405020304" pitchFamily="18" charset="0"/>
                <a:cs typeface="Times New Roman" panose="02020603050405020304" pitchFamily="18" charset="0"/>
              </a:rPr>
              <a:t>Detailed report of what was dropped or changed</a:t>
            </a:r>
          </a:p>
        </p:txBody>
      </p:sp>
    </p:spTree>
    <p:extLst>
      <p:ext uri="{BB962C8B-B14F-4D97-AF65-F5344CB8AC3E}">
        <p14:creationId xmlns:p14="http://schemas.microsoft.com/office/powerpoint/2010/main" val="16477542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7B1A3E7-2F9A-F036-0EB9-A63F6B2EC076}"/>
              </a:ext>
            </a:extLst>
          </p:cNvPr>
          <p:cNvPicPr>
            <a:picLocks noChangeAspect="1"/>
          </p:cNvPicPr>
          <p:nvPr/>
        </p:nvPicPr>
        <p:blipFill>
          <a:blip r:embed="rId2"/>
          <a:stretch>
            <a:fillRect/>
          </a:stretch>
        </p:blipFill>
        <p:spPr>
          <a:xfrm>
            <a:off x="1085671" y="1073073"/>
            <a:ext cx="6972658" cy="2997354"/>
          </a:xfrm>
          <a:prstGeom prst="rect">
            <a:avLst/>
          </a:prstGeom>
        </p:spPr>
      </p:pic>
    </p:spTree>
    <p:extLst>
      <p:ext uri="{BB962C8B-B14F-4D97-AF65-F5344CB8AC3E}">
        <p14:creationId xmlns:p14="http://schemas.microsoft.com/office/powerpoint/2010/main" val="37487362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6626E-754E-90A5-C750-75506B18273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7F21EF0-00F1-010D-BC21-4BCF4735C809}"/>
              </a:ext>
            </a:extLst>
          </p:cNvPr>
          <p:cNvSpPr txBox="1"/>
          <p:nvPr/>
        </p:nvSpPr>
        <p:spPr>
          <a:xfrm>
            <a:off x="5695406" y="0"/>
            <a:ext cx="3448594" cy="646331"/>
          </a:xfrm>
          <a:prstGeom prst="rect">
            <a:avLst/>
          </a:prstGeom>
          <a:noFill/>
          <a:ln>
            <a:solidFill>
              <a:schemeClr val="tx1"/>
            </a:solidFill>
          </a:ln>
        </p:spPr>
        <p:txBody>
          <a:bodyPr wrap="square" rtlCol="0">
            <a:spAutoFit/>
          </a:bodyPr>
          <a:lstStyle/>
          <a:p>
            <a:pPr algn="ctr"/>
            <a:r>
              <a:rPr lang="en-US"/>
              <a:t>Reproducibility: </a:t>
            </a:r>
            <a:br>
              <a:rPr lang="en-US"/>
            </a:br>
            <a:r>
              <a:rPr lang="en-US"/>
              <a:t>Configuration-friendly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934C1257-0597-70AC-ABBC-46F404245F6D}"/>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23" name="TextBox 22">
            <a:extLst>
              <a:ext uri="{FF2B5EF4-FFF2-40B4-BE49-F238E27FC236}">
                <a16:creationId xmlns:a16="http://schemas.microsoft.com/office/drawing/2014/main" id="{C30085CE-B221-AF99-8754-B7ED129D807B}"/>
              </a:ext>
            </a:extLst>
          </p:cNvPr>
          <p:cNvSpPr txBox="1"/>
          <p:nvPr/>
        </p:nvSpPr>
        <p:spPr>
          <a:xfrm>
            <a:off x="4435474" y="2787055"/>
            <a:ext cx="4572000" cy="1384995"/>
          </a:xfrm>
          <a:prstGeom prst="rect">
            <a:avLst/>
          </a:prstGeom>
          <a:noFill/>
        </p:spPr>
        <p:txBody>
          <a:bodyPr wrap="square">
            <a:spAutoFit/>
          </a:bodyPr>
          <a:lstStyle/>
          <a:p>
            <a:r>
              <a:rPr lang="en-US" sz="1200"/>
              <a:t>Why is the semantics abstraction needed:</a:t>
            </a:r>
          </a:p>
          <a:p>
            <a:r>
              <a:rPr lang="en-US" sz="1200"/>
              <a:t>A pandas DataFrame does not know what its columns mean — 'begin_date' could be a birth date, a coverage start, or a contract signing. EventSemantics is built for exactly one purpose: to hold that meaning explicitly, validate it on construction, and carry it through the entire pipeline so no downstream function ever has to guess.</a:t>
            </a:r>
          </a:p>
          <a:p>
            <a:endParaRPr lang="en-US" sz="1200"/>
          </a:p>
        </p:txBody>
      </p:sp>
      <p:sp>
        <p:nvSpPr>
          <p:cNvPr id="7" name="TextBox 6">
            <a:extLst>
              <a:ext uri="{FF2B5EF4-FFF2-40B4-BE49-F238E27FC236}">
                <a16:creationId xmlns:a16="http://schemas.microsoft.com/office/drawing/2014/main" id="{6F50E3F5-BB79-2DC0-B257-815FC6EE8DA5}"/>
              </a:ext>
            </a:extLst>
          </p:cNvPr>
          <p:cNvSpPr txBox="1"/>
          <p:nvPr/>
        </p:nvSpPr>
        <p:spPr>
          <a:xfrm>
            <a:off x="588463" y="1071548"/>
            <a:ext cx="2468881" cy="1569660"/>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EventSemantics</a:t>
            </a:r>
          </a:p>
          <a:p>
            <a:pPr algn="ctr"/>
            <a:r>
              <a:rPr lang="en-US" sz="1200">
                <a:latin typeface="Centaur" panose="02030504050205020304" pitchFamily="18" charset="0"/>
                <a:cs typeface="Times New Roman" panose="02020603050405020304" pitchFamily="18" charset="0"/>
              </a:rPr>
              <a:t>type: str</a:t>
            </a:r>
          </a:p>
          <a:p>
            <a:pPr algn="ctr"/>
            <a:r>
              <a:rPr lang="en-US" sz="1200">
                <a:latin typeface="Centaur" panose="02030504050205020304" pitchFamily="18" charset="0"/>
                <a:cs typeface="Times New Roman" panose="02020603050405020304" pitchFamily="18" charset="0"/>
              </a:rPr>
              <a:t>entity_id_col: str</a:t>
            </a:r>
          </a:p>
          <a:p>
            <a:pPr algn="ctr"/>
            <a:r>
              <a:rPr lang="en-US" sz="1200">
                <a:latin typeface="Centaur" panose="02030504050205020304" pitchFamily="18" charset="0"/>
                <a:cs typeface="Times New Roman" panose="02020603050405020304" pitchFamily="18" charset="0"/>
              </a:rPr>
              <a:t>start_time_col: str</a:t>
            </a:r>
          </a:p>
          <a:p>
            <a:pPr algn="ctr"/>
            <a:r>
              <a:rPr lang="en-US" sz="1200">
                <a:latin typeface="Centaur" panose="02030504050205020304" pitchFamily="18" charset="0"/>
                <a:cs typeface="Times New Roman" panose="02020603050405020304" pitchFamily="18" charset="0"/>
              </a:rPr>
              <a:t>end_time_col: str</a:t>
            </a:r>
            <a:br>
              <a:rPr lang="en-US" sz="1200">
                <a:latin typeface="Centaur" panose="02030504050205020304" pitchFamily="18" charset="0"/>
                <a:cs typeface="Times New Roman" panose="02020603050405020304" pitchFamily="18" charset="0"/>
              </a:rPr>
            </a:br>
            <a:r>
              <a:rPr lang="en-US" sz="1200">
                <a:latin typeface="Centaur" panose="02030504050205020304" pitchFamily="18" charset="0"/>
                <a:cs typeface="Times New Roman" panose="02020603050405020304" pitchFamily="18" charset="0"/>
              </a:rPr>
              <a:t>event_id_col: str|None</a:t>
            </a:r>
            <a:br>
              <a:rPr lang="en-US" sz="1200">
                <a:latin typeface="Centaur" panose="02030504050205020304" pitchFamily="18" charset="0"/>
                <a:cs typeface="Times New Roman" panose="02020603050405020304" pitchFamily="18" charset="0"/>
              </a:rPr>
            </a:br>
            <a:r>
              <a:rPr lang="en-US" sz="1200">
                <a:latin typeface="Centaur" panose="02030504050205020304" pitchFamily="18" charset="0"/>
                <a:cs typeface="Times New Roman" panose="02020603050405020304" pitchFamily="18" charset="0"/>
              </a:rPr>
              <a:t>event_type_col: str|None</a:t>
            </a:r>
            <a:br>
              <a:rPr lang="en-US" sz="1200">
                <a:latin typeface="Centaur" panose="02030504050205020304" pitchFamily="18" charset="0"/>
                <a:cs typeface="Times New Roman" panose="02020603050405020304" pitchFamily="18" charset="0"/>
              </a:rPr>
            </a:br>
            <a:r>
              <a:rPr lang="en-US" sz="1200">
                <a:latin typeface="Centaur" panose="02030504050205020304" pitchFamily="18" charset="0"/>
                <a:cs typeface="Times New Roman" panose="02020603050405020304" pitchFamily="18" charset="0"/>
              </a:rPr>
              <a:t>metadata_cols: list[str]</a:t>
            </a:r>
          </a:p>
        </p:txBody>
      </p:sp>
      <p:sp>
        <p:nvSpPr>
          <p:cNvPr id="6" name="TextBox 5">
            <a:extLst>
              <a:ext uri="{FF2B5EF4-FFF2-40B4-BE49-F238E27FC236}">
                <a16:creationId xmlns:a16="http://schemas.microsoft.com/office/drawing/2014/main" id="{017B5E74-A7B8-53EB-11E3-8B38D86E6E97}"/>
              </a:ext>
            </a:extLst>
          </p:cNvPr>
          <p:cNvSpPr txBox="1"/>
          <p:nvPr/>
        </p:nvSpPr>
        <p:spPr>
          <a:xfrm>
            <a:off x="3352800" y="971450"/>
            <a:ext cx="5882640" cy="1569660"/>
          </a:xfrm>
          <a:prstGeom prst="rect">
            <a:avLst/>
          </a:prstGeom>
          <a:noFill/>
        </p:spPr>
        <p:txBody>
          <a:bodyPr wrap="square" rtlCol="0">
            <a:spAutoFit/>
          </a:bodyPr>
          <a:lstStyle/>
          <a:p>
            <a:r>
              <a:rPr lang="en-US" sz="1200" b="1">
                <a:latin typeface="Consolas" panose="020B0609020204030204" pitchFamily="49" charset="0"/>
              </a:rPr>
              <a:t>Constructor</a:t>
            </a:r>
          </a:p>
          <a:p>
            <a:r>
              <a:rPr lang="en-US" sz="1200">
                <a:latin typeface="Consolas" panose="020B0609020204030204" pitchFamily="49" charset="0"/>
              </a:rPr>
              <a:t>__post__init()</a:t>
            </a:r>
          </a:p>
          <a:p>
            <a:endParaRPr lang="en-US" sz="1200" b="1">
              <a:latin typeface="Consolas" panose="020B0609020204030204" pitchFamily="49" charset="0"/>
            </a:endParaRPr>
          </a:p>
          <a:p>
            <a:r>
              <a:rPr lang="en-US" sz="1200" b="1">
                <a:latin typeface="Consolas" panose="020B0609020204030204" pitchFamily="49" charset="0"/>
              </a:rPr>
              <a:t>Constructors as Class Methods</a:t>
            </a:r>
          </a:p>
          <a:p>
            <a:r>
              <a:rPr lang="en-US" sz="1200" i="1">
                <a:latin typeface="Consolas" panose="020B0609020204030204" pitchFamily="49" charset="0"/>
              </a:rPr>
              <a:t>build_from_yaml</a:t>
            </a:r>
            <a:r>
              <a:rPr lang="en-US" sz="1200">
                <a:latin typeface="Consolas" panose="020B0609020204030204" pitchFamily="49" charset="0"/>
              </a:rPr>
              <a:t>(path) -&gt; EventSemantics</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__repr__() -&gt; str</a:t>
            </a:r>
          </a:p>
        </p:txBody>
      </p:sp>
    </p:spTree>
    <p:extLst>
      <p:ext uri="{BB962C8B-B14F-4D97-AF65-F5344CB8AC3E}">
        <p14:creationId xmlns:p14="http://schemas.microsoft.com/office/powerpoint/2010/main" val="42007377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C83FA-FBCB-E98B-9AEF-B67CEA0DC89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A59085B-5A58-8E86-2CE7-9B0A310534AE}"/>
              </a:ext>
            </a:extLst>
          </p:cNvPr>
          <p:cNvSpPr txBox="1"/>
          <p:nvPr/>
        </p:nvSpPr>
        <p:spPr>
          <a:xfrm>
            <a:off x="5695406" y="0"/>
            <a:ext cx="3448594" cy="646331"/>
          </a:xfrm>
          <a:prstGeom prst="rect">
            <a:avLst/>
          </a:prstGeom>
          <a:noFill/>
          <a:ln>
            <a:solidFill>
              <a:schemeClr val="tx1"/>
            </a:solidFill>
          </a:ln>
        </p:spPr>
        <p:txBody>
          <a:bodyPr wrap="square" rtlCol="0">
            <a:spAutoFit/>
          </a:bodyPr>
          <a:lstStyle/>
          <a:p>
            <a:pPr algn="ctr"/>
            <a:r>
              <a:rPr lang="en-US"/>
              <a:t>Reproducibility: </a:t>
            </a:r>
            <a:br>
              <a:rPr lang="en-US"/>
            </a:br>
            <a:r>
              <a:rPr lang="en-US"/>
              <a:t>Configuration-friendly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3D758C38-C513-606F-2D08-6676F272D555}"/>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5" name="TextBox 4">
            <a:extLst>
              <a:ext uri="{FF2B5EF4-FFF2-40B4-BE49-F238E27FC236}">
                <a16:creationId xmlns:a16="http://schemas.microsoft.com/office/drawing/2014/main" id="{2AFE607F-FC0D-C0EC-244E-5063290D7460}"/>
              </a:ext>
            </a:extLst>
          </p:cNvPr>
          <p:cNvSpPr txBox="1"/>
          <p:nvPr/>
        </p:nvSpPr>
        <p:spPr>
          <a:xfrm>
            <a:off x="3596184" y="1176866"/>
            <a:ext cx="1951632" cy="400110"/>
          </a:xfrm>
          <a:prstGeom prst="rect">
            <a:avLst/>
          </a:prstGeom>
          <a:noFill/>
        </p:spPr>
        <p:txBody>
          <a:bodyPr wrap="square" rtlCol="0">
            <a:spAutoFit/>
          </a:bodyPr>
          <a:lstStyle/>
          <a:p>
            <a:pPr algn="ctr"/>
            <a:r>
              <a:rPr lang="en-US" sz="1000" i="1"/>
              <a:t>EventsCleanerConfig.build_from_yaml(filename)</a:t>
            </a:r>
          </a:p>
        </p:txBody>
      </p:sp>
      <p:sp>
        <p:nvSpPr>
          <p:cNvPr id="7" name="TextBox 6">
            <a:extLst>
              <a:ext uri="{FF2B5EF4-FFF2-40B4-BE49-F238E27FC236}">
                <a16:creationId xmlns:a16="http://schemas.microsoft.com/office/drawing/2014/main" id="{A7A1C2F2-5693-9B9B-A859-FEC5B12EE87A}"/>
              </a:ext>
            </a:extLst>
          </p:cNvPr>
          <p:cNvSpPr txBox="1"/>
          <p:nvPr/>
        </p:nvSpPr>
        <p:spPr>
          <a:xfrm>
            <a:off x="6286784" y="1510849"/>
            <a:ext cx="2468881" cy="276999"/>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EventsCleanerConfig </a:t>
            </a:r>
            <a:r>
              <a:rPr lang="en-US" sz="1200">
                <a:latin typeface="Consolas" panose="020B0609020204030204" pitchFamily="49" charset="0"/>
                <a:cs typeface="Times New Roman" panose="02020603050405020304" pitchFamily="18" charset="0"/>
              </a:rPr>
              <a:t>object</a:t>
            </a:r>
            <a:endParaRPr lang="en-US" sz="1200" b="1">
              <a:latin typeface="Consolas" panose="020B0609020204030204" pitchFamily="49" charset="0"/>
              <a:cs typeface="Times New Roman" panose="02020603050405020304" pitchFamily="18" charset="0"/>
            </a:endParaRPr>
          </a:p>
        </p:txBody>
      </p:sp>
      <p:sp>
        <p:nvSpPr>
          <p:cNvPr id="12" name="TextBox 11">
            <a:extLst>
              <a:ext uri="{FF2B5EF4-FFF2-40B4-BE49-F238E27FC236}">
                <a16:creationId xmlns:a16="http://schemas.microsoft.com/office/drawing/2014/main" id="{F7EF3D30-5F23-AC86-BCD1-5C9737C8B31A}"/>
              </a:ext>
            </a:extLst>
          </p:cNvPr>
          <p:cNvSpPr txBox="1"/>
          <p:nvPr/>
        </p:nvSpPr>
        <p:spPr>
          <a:xfrm>
            <a:off x="3128554" y="2038493"/>
            <a:ext cx="5480075" cy="600164"/>
          </a:xfrm>
          <a:prstGeom prst="rect">
            <a:avLst/>
          </a:prstGeom>
          <a:noFill/>
        </p:spPr>
        <p:txBody>
          <a:bodyPr wrap="square">
            <a:spAutoFit/>
          </a:bodyPr>
          <a:lstStyle/>
          <a:p>
            <a:pPr algn="ctr"/>
            <a:r>
              <a:rPr lang="en-US" sz="1100"/>
              <a:t>Validates on construction that the entries in the configuration are sensical. If you write a cleaning-thing that does not exist or an option that does not exist, it throws the error. </a:t>
            </a:r>
          </a:p>
          <a:p>
            <a:pPr algn="ctr"/>
            <a:r>
              <a:rPr lang="en-US" sz="1100"/>
              <a:t>Once again, declarative construction acts both as configuration and documentation"</a:t>
            </a:r>
          </a:p>
        </p:txBody>
      </p:sp>
      <p:cxnSp>
        <p:nvCxnSpPr>
          <p:cNvPr id="14" name="Straight Arrow Connector 13">
            <a:extLst>
              <a:ext uri="{FF2B5EF4-FFF2-40B4-BE49-F238E27FC236}">
                <a16:creationId xmlns:a16="http://schemas.microsoft.com/office/drawing/2014/main" id="{8DAD26CF-A897-05C7-88A9-1B6123373C46}"/>
              </a:ext>
            </a:extLst>
          </p:cNvPr>
          <p:cNvCxnSpPr/>
          <p:nvPr/>
        </p:nvCxnSpPr>
        <p:spPr>
          <a:xfrm>
            <a:off x="3726814" y="1649348"/>
            <a:ext cx="16903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CD0198F9-830A-6227-C7FE-0B8F23897F20}"/>
              </a:ext>
            </a:extLst>
          </p:cNvPr>
          <p:cNvPicPr>
            <a:picLocks noChangeAspect="1"/>
          </p:cNvPicPr>
          <p:nvPr/>
        </p:nvPicPr>
        <p:blipFill>
          <a:blip r:embed="rId24"/>
          <a:stretch>
            <a:fillRect/>
          </a:stretch>
        </p:blipFill>
        <p:spPr>
          <a:xfrm>
            <a:off x="170819" y="1030867"/>
            <a:ext cx="3225644" cy="808993"/>
          </a:xfrm>
          <a:prstGeom prst="rect">
            <a:avLst/>
          </a:prstGeom>
        </p:spPr>
      </p:pic>
      <p:pic>
        <p:nvPicPr>
          <p:cNvPr id="11" name="Picture 10">
            <a:extLst>
              <a:ext uri="{FF2B5EF4-FFF2-40B4-BE49-F238E27FC236}">
                <a16:creationId xmlns:a16="http://schemas.microsoft.com/office/drawing/2014/main" id="{7E8B8831-83F7-CD66-3C05-E59EDDE96CA4}"/>
              </a:ext>
            </a:extLst>
          </p:cNvPr>
          <p:cNvPicPr>
            <a:picLocks noChangeAspect="1"/>
          </p:cNvPicPr>
          <p:nvPr/>
        </p:nvPicPr>
        <p:blipFill>
          <a:blip r:embed="rId25"/>
          <a:stretch>
            <a:fillRect/>
          </a:stretch>
        </p:blipFill>
        <p:spPr>
          <a:xfrm>
            <a:off x="1783641" y="3355649"/>
            <a:ext cx="4703452" cy="738807"/>
          </a:xfrm>
          <a:prstGeom prst="rect">
            <a:avLst/>
          </a:prstGeom>
        </p:spPr>
      </p:pic>
      <p:sp>
        <p:nvSpPr>
          <p:cNvPr id="13" name="TextBox 12">
            <a:extLst>
              <a:ext uri="{FF2B5EF4-FFF2-40B4-BE49-F238E27FC236}">
                <a16:creationId xmlns:a16="http://schemas.microsoft.com/office/drawing/2014/main" id="{68487F23-EEC6-211A-C108-1682DC173C18}"/>
              </a:ext>
            </a:extLst>
          </p:cNvPr>
          <p:cNvSpPr txBox="1"/>
          <p:nvPr/>
        </p:nvSpPr>
        <p:spPr>
          <a:xfrm>
            <a:off x="2560320" y="3035328"/>
            <a:ext cx="2606226" cy="369332"/>
          </a:xfrm>
          <a:prstGeom prst="rect">
            <a:avLst/>
          </a:prstGeom>
          <a:noFill/>
        </p:spPr>
        <p:txBody>
          <a:bodyPr wrap="none" rtlCol="0">
            <a:spAutoFit/>
          </a:bodyPr>
          <a:lstStyle/>
          <a:p>
            <a:r>
              <a:rPr lang="en-US"/>
              <a:t>Examples of raised errors:</a:t>
            </a:r>
          </a:p>
        </p:txBody>
      </p:sp>
      <p:pic>
        <p:nvPicPr>
          <p:cNvPr id="16" name="Picture 15">
            <a:extLst>
              <a:ext uri="{FF2B5EF4-FFF2-40B4-BE49-F238E27FC236}">
                <a16:creationId xmlns:a16="http://schemas.microsoft.com/office/drawing/2014/main" id="{8BA3B51E-EF4C-DEF2-045E-8336794BA8FD}"/>
              </a:ext>
            </a:extLst>
          </p:cNvPr>
          <p:cNvPicPr>
            <a:picLocks noChangeAspect="1"/>
          </p:cNvPicPr>
          <p:nvPr/>
        </p:nvPicPr>
        <p:blipFill>
          <a:blip r:embed="rId26"/>
          <a:stretch>
            <a:fillRect/>
          </a:stretch>
        </p:blipFill>
        <p:spPr>
          <a:xfrm>
            <a:off x="1094677" y="4154446"/>
            <a:ext cx="6902805" cy="615982"/>
          </a:xfrm>
          <a:prstGeom prst="rect">
            <a:avLst/>
          </a:prstGeom>
        </p:spPr>
      </p:pic>
      <p:sp>
        <p:nvSpPr>
          <p:cNvPr id="17" name="TextBox 16">
            <a:extLst>
              <a:ext uri="{FF2B5EF4-FFF2-40B4-BE49-F238E27FC236}">
                <a16:creationId xmlns:a16="http://schemas.microsoft.com/office/drawing/2014/main" id="{5DD0EF73-3561-6A72-7EFE-1C0EA11A8631}"/>
              </a:ext>
            </a:extLst>
          </p:cNvPr>
          <p:cNvSpPr txBox="1"/>
          <p:nvPr/>
        </p:nvSpPr>
        <p:spPr>
          <a:xfrm>
            <a:off x="7055572" y="3274664"/>
            <a:ext cx="1990457" cy="461665"/>
          </a:xfrm>
          <a:prstGeom prst="rect">
            <a:avLst/>
          </a:prstGeom>
          <a:noFill/>
        </p:spPr>
        <p:txBody>
          <a:bodyPr wrap="square" rtlCol="0">
            <a:spAutoFit/>
          </a:bodyPr>
          <a:lstStyle/>
          <a:p>
            <a:r>
              <a:rPr lang="en-US" sz="1200"/>
              <a:t>*** Lets make this snapshot from either linux or VSCode</a:t>
            </a:r>
          </a:p>
        </p:txBody>
      </p:sp>
    </p:spTree>
    <p:extLst>
      <p:ext uri="{BB962C8B-B14F-4D97-AF65-F5344CB8AC3E}">
        <p14:creationId xmlns:p14="http://schemas.microsoft.com/office/powerpoint/2010/main" val="19976796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B9D03B-9E30-AA41-89DD-F52445622685}"/>
              </a:ext>
            </a:extLst>
          </p:cNvPr>
          <p:cNvSpPr txBox="1"/>
          <p:nvPr/>
        </p:nvSpPr>
        <p:spPr>
          <a:xfrm>
            <a:off x="6544491" y="614497"/>
            <a:ext cx="2468881"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CleanerConfig</a:t>
            </a:r>
          </a:p>
          <a:p>
            <a:pPr algn="ctr"/>
            <a:endParaRPr lang="en-US" sz="1200">
              <a:latin typeface="Consolas" panose="020B0609020204030204" pitchFamily="49" charset="0"/>
              <a:cs typeface="Times New Roman" panose="02020603050405020304" pitchFamily="18" charset="0"/>
            </a:endParaRPr>
          </a:p>
        </p:txBody>
      </p:sp>
      <p:cxnSp>
        <p:nvCxnSpPr>
          <p:cNvPr id="5" name="Straight Arrow Connector 4">
            <a:extLst>
              <a:ext uri="{FF2B5EF4-FFF2-40B4-BE49-F238E27FC236}">
                <a16:creationId xmlns:a16="http://schemas.microsoft.com/office/drawing/2014/main" id="{E521C67B-8A1D-20FD-9FD3-55BA72734AA8}"/>
              </a:ext>
            </a:extLst>
          </p:cNvPr>
          <p:cNvCxnSpPr>
            <a:cxnSpLocks/>
            <a:endCxn id="2" idx="1"/>
          </p:cNvCxnSpPr>
          <p:nvPr/>
        </p:nvCxnSpPr>
        <p:spPr>
          <a:xfrm flipV="1">
            <a:off x="4467497" y="845330"/>
            <a:ext cx="2076994" cy="68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AB67C89C-CCF8-66C4-25BF-471B65AD3881}"/>
              </a:ext>
            </a:extLst>
          </p:cNvPr>
          <p:cNvPicPr>
            <a:picLocks noChangeAspect="1"/>
          </p:cNvPicPr>
          <p:nvPr/>
        </p:nvPicPr>
        <p:blipFill>
          <a:blip r:embed="rId2"/>
          <a:stretch>
            <a:fillRect/>
          </a:stretch>
        </p:blipFill>
        <p:spPr>
          <a:xfrm>
            <a:off x="117566" y="305041"/>
            <a:ext cx="4264981" cy="1094285"/>
          </a:xfrm>
          <a:prstGeom prst="rect">
            <a:avLst/>
          </a:prstGeom>
        </p:spPr>
      </p:pic>
      <p:sp>
        <p:nvSpPr>
          <p:cNvPr id="10" name="TextBox 9">
            <a:extLst>
              <a:ext uri="{FF2B5EF4-FFF2-40B4-BE49-F238E27FC236}">
                <a16:creationId xmlns:a16="http://schemas.microsoft.com/office/drawing/2014/main" id="{70C30D90-97A8-97A0-5F73-057633CF0278}"/>
              </a:ext>
            </a:extLst>
          </p:cNvPr>
          <p:cNvSpPr txBox="1"/>
          <p:nvPr/>
        </p:nvSpPr>
        <p:spPr>
          <a:xfrm>
            <a:off x="3083880" y="1399326"/>
            <a:ext cx="3382233" cy="646331"/>
          </a:xfrm>
          <a:prstGeom prst="rect">
            <a:avLst/>
          </a:prstGeom>
          <a:noFill/>
        </p:spPr>
        <p:txBody>
          <a:bodyPr wrap="square">
            <a:spAutoFit/>
          </a:bodyPr>
          <a:lstStyle/>
          <a:p>
            <a:r>
              <a:rPr lang="en-US" sz="1200"/>
              <a:t>Declarative construction. Unknown keys and invalid options raise immediately — your cleaning choices are explicit, versioned, and reproducible</a:t>
            </a:r>
          </a:p>
        </p:txBody>
      </p:sp>
      <p:sp>
        <p:nvSpPr>
          <p:cNvPr id="11" name="TextBox 10">
            <a:extLst>
              <a:ext uri="{FF2B5EF4-FFF2-40B4-BE49-F238E27FC236}">
                <a16:creationId xmlns:a16="http://schemas.microsoft.com/office/drawing/2014/main" id="{693F916D-6780-210A-4A25-08B7647C1569}"/>
              </a:ext>
            </a:extLst>
          </p:cNvPr>
          <p:cNvSpPr txBox="1"/>
          <p:nvPr/>
        </p:nvSpPr>
        <p:spPr>
          <a:xfrm>
            <a:off x="7097555" y="3917966"/>
            <a:ext cx="1170145" cy="276999"/>
          </a:xfrm>
          <a:prstGeom prst="rect">
            <a:avLst/>
          </a:prstGeom>
          <a:noFill/>
          <a:ln>
            <a:solidFill>
              <a:schemeClr val="tx1"/>
            </a:solidFill>
          </a:ln>
        </p:spPr>
        <p:txBody>
          <a:bodyPr wrap="square">
            <a:spAutoFit/>
          </a:bodyPr>
          <a:lstStyle/>
          <a:p>
            <a:pPr algn="ctr"/>
            <a:r>
              <a:rPr lang="en-US" sz="1200"/>
              <a:t>pd.Dataframe</a:t>
            </a:r>
          </a:p>
        </p:txBody>
      </p:sp>
      <p:cxnSp>
        <p:nvCxnSpPr>
          <p:cNvPr id="12" name="Straight Arrow Connector 11">
            <a:extLst>
              <a:ext uri="{FF2B5EF4-FFF2-40B4-BE49-F238E27FC236}">
                <a16:creationId xmlns:a16="http://schemas.microsoft.com/office/drawing/2014/main" id="{5105D144-EE26-80B1-D87B-ECF15D63877E}"/>
              </a:ext>
            </a:extLst>
          </p:cNvPr>
          <p:cNvCxnSpPr>
            <a:cxnSpLocks/>
            <a:stCxn id="2" idx="2"/>
          </p:cNvCxnSpPr>
          <p:nvPr/>
        </p:nvCxnSpPr>
        <p:spPr>
          <a:xfrm flipH="1">
            <a:off x="6021421" y="1076162"/>
            <a:ext cx="1757511" cy="17786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149B66A5-ECF9-8771-8E1A-37694D670FD2}"/>
              </a:ext>
            </a:extLst>
          </p:cNvPr>
          <p:cNvCxnSpPr>
            <a:cxnSpLocks/>
            <a:stCxn id="11" idx="0"/>
          </p:cNvCxnSpPr>
          <p:nvPr/>
        </p:nvCxnSpPr>
        <p:spPr>
          <a:xfrm flipH="1" flipV="1">
            <a:off x="6021421" y="3489042"/>
            <a:ext cx="1661207" cy="4289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F6172A34-DA94-F09E-1B60-7D53E8B1CD3D}"/>
              </a:ext>
            </a:extLst>
          </p:cNvPr>
          <p:cNvCxnSpPr>
            <a:cxnSpLocks/>
          </p:cNvCxnSpPr>
          <p:nvPr/>
        </p:nvCxnSpPr>
        <p:spPr>
          <a:xfrm flipH="1">
            <a:off x="2834640" y="3277665"/>
            <a:ext cx="105156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03FDE468-392C-7953-BC87-B6245F73D380}"/>
              </a:ext>
            </a:extLst>
          </p:cNvPr>
          <p:cNvSpPr txBox="1"/>
          <p:nvPr/>
        </p:nvSpPr>
        <p:spPr>
          <a:xfrm>
            <a:off x="106155" y="3119709"/>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27" name="TextBox 26">
            <a:extLst>
              <a:ext uri="{FF2B5EF4-FFF2-40B4-BE49-F238E27FC236}">
                <a16:creationId xmlns:a16="http://schemas.microsoft.com/office/drawing/2014/main" id="{C314148D-C7EC-BCEA-A0CC-AD8AAA07E6AC}"/>
              </a:ext>
            </a:extLst>
          </p:cNvPr>
          <p:cNvSpPr txBox="1"/>
          <p:nvPr/>
        </p:nvSpPr>
        <p:spPr>
          <a:xfrm>
            <a:off x="56606" y="2208457"/>
            <a:ext cx="2290354" cy="646331"/>
          </a:xfrm>
          <a:prstGeom prst="rect">
            <a:avLst/>
          </a:prstGeom>
          <a:noFill/>
        </p:spPr>
        <p:txBody>
          <a:bodyPr wrap="square">
            <a:spAutoFit/>
          </a:bodyPr>
          <a:lstStyle/>
          <a:p>
            <a:r>
              <a:rPr lang="en-US" sz="1200">
                <a:latin typeface="Times New Roman" panose="02020603050405020304" pitchFamily="18" charset="0"/>
                <a:cs typeface="Times New Roman" panose="02020603050405020304" pitchFamily="18" charset="0"/>
              </a:rPr>
              <a:t>The DataFrame inside this object is clean. Every row passed every rule.</a:t>
            </a:r>
          </a:p>
        </p:txBody>
      </p:sp>
      <p:cxnSp>
        <p:nvCxnSpPr>
          <p:cNvPr id="28" name="Straight Arrow Connector 27">
            <a:extLst>
              <a:ext uri="{FF2B5EF4-FFF2-40B4-BE49-F238E27FC236}">
                <a16:creationId xmlns:a16="http://schemas.microsoft.com/office/drawing/2014/main" id="{861F23B3-5D2D-B1CA-E42E-1224ED07F824}"/>
              </a:ext>
            </a:extLst>
          </p:cNvPr>
          <p:cNvCxnSpPr>
            <a:cxnSpLocks/>
          </p:cNvCxnSpPr>
          <p:nvPr/>
        </p:nvCxnSpPr>
        <p:spPr>
          <a:xfrm flipH="1">
            <a:off x="2720340" y="3410609"/>
            <a:ext cx="1318260" cy="7843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0" name="Picture 29">
            <a:extLst>
              <a:ext uri="{FF2B5EF4-FFF2-40B4-BE49-F238E27FC236}">
                <a16:creationId xmlns:a16="http://schemas.microsoft.com/office/drawing/2014/main" id="{080462B5-7044-7E63-7220-2BC605656D70}"/>
              </a:ext>
            </a:extLst>
          </p:cNvPr>
          <p:cNvPicPr>
            <a:picLocks noChangeAspect="1"/>
          </p:cNvPicPr>
          <p:nvPr/>
        </p:nvPicPr>
        <p:blipFill>
          <a:blip r:embed="rId3"/>
          <a:stretch>
            <a:fillRect/>
          </a:stretch>
        </p:blipFill>
        <p:spPr>
          <a:xfrm>
            <a:off x="117566" y="3917965"/>
            <a:ext cx="2290354" cy="1191503"/>
          </a:xfrm>
          <a:prstGeom prst="rect">
            <a:avLst/>
          </a:prstGeom>
        </p:spPr>
      </p:pic>
      <p:sp>
        <p:nvSpPr>
          <p:cNvPr id="32" name="TextBox 31">
            <a:extLst>
              <a:ext uri="{FF2B5EF4-FFF2-40B4-BE49-F238E27FC236}">
                <a16:creationId xmlns:a16="http://schemas.microsoft.com/office/drawing/2014/main" id="{93A43601-9F93-A574-E5E1-9845D32F98A4}"/>
              </a:ext>
            </a:extLst>
          </p:cNvPr>
          <p:cNvSpPr txBox="1"/>
          <p:nvPr/>
        </p:nvSpPr>
        <p:spPr>
          <a:xfrm>
            <a:off x="2539706" y="4563093"/>
            <a:ext cx="4572000" cy="461665"/>
          </a:xfrm>
          <a:prstGeom prst="rect">
            <a:avLst/>
          </a:prstGeom>
          <a:noFill/>
        </p:spPr>
        <p:txBody>
          <a:bodyPr wrap="square">
            <a:spAutoFit/>
          </a:bodyPr>
          <a:lstStyle/>
          <a:p>
            <a:r>
              <a:rPr lang="en-US" sz="1200">
                <a:latin typeface="Times New Roman" panose="02020603050405020304" pitchFamily="18" charset="0"/>
                <a:cs typeface="Times New Roman" panose="02020603050405020304" pitchFamily="18" charset="0"/>
              </a:rPr>
              <a:t>Complete transparency — every dropped row has a named reason, with counts and percentages. Ready for your methods and results section.</a:t>
            </a:r>
          </a:p>
        </p:txBody>
      </p:sp>
      <p:sp>
        <p:nvSpPr>
          <p:cNvPr id="33" name="TextBox 32">
            <a:extLst>
              <a:ext uri="{FF2B5EF4-FFF2-40B4-BE49-F238E27FC236}">
                <a16:creationId xmlns:a16="http://schemas.microsoft.com/office/drawing/2014/main" id="{4D058370-16BA-CD8E-5BE4-F72C5B1E9594}"/>
              </a:ext>
            </a:extLst>
          </p:cNvPr>
          <p:cNvSpPr txBox="1"/>
          <p:nvPr/>
        </p:nvSpPr>
        <p:spPr>
          <a:xfrm>
            <a:off x="4405407" y="3076569"/>
            <a:ext cx="2922815" cy="276999"/>
          </a:xfrm>
          <a:custGeom>
            <a:avLst/>
            <a:gdLst>
              <a:gd name="csX0" fmla="*/ 0 w 2922815"/>
              <a:gd name="csY0" fmla="*/ 0 h 276999"/>
              <a:gd name="csX1" fmla="*/ 2922815 w 2922815"/>
              <a:gd name="csY1" fmla="*/ 0 h 276999"/>
              <a:gd name="csX2" fmla="*/ 2922815 w 2922815"/>
              <a:gd name="csY2" fmla="*/ 276999 h 276999"/>
              <a:gd name="csX3" fmla="*/ 0 w 2922815"/>
              <a:gd name="csY3" fmla="*/ 276999 h 276999"/>
              <a:gd name="csX4" fmla="*/ 0 w 2922815"/>
              <a:gd name="csY4" fmla="*/ 0 h 276999"/>
            </a:gdLst>
            <a:ahLst/>
            <a:cxnLst>
              <a:cxn ang="0">
                <a:pos x="csX0" y="csY0"/>
              </a:cxn>
              <a:cxn ang="0">
                <a:pos x="csX1" y="csY1"/>
              </a:cxn>
              <a:cxn ang="0">
                <a:pos x="csX2" y="csY2"/>
              </a:cxn>
              <a:cxn ang="0">
                <a:pos x="csX3" y="csY3"/>
              </a:cxn>
              <a:cxn ang="0">
                <a:pos x="csX4" y="csY4"/>
              </a:cxn>
            </a:cxnLst>
            <a:rect l="l" t="t" r="r" b="b"/>
            <a:pathLst>
              <a:path w="2922815" h="276999" fill="none" extrusionOk="0">
                <a:moveTo>
                  <a:pt x="0" y="0"/>
                </a:moveTo>
                <a:cubicBezTo>
                  <a:pt x="355566" y="-130955"/>
                  <a:pt x="1815757" y="60629"/>
                  <a:pt x="2922815" y="0"/>
                </a:cubicBezTo>
                <a:cubicBezTo>
                  <a:pt x="2917705" y="61300"/>
                  <a:pt x="2912748" y="153708"/>
                  <a:pt x="2922815" y="276999"/>
                </a:cubicBezTo>
                <a:cubicBezTo>
                  <a:pt x="2415729" y="244168"/>
                  <a:pt x="508035" y="187355"/>
                  <a:pt x="0" y="276999"/>
                </a:cubicBezTo>
                <a:cubicBezTo>
                  <a:pt x="-8774" y="238354"/>
                  <a:pt x="11105" y="69729"/>
                  <a:pt x="0" y="0"/>
                </a:cubicBezTo>
                <a:close/>
              </a:path>
              <a:path w="2922815" h="276999" stroke="0" extrusionOk="0">
                <a:moveTo>
                  <a:pt x="0" y="0"/>
                </a:moveTo>
                <a:cubicBezTo>
                  <a:pt x="1326380" y="-145685"/>
                  <a:pt x="1476772" y="120332"/>
                  <a:pt x="2922815" y="0"/>
                </a:cubicBezTo>
                <a:cubicBezTo>
                  <a:pt x="2929541" y="58512"/>
                  <a:pt x="2933659" y="185972"/>
                  <a:pt x="2922815" y="276999"/>
                </a:cubicBezTo>
                <a:cubicBezTo>
                  <a:pt x="2105533" y="134500"/>
                  <a:pt x="437425" y="427977"/>
                  <a:pt x="0" y="276999"/>
                </a:cubicBezTo>
                <a:cubicBezTo>
                  <a:pt x="6173" y="189448"/>
                  <a:pt x="-16538" y="126583"/>
                  <a:pt x="0" y="0"/>
                </a:cubicBezTo>
                <a:close/>
              </a:path>
            </a:pathLst>
          </a:custGeom>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a:t>
            </a:r>
          </a:p>
        </p:txBody>
      </p:sp>
    </p:spTree>
    <p:extLst>
      <p:ext uri="{BB962C8B-B14F-4D97-AF65-F5344CB8AC3E}">
        <p14:creationId xmlns:p14="http://schemas.microsoft.com/office/powerpoint/2010/main" val="3905104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0075B-BD41-D2E6-3846-891E48C585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C86F6A-2D08-2CD3-14B3-7960846FF045}"/>
              </a:ext>
            </a:extLst>
          </p:cNvPr>
          <p:cNvSpPr txBox="1"/>
          <p:nvPr/>
        </p:nvSpPr>
        <p:spPr>
          <a:xfrm>
            <a:off x="209005" y="2961550"/>
            <a:ext cx="2922815" cy="830997"/>
          </a:xfrm>
          <a:custGeom>
            <a:avLst/>
            <a:gdLst>
              <a:gd name="csX0" fmla="*/ 0 w 2922815"/>
              <a:gd name="csY0" fmla="*/ 0 h 830997"/>
              <a:gd name="csX1" fmla="*/ 2922815 w 2922815"/>
              <a:gd name="csY1" fmla="*/ 0 h 830997"/>
              <a:gd name="csX2" fmla="*/ 2922815 w 2922815"/>
              <a:gd name="csY2" fmla="*/ 830997 h 830997"/>
              <a:gd name="csX3" fmla="*/ 0 w 2922815"/>
              <a:gd name="csY3" fmla="*/ 830997 h 830997"/>
              <a:gd name="csX4" fmla="*/ 0 w 2922815"/>
              <a:gd name="csY4" fmla="*/ 0 h 830997"/>
            </a:gdLst>
            <a:ahLst/>
            <a:cxnLst>
              <a:cxn ang="0">
                <a:pos x="csX0" y="csY0"/>
              </a:cxn>
              <a:cxn ang="0">
                <a:pos x="csX1" y="csY1"/>
              </a:cxn>
              <a:cxn ang="0">
                <a:pos x="csX2" y="csY2"/>
              </a:cxn>
              <a:cxn ang="0">
                <a:pos x="csX3" y="csY3"/>
              </a:cxn>
              <a:cxn ang="0">
                <a:pos x="csX4" y="csY4"/>
              </a:cxn>
            </a:cxnLst>
            <a:rect l="l" t="t" r="r" b="b"/>
            <a:pathLst>
              <a:path w="2922815" h="830997" fill="none" extrusionOk="0">
                <a:moveTo>
                  <a:pt x="0" y="0"/>
                </a:moveTo>
                <a:cubicBezTo>
                  <a:pt x="355566" y="-130955"/>
                  <a:pt x="1815757" y="60629"/>
                  <a:pt x="2922815" y="0"/>
                </a:cubicBezTo>
                <a:cubicBezTo>
                  <a:pt x="2917705" y="121524"/>
                  <a:pt x="2862889" y="451653"/>
                  <a:pt x="2922815" y="830997"/>
                </a:cubicBezTo>
                <a:cubicBezTo>
                  <a:pt x="2415729" y="798166"/>
                  <a:pt x="508035" y="741353"/>
                  <a:pt x="0" y="830997"/>
                </a:cubicBezTo>
                <a:cubicBezTo>
                  <a:pt x="41085" y="721302"/>
                  <a:pt x="11105" y="326204"/>
                  <a:pt x="0" y="0"/>
                </a:cubicBezTo>
                <a:close/>
              </a:path>
              <a:path w="2922815" h="830997" stroke="0" extrusionOk="0">
                <a:moveTo>
                  <a:pt x="0" y="0"/>
                </a:moveTo>
                <a:cubicBezTo>
                  <a:pt x="1326380" y="-145685"/>
                  <a:pt x="1476772" y="120332"/>
                  <a:pt x="2922815" y="0"/>
                </a:cubicBezTo>
                <a:cubicBezTo>
                  <a:pt x="2979401" y="341217"/>
                  <a:pt x="2883799" y="468452"/>
                  <a:pt x="2922815" y="830997"/>
                </a:cubicBezTo>
                <a:cubicBezTo>
                  <a:pt x="2105533" y="688498"/>
                  <a:pt x="437425" y="981975"/>
                  <a:pt x="0" y="830997"/>
                </a:cubicBezTo>
                <a:cubicBezTo>
                  <a:pt x="6173" y="664514"/>
                  <a:pt x="-16538" y="379586"/>
                  <a:pt x="0" y="0"/>
                </a:cubicBezTo>
                <a:close/>
              </a:path>
            </a:pathLst>
          </a:custGeom>
          <a:solidFill>
            <a:schemeClr val="bg1"/>
          </a:solidFill>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a:t>
            </a:r>
          </a:p>
          <a:p>
            <a:pPr algn="ctr"/>
            <a:r>
              <a:rPr lang="en-US" sz="1200">
                <a:latin typeface="Consolas" panose="020B0609020204030204" pitchFamily="49" charset="0"/>
                <a:cs typeface="Times New Roman" panose="02020603050405020304" pitchFamily="18" charset="0"/>
              </a:rPr>
              <a:t>data: pd.DataFrame</a:t>
            </a:r>
          </a:p>
          <a:p>
            <a:pPr algn="ctr"/>
            <a:r>
              <a:rPr lang="en-US" sz="1200">
                <a:latin typeface="Consolas" panose="020B0609020204030204" pitchFamily="49" charset="0"/>
                <a:cs typeface="Times New Roman" panose="02020603050405020304" pitchFamily="18" charset="0"/>
              </a:rPr>
              <a:t>semantics: EventSemantics</a:t>
            </a:r>
          </a:p>
          <a:p>
            <a:pPr algn="ctr"/>
            <a:r>
              <a:rPr lang="en-US" sz="1200">
                <a:latin typeface="Consolas" panose="020B0609020204030204" pitchFamily="49" charset="0"/>
                <a:cs typeface="Times New Roman" panose="02020603050405020304" pitchFamily="18" charset="0"/>
              </a:rPr>
              <a:t>config: EventsCleanerConfig|None</a:t>
            </a:r>
          </a:p>
        </p:txBody>
      </p:sp>
      <p:sp>
        <p:nvSpPr>
          <p:cNvPr id="4" name="TextBox 3">
            <a:extLst>
              <a:ext uri="{FF2B5EF4-FFF2-40B4-BE49-F238E27FC236}">
                <a16:creationId xmlns:a16="http://schemas.microsoft.com/office/drawing/2014/main" id="{A03A41F1-3A6A-4945-F046-F079500918C9}"/>
              </a:ext>
            </a:extLst>
          </p:cNvPr>
          <p:cNvSpPr txBox="1"/>
          <p:nvPr/>
        </p:nvSpPr>
        <p:spPr>
          <a:xfrm>
            <a:off x="3424646" y="172630"/>
            <a:ext cx="5882640" cy="1384995"/>
          </a:xfrm>
          <a:prstGeom prst="rect">
            <a:avLst/>
          </a:prstGeom>
          <a:noFill/>
        </p:spPr>
        <p:txBody>
          <a:bodyPr wrap="square" rtlCol="0">
            <a:spAutoFit/>
          </a:bodyPr>
          <a:lstStyle/>
          <a:p>
            <a:r>
              <a:rPr lang="en-US" sz="1200" b="1">
                <a:latin typeface="Consolas" panose="020B0609020204030204" pitchFamily="49" charset="0"/>
              </a:rPr>
              <a:t>Constructors as Class Methods</a:t>
            </a:r>
          </a:p>
          <a:p>
            <a:r>
              <a:rPr lang="en-US" sz="1200" i="1">
                <a:latin typeface="Consolas" panose="020B0609020204030204" pitchFamily="49" charset="0"/>
              </a:rPr>
              <a:t>build_from_yaml</a:t>
            </a:r>
            <a:r>
              <a:rPr lang="en-US" sz="1200">
                <a:latin typeface="Consolas" panose="020B0609020204030204" pitchFamily="49" charset="0"/>
              </a:rPr>
              <a:t>(path) -&gt; EventsCleanerConfig</a:t>
            </a:r>
          </a:p>
          <a:p>
            <a:r>
              <a:rPr lang="en-US" sz="1200">
                <a:latin typeface="Consolas" panose="020B0609020204030204" pitchFamily="49" charset="0"/>
              </a:rPr>
              <a:t>build_with_defaults() -&gt; EventsCleanerConfig</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to_yaml(path) -&gt; None</a:t>
            </a:r>
          </a:p>
          <a:p>
            <a:r>
              <a:rPr lang="en-US" sz="1200">
                <a:latin typeface="Consolas" panose="020B0609020204030204" pitchFamily="49" charset="0"/>
              </a:rPr>
              <a:t>__repr__() -&gt; str</a:t>
            </a:r>
          </a:p>
        </p:txBody>
      </p:sp>
      <p:sp>
        <p:nvSpPr>
          <p:cNvPr id="2" name="TextBox 1">
            <a:extLst>
              <a:ext uri="{FF2B5EF4-FFF2-40B4-BE49-F238E27FC236}">
                <a16:creationId xmlns:a16="http://schemas.microsoft.com/office/drawing/2014/main" id="{4F674944-ABAD-1C25-36A6-3DDEE6FF7A9D}"/>
              </a:ext>
            </a:extLst>
          </p:cNvPr>
          <p:cNvSpPr txBox="1"/>
          <p:nvPr/>
        </p:nvSpPr>
        <p:spPr>
          <a:xfrm>
            <a:off x="209005" y="172630"/>
            <a:ext cx="2922815" cy="2123658"/>
          </a:xfrm>
          <a:prstGeom prst="rect">
            <a:avLst/>
          </a:prstGeom>
          <a:ln w="38100">
            <a:solidFill>
              <a:schemeClr val="bg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EventsCleanerConfig</a:t>
            </a:r>
          </a:p>
          <a:p>
            <a:pPr algn="ctr"/>
            <a:r>
              <a:rPr lang="en-US" sz="1200">
                <a:latin typeface="Consolas" panose="020B0609020204030204" pitchFamily="49" charset="0"/>
                <a:cs typeface="Times New Roman" panose="02020603050405020304" pitchFamily="18" charset="0"/>
              </a:rPr>
              <a:t>normalize_dates: bool</a:t>
            </a:r>
          </a:p>
          <a:p>
            <a:pPr algn="ctr"/>
            <a:r>
              <a:rPr lang="en-US" sz="1200">
                <a:latin typeface="Consolas" panose="020B0609020204030204" pitchFamily="49" charset="0"/>
                <a:cs typeface="Times New Roman" panose="02020603050405020304" pitchFamily="18" charset="0"/>
              </a:rPr>
              <a:t>coalesce_dates: bool</a:t>
            </a:r>
          </a:p>
          <a:p>
            <a:pPr algn="ctr"/>
            <a:r>
              <a:rPr lang="en-US" sz="1200">
                <a:latin typeface="Consolas" panose="020B0609020204030204" pitchFamily="49" charset="0"/>
                <a:cs typeface="Times New Roman" panose="02020603050405020304" pitchFamily="18" charset="0"/>
              </a:rPr>
              <a:t>causality_check: bool</a:t>
            </a:r>
          </a:p>
          <a:p>
            <a:pPr algn="ctr"/>
            <a:r>
              <a:rPr lang="en-US" sz="1200">
                <a:latin typeface="Consolas" panose="020B0609020204030204" pitchFamily="49" charset="0"/>
                <a:cs typeface="Times New Roman" panose="02020603050405020304" pitchFamily="18" charset="0"/>
              </a:rPr>
              <a:t>parse_dates: bool</a:t>
            </a:r>
          </a:p>
          <a:p>
            <a:pPr algn="ctr"/>
            <a:r>
              <a:rPr lang="en-US" sz="1200">
                <a:latin typeface="Consolas" panose="020B0609020204030204" pitchFamily="49" charset="0"/>
                <a:cs typeface="Times New Roman" panose="02020603050405020304" pitchFamily="18" charset="0"/>
              </a:rPr>
              <a:t>drop_duplicates: bool</a:t>
            </a:r>
          </a:p>
          <a:p>
            <a:pPr algn="ctr"/>
            <a:r>
              <a:rPr lang="en-US" sz="1200">
                <a:latin typeface="Consolas" panose="020B0609020204030204" pitchFamily="49" charset="0"/>
                <a:cs typeface="Times New Roman" panose="02020603050405020304" pitchFamily="18" charset="0"/>
              </a:rPr>
              <a:t>merge_overlapping: bool</a:t>
            </a:r>
          </a:p>
          <a:p>
            <a:pPr algn="ctr"/>
            <a:r>
              <a:rPr lang="en-US" sz="1200">
                <a:latin typeface="Consolas" panose="020B0609020204030204" pitchFamily="49" charset="0"/>
                <a:cs typeface="Times New Roman" panose="02020603050405020304" pitchFamily="18" charset="0"/>
              </a:rPr>
              <a:t>meaningful_gap: int</a:t>
            </a:r>
          </a:p>
          <a:p>
            <a:pPr algn="ctr"/>
            <a:r>
              <a:rPr lang="en-US" sz="1200">
                <a:latin typeface="Consolas" panose="020B0609020204030204" pitchFamily="49" charset="0"/>
                <a:cs typeface="Times New Roman" panose="02020603050405020304" pitchFamily="18" charset="0"/>
              </a:rPr>
              <a:t>date_floor: str</a:t>
            </a:r>
          </a:p>
          <a:p>
            <a:pPr algn="ctr"/>
            <a:r>
              <a:rPr lang="en-US" sz="1200">
                <a:latin typeface="Consolas" panose="020B0609020204030204" pitchFamily="49" charset="0"/>
                <a:cs typeface="Times New Roman" panose="02020603050405020304" pitchFamily="18" charset="0"/>
              </a:rPr>
              <a:t>date_celing: str</a:t>
            </a:r>
          </a:p>
          <a:p>
            <a:pPr algn="ctr"/>
            <a:endParaRPr lang="en-US" sz="1200" b="1">
              <a:latin typeface="Consolas" panose="020B0609020204030204" pitchFamily="49" charset="0"/>
              <a:cs typeface="Times New Roman" panose="02020603050405020304" pitchFamily="18" charset="0"/>
            </a:endParaRPr>
          </a:p>
        </p:txBody>
      </p:sp>
      <p:sp>
        <p:nvSpPr>
          <p:cNvPr id="5" name="TextBox 4">
            <a:extLst>
              <a:ext uri="{FF2B5EF4-FFF2-40B4-BE49-F238E27FC236}">
                <a16:creationId xmlns:a16="http://schemas.microsoft.com/office/drawing/2014/main" id="{5D105680-9BEB-6204-9EBE-CE24059395C3}"/>
              </a:ext>
            </a:extLst>
          </p:cNvPr>
          <p:cNvSpPr txBox="1"/>
          <p:nvPr/>
        </p:nvSpPr>
        <p:spPr>
          <a:xfrm>
            <a:off x="3424646" y="2943680"/>
            <a:ext cx="5882640" cy="1938992"/>
          </a:xfrm>
          <a:prstGeom prst="rect">
            <a:avLst/>
          </a:prstGeom>
          <a:noFill/>
        </p:spPr>
        <p:txBody>
          <a:bodyPr wrap="square" rtlCol="0">
            <a:spAutoFit/>
          </a:bodyPr>
          <a:lstStyle/>
          <a:p>
            <a:r>
              <a:rPr lang="en-US" sz="1200" b="1">
                <a:latin typeface="Consolas" panose="020B0609020204030204" pitchFamily="49" charset="0"/>
              </a:rPr>
              <a:t>Constructor</a:t>
            </a:r>
          </a:p>
          <a:p>
            <a:r>
              <a:rPr lang="en-US" sz="1200">
                <a:latin typeface="Consolas" panose="020B0609020204030204" pitchFamily="49" charset="0"/>
              </a:rPr>
              <a:t>__init__(dataframe, semantics, config|None) -&gt; EventsCleaner</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clean() -&gt; Events</a:t>
            </a:r>
          </a:p>
          <a:p>
            <a:r>
              <a:rPr lang="en-US" sz="1200">
                <a:latin typeface="Consolas" panose="020B0609020204030204" pitchFamily="49" charset="0"/>
              </a:rPr>
              <a:t>calc_report() -&gt; dict</a:t>
            </a:r>
          </a:p>
          <a:p>
            <a:r>
              <a:rPr lang="en-US" sz="1200">
                <a:latin typeface="Consolas" panose="020B0609020204030204" pitchFamily="49" charset="0"/>
              </a:rPr>
              <a:t>print_report() -&gt; None</a:t>
            </a:r>
          </a:p>
          <a:p>
            <a:r>
              <a:rPr lang="en-US" sz="1200">
                <a:latin typeface="Consolas" panose="020B0609020204030204" pitchFamily="49" charset="0"/>
              </a:rPr>
              <a:t>__repr__() -&gt; str</a:t>
            </a:r>
          </a:p>
          <a:p>
            <a:endParaRPr lang="en-US" sz="1200">
              <a:latin typeface="Consolas" panose="020B0609020204030204" pitchFamily="49" charset="0"/>
            </a:endParaRPr>
          </a:p>
          <a:p>
            <a:endParaRPr lang="en-US" sz="1200">
              <a:latin typeface="Consolas" panose="020B0609020204030204" pitchFamily="49" charset="0"/>
            </a:endParaRPr>
          </a:p>
        </p:txBody>
      </p:sp>
    </p:spTree>
    <p:extLst>
      <p:ext uri="{BB962C8B-B14F-4D97-AF65-F5344CB8AC3E}">
        <p14:creationId xmlns:p14="http://schemas.microsoft.com/office/powerpoint/2010/main" val="9418912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D45B-602C-6A14-57FD-8DFBC4C352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C38CE3-D1D3-E9D6-3CD7-0E62FCF64D73}"/>
              </a:ext>
            </a:extLst>
          </p:cNvPr>
          <p:cNvSpPr txBox="1"/>
          <p:nvPr/>
        </p:nvSpPr>
        <p:spPr>
          <a:xfrm>
            <a:off x="53340" y="114300"/>
            <a:ext cx="8831580" cy="5047536"/>
          </a:xfrm>
          <a:prstGeom prst="rect">
            <a:avLst/>
          </a:prstGeom>
          <a:noFill/>
        </p:spPr>
        <p:txBody>
          <a:bodyPr wrap="square" rtlCol="0">
            <a:spAutoFit/>
          </a:bodyPr>
          <a:lstStyle/>
          <a:p>
            <a:r>
              <a:rPr lang="en-US" sz="1400" b="1"/>
              <a:t>Vignette # 2:</a:t>
            </a:r>
          </a:p>
          <a:p>
            <a:r>
              <a:rPr lang="en-US" sz="1400"/>
              <a:t>You have cleaned your hospitalization data. You now have 11,200 stays across 8,400 patients. Before you can report anything, you need to understand how long hospitalizations last. You reach for matplotlib.Before you write a single line of plotting code, you need to answer a question that sounds trivial: "What exactly am I plotting, and will I be able to reproduce it?</a:t>
            </a:r>
          </a:p>
          <a:p>
            <a:endParaRPr lang="en-US" sz="1400"/>
          </a:p>
          <a:p>
            <a:r>
              <a:rPr lang="en-US" sz="1400" b="1"/>
              <a:t>Problem 1</a:t>
            </a:r>
            <a:r>
              <a:rPr lang="en-US" sz="1400"/>
              <a:t> — The bin width is a scientific choice, not a formatting detail: A 1-day bin width shows noise. A 30-day bin width hides clinically meaningful variation. 7-day bins align with weekly discharge patterns. The choice belongs in your methods section — not buried in bins=range(0, 180, 7) on line 34 of a script.</a:t>
            </a:r>
          </a:p>
          <a:p>
            <a:endParaRPr lang="en-US" sz="1400"/>
          </a:p>
          <a:p>
            <a:r>
              <a:rPr lang="en-US" sz="1400" b="1"/>
              <a:t>Problem 2</a:t>
            </a:r>
            <a:r>
              <a:rPr lang="en-US" sz="1400"/>
              <a:t> — Percentile lines require decisions too: Which percentiles do you report — 25th, 50th, 75th, 90th? Do you label them on the plot? At what font size? A script that hardcodes np.percentile(durations, [25, 50, 75]) has made all of these choices silently.</a:t>
            </a:r>
          </a:p>
          <a:p>
            <a:endParaRPr lang="en-US" sz="1400"/>
          </a:p>
          <a:p>
            <a:r>
              <a:rPr lang="en-US" sz="1400" b="1"/>
              <a:t>Problem 3</a:t>
            </a:r>
            <a:r>
              <a:rPr lang="en-US" sz="1400"/>
              <a:t> — Stratification multiplies the problem: When your supervisor asks you to break the histogram down by hospital or DRG category, you now need consistent bin widths, consistent colors, and consistent percentile lines across every stratum. A script that hardcodes these for the unstratified case has to be rewritten for every stratification. </a:t>
            </a:r>
          </a:p>
          <a:p>
            <a:endParaRPr lang="en-US" sz="1400"/>
          </a:p>
          <a:p>
            <a:r>
              <a:rPr lang="en-US" sz="1400" b="1"/>
              <a:t>Problem 4</a:t>
            </a:r>
            <a:r>
              <a:rPr lang="en-US" sz="1400"/>
              <a:t> — Rerunning next month on updated data: Your data warehouse refreshes quarterly. When you rerun the analysis, are you using the same bins? The same color? The same percentile cutoffs? If these choices live in your script, the answer is "probably, unless someone edited it."</a:t>
            </a:r>
          </a:p>
          <a:p>
            <a:endParaRPr lang="en-US" sz="1400"/>
          </a:p>
          <a:p>
            <a:endParaRPr lang="en-US" sz="1400"/>
          </a:p>
        </p:txBody>
      </p:sp>
    </p:spTree>
    <p:extLst>
      <p:ext uri="{BB962C8B-B14F-4D97-AF65-F5344CB8AC3E}">
        <p14:creationId xmlns:p14="http://schemas.microsoft.com/office/powerpoint/2010/main" val="42790136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B9BBB-39F3-2B7C-DDBF-57DE83AC7EF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E849EF-6A37-0588-C735-BC228242980B}"/>
              </a:ext>
            </a:extLst>
          </p:cNvPr>
          <p:cNvSpPr txBox="1"/>
          <p:nvPr/>
        </p:nvSpPr>
        <p:spPr>
          <a:xfrm>
            <a:off x="53340" y="114300"/>
            <a:ext cx="8831580" cy="4832092"/>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Without Eventus: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We asked Claude to write code to plot a duration histogram with the following choices: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7-day bins from 0 to 180 days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Percentile lines at p25, p50, p75, p90</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Single color, white edges, 0.85 alpha</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Save to PNG at 150 dpi</a:t>
            </a:r>
          </a:p>
          <a:p>
            <a:endParaRPr lang="en-US" sz="1400">
              <a:latin typeface="Times New Roman" panose="02020603050405020304" pitchFamily="18" charset="0"/>
              <a:cs typeface="Times New Roman" panose="02020603050405020304" pitchFamily="18" charset="0"/>
            </a:endParaRPr>
          </a:p>
          <a:p>
            <a:r>
              <a:rPr lang="en-US" sz="1400" b="1">
                <a:latin typeface="Times New Roman" panose="02020603050405020304" pitchFamily="18" charset="0"/>
                <a:cs typeface="Times New Roman" panose="02020603050405020304" pitchFamily="18" charset="0"/>
              </a:rPr>
              <a:t>Unstratified: 34 lines, 25 lines of actual code</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We then asked Claude to add stratification by hospital</a:t>
            </a:r>
          </a:p>
          <a:p>
            <a:endParaRPr lang="en-US" sz="1400" b="1">
              <a:latin typeface="Times New Roman" panose="02020603050405020304" pitchFamily="18" charset="0"/>
              <a:cs typeface="Times New Roman" panose="02020603050405020304" pitchFamily="18" charset="0"/>
            </a:endParaRPr>
          </a:p>
          <a:p>
            <a:r>
              <a:rPr lang="en-US" sz="1400" b="1">
                <a:latin typeface="Times New Roman" panose="02020603050405020304" pitchFamily="18" charset="0"/>
                <a:cs typeface="Times New Roman" panose="02020603050405020304" pitchFamily="18" charset="0"/>
              </a:rPr>
              <a:t>Stratified: 53 lines, 41 lines of actual code</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What you don't get:</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Bin width, max, and start are three silent choices buried in bins=range(0, 181, 7) on one line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Percentile choices appear in two different places in the stratified script</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Color list breaks silently if you have more strata than hardcoded colors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shared configuration between the two scripts — changing bin width requires editing both</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validation — negative or null durations are silently plotted</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Rerun next month on updated data: are you using the same bins? Only if nobody touched the script</a:t>
            </a:r>
          </a:p>
          <a:p>
            <a:endParaRPr lang="en-US" sz="14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790766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E92C63-DF6B-CFFE-E3C1-0B68805040BD}"/>
              </a:ext>
            </a:extLst>
          </p:cNvPr>
          <p:cNvPicPr>
            <a:picLocks noChangeAspect="1"/>
          </p:cNvPicPr>
          <p:nvPr/>
        </p:nvPicPr>
        <p:blipFill>
          <a:blip r:embed="rId2"/>
          <a:stretch>
            <a:fillRect/>
          </a:stretch>
        </p:blipFill>
        <p:spPr>
          <a:xfrm>
            <a:off x="31569" y="782955"/>
            <a:ext cx="2668453" cy="3420836"/>
          </a:xfrm>
          <a:prstGeom prst="rect">
            <a:avLst/>
          </a:prstGeom>
        </p:spPr>
      </p:pic>
      <p:pic>
        <p:nvPicPr>
          <p:cNvPr id="3" name="Picture 2">
            <a:extLst>
              <a:ext uri="{FF2B5EF4-FFF2-40B4-BE49-F238E27FC236}">
                <a16:creationId xmlns:a16="http://schemas.microsoft.com/office/drawing/2014/main" id="{C1961B7E-1433-9E45-3FC9-64653761B194}"/>
              </a:ext>
            </a:extLst>
          </p:cNvPr>
          <p:cNvPicPr>
            <a:picLocks noChangeAspect="1"/>
          </p:cNvPicPr>
          <p:nvPr/>
        </p:nvPicPr>
        <p:blipFill>
          <a:blip r:embed="rId3"/>
          <a:stretch>
            <a:fillRect/>
          </a:stretch>
        </p:blipFill>
        <p:spPr>
          <a:xfrm>
            <a:off x="2776332" y="782955"/>
            <a:ext cx="6216970" cy="1219263"/>
          </a:xfrm>
          <a:prstGeom prst="rect">
            <a:avLst/>
          </a:prstGeom>
        </p:spPr>
      </p:pic>
      <p:sp>
        <p:nvSpPr>
          <p:cNvPr id="5" name="TextBox 4">
            <a:extLst>
              <a:ext uri="{FF2B5EF4-FFF2-40B4-BE49-F238E27FC236}">
                <a16:creationId xmlns:a16="http://schemas.microsoft.com/office/drawing/2014/main" id="{7E3D2E04-CD69-9F86-A946-3E65B340BB7E}"/>
              </a:ext>
            </a:extLst>
          </p:cNvPr>
          <p:cNvSpPr txBox="1"/>
          <p:nvPr/>
        </p:nvSpPr>
        <p:spPr>
          <a:xfrm>
            <a:off x="175260" y="108704"/>
            <a:ext cx="457200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4" name="TextBox 3">
            <a:extLst>
              <a:ext uri="{FF2B5EF4-FFF2-40B4-BE49-F238E27FC236}">
                <a16:creationId xmlns:a16="http://schemas.microsoft.com/office/drawing/2014/main" id="{3EC848BD-2938-A382-3D40-168444B12EDE}"/>
              </a:ext>
            </a:extLst>
          </p:cNvPr>
          <p:cNvSpPr txBox="1"/>
          <p:nvPr/>
        </p:nvSpPr>
        <p:spPr>
          <a:xfrm>
            <a:off x="3016431" y="2818117"/>
            <a:ext cx="4610100" cy="1015663"/>
          </a:xfrm>
          <a:prstGeom prst="rect">
            <a:avLst/>
          </a:prstGeom>
          <a:noFill/>
        </p:spPr>
        <p:txBody>
          <a:bodyPr wrap="square">
            <a:spAutoFit/>
          </a:bodyPr>
          <a:lstStyle/>
          <a:p>
            <a:r>
              <a:rPr lang="en-US" sz="1200"/>
              <a:t>30 lines in the configuration</a:t>
            </a:r>
          </a:p>
          <a:p>
            <a:r>
              <a:rPr lang="en-US" sz="1200"/>
              <a:t>8 lines in the code</a:t>
            </a:r>
          </a:p>
          <a:p>
            <a:endParaRPr lang="en-US" sz="1200"/>
          </a:p>
          <a:p>
            <a:r>
              <a:rPr lang="en-US" sz="1200"/>
              <a:t>Now available compared to previous script</a:t>
            </a:r>
          </a:p>
          <a:p>
            <a:r>
              <a:rPr lang="en-US" sz="1200"/>
              <a:t>Ability to change colors of percentile lines, title, etc...</a:t>
            </a:r>
          </a:p>
        </p:txBody>
      </p:sp>
    </p:spTree>
    <p:extLst>
      <p:ext uri="{BB962C8B-B14F-4D97-AF65-F5344CB8AC3E}">
        <p14:creationId xmlns:p14="http://schemas.microsoft.com/office/powerpoint/2010/main" val="35688947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E58DD6D-A032-EA4B-5E42-8B0BE9C55D90}"/>
              </a:ext>
            </a:extLst>
          </p:cNvPr>
          <p:cNvPicPr>
            <a:picLocks noChangeAspect="1"/>
          </p:cNvPicPr>
          <p:nvPr/>
        </p:nvPicPr>
        <p:blipFill>
          <a:blip r:embed="rId2"/>
          <a:stretch>
            <a:fillRect/>
          </a:stretch>
        </p:blipFill>
        <p:spPr>
          <a:xfrm>
            <a:off x="479844" y="293370"/>
            <a:ext cx="1661667" cy="2766037"/>
          </a:xfrm>
          <a:prstGeom prst="rect">
            <a:avLst/>
          </a:prstGeom>
        </p:spPr>
      </p:pic>
      <p:cxnSp>
        <p:nvCxnSpPr>
          <p:cNvPr id="6" name="Straight Arrow Connector 5">
            <a:extLst>
              <a:ext uri="{FF2B5EF4-FFF2-40B4-BE49-F238E27FC236}">
                <a16:creationId xmlns:a16="http://schemas.microsoft.com/office/drawing/2014/main" id="{8CACE841-F5C2-5EE8-AA77-6D6D9288E326}"/>
              </a:ext>
            </a:extLst>
          </p:cNvPr>
          <p:cNvCxnSpPr/>
          <p:nvPr/>
        </p:nvCxnSpPr>
        <p:spPr>
          <a:xfrm>
            <a:off x="3202577" y="1096023"/>
            <a:ext cx="16903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ADA85780-509D-8B9B-6FEB-966E2605AE9F}"/>
              </a:ext>
            </a:extLst>
          </p:cNvPr>
          <p:cNvSpPr txBox="1"/>
          <p:nvPr/>
        </p:nvSpPr>
        <p:spPr>
          <a:xfrm>
            <a:off x="5353414" y="957523"/>
            <a:ext cx="3307081" cy="276999"/>
          </a:xfrm>
          <a:prstGeom prst="rect">
            <a:avLst/>
          </a:prstGeom>
          <a:ln w="38100">
            <a:solidFill>
              <a:schemeClr val="tx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HistogramConfig</a:t>
            </a:r>
          </a:p>
        </p:txBody>
      </p:sp>
      <p:sp>
        <p:nvSpPr>
          <p:cNvPr id="8" name="TextBox 7">
            <a:extLst>
              <a:ext uri="{FF2B5EF4-FFF2-40B4-BE49-F238E27FC236}">
                <a16:creationId xmlns:a16="http://schemas.microsoft.com/office/drawing/2014/main" id="{BD93D951-A208-A2A4-1EEB-5FF7E2791949}"/>
              </a:ext>
            </a:extLst>
          </p:cNvPr>
          <p:cNvSpPr txBox="1"/>
          <p:nvPr/>
        </p:nvSpPr>
        <p:spPr>
          <a:xfrm>
            <a:off x="6537960" y="3908978"/>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10" name="TextBox 9">
            <a:extLst>
              <a:ext uri="{FF2B5EF4-FFF2-40B4-BE49-F238E27FC236}">
                <a16:creationId xmlns:a16="http://schemas.microsoft.com/office/drawing/2014/main" id="{8143688A-196F-75BF-BADF-0A2693B3D962}"/>
              </a:ext>
            </a:extLst>
          </p:cNvPr>
          <p:cNvSpPr txBox="1"/>
          <p:nvPr/>
        </p:nvSpPr>
        <p:spPr>
          <a:xfrm>
            <a:off x="3498488" y="2736993"/>
            <a:ext cx="3307081" cy="276999"/>
          </a:xfrm>
          <a:prstGeom prst="rect">
            <a:avLst/>
          </a:prstGeom>
          <a:ln>
            <a:solidFill>
              <a:schemeClr val="accent1"/>
            </a:solidFill>
          </a:ln>
          <a:effectLst>
            <a:glow rad="101600">
              <a:srgbClr val="7030A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EventsDurationPlotter</a:t>
            </a:r>
          </a:p>
        </p:txBody>
      </p:sp>
      <p:cxnSp>
        <p:nvCxnSpPr>
          <p:cNvPr id="11" name="Straight Arrow Connector 10">
            <a:extLst>
              <a:ext uri="{FF2B5EF4-FFF2-40B4-BE49-F238E27FC236}">
                <a16:creationId xmlns:a16="http://schemas.microsoft.com/office/drawing/2014/main" id="{5180FF59-F59B-6A46-5E4D-42B54D6F06F8}"/>
              </a:ext>
            </a:extLst>
          </p:cNvPr>
          <p:cNvCxnSpPr>
            <a:cxnSpLocks/>
            <a:stCxn id="7" idx="2"/>
            <a:endCxn id="10" idx="0"/>
          </p:cNvCxnSpPr>
          <p:nvPr/>
        </p:nvCxnSpPr>
        <p:spPr>
          <a:xfrm flipH="1">
            <a:off x="5152029" y="1234522"/>
            <a:ext cx="1854926" cy="150247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231FB2C-3DCF-1058-D949-9EB9CA944FC4}"/>
              </a:ext>
            </a:extLst>
          </p:cNvPr>
          <p:cNvCxnSpPr>
            <a:cxnSpLocks/>
            <a:stCxn id="8" idx="0"/>
            <a:endCxn id="10" idx="2"/>
          </p:cNvCxnSpPr>
          <p:nvPr/>
        </p:nvCxnSpPr>
        <p:spPr>
          <a:xfrm flipH="1" flipV="1">
            <a:off x="5152029" y="3013992"/>
            <a:ext cx="2620372" cy="8949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ABAE77F-0AF0-A6AF-25A2-260535EEB8AA}"/>
              </a:ext>
            </a:extLst>
          </p:cNvPr>
          <p:cNvCxnSpPr>
            <a:cxnSpLocks/>
          </p:cNvCxnSpPr>
          <p:nvPr/>
        </p:nvCxnSpPr>
        <p:spPr>
          <a:xfrm flipH="1">
            <a:off x="1691640" y="2880830"/>
            <a:ext cx="1770445" cy="6330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E8C2F4E1-A1DB-0571-EE44-4367B03B2021}"/>
              </a:ext>
            </a:extLst>
          </p:cNvPr>
          <p:cNvSpPr txBox="1"/>
          <p:nvPr/>
        </p:nvSpPr>
        <p:spPr>
          <a:xfrm>
            <a:off x="6805569" y="1398164"/>
            <a:ext cx="2400299" cy="1200329"/>
          </a:xfrm>
          <a:prstGeom prst="rect">
            <a:avLst/>
          </a:prstGeom>
          <a:noFill/>
        </p:spPr>
        <p:txBody>
          <a:bodyPr wrap="square">
            <a:spAutoFit/>
          </a:bodyPr>
          <a:lstStyle/>
          <a:p>
            <a:r>
              <a:rPr lang="en-US" sz="1200"/>
              <a:t>The plotter receives a HistogramConfig object — not a dictionary, not keyword arguments. If it exists, it passed validation. No defensive checks needed inside the plotter."</a:t>
            </a:r>
          </a:p>
        </p:txBody>
      </p:sp>
      <p:sp>
        <p:nvSpPr>
          <p:cNvPr id="30" name="TextBox 29">
            <a:extLst>
              <a:ext uri="{FF2B5EF4-FFF2-40B4-BE49-F238E27FC236}">
                <a16:creationId xmlns:a16="http://schemas.microsoft.com/office/drawing/2014/main" id="{6931BFF8-AF16-3585-34E8-F928C6843F8B}"/>
              </a:ext>
            </a:extLst>
          </p:cNvPr>
          <p:cNvSpPr txBox="1"/>
          <p:nvPr/>
        </p:nvSpPr>
        <p:spPr>
          <a:xfrm>
            <a:off x="4533899" y="4377962"/>
            <a:ext cx="4610100" cy="646331"/>
          </a:xfrm>
          <a:prstGeom prst="rect">
            <a:avLst/>
          </a:prstGeom>
          <a:noFill/>
        </p:spPr>
        <p:txBody>
          <a:bodyPr wrap="square">
            <a:spAutoFit/>
          </a:bodyPr>
          <a:lstStyle/>
          <a:p>
            <a:r>
              <a:rPr lang="en-US" sz="1200"/>
              <a:t>The plotter receives an Events object — not a raw DataFrame. The contract was already enforced at construction. The plotter knows exactly what it's getting: clean data, valid columns, no nulls</a:t>
            </a:r>
          </a:p>
        </p:txBody>
      </p:sp>
      <p:sp>
        <p:nvSpPr>
          <p:cNvPr id="31" name="TextBox 30">
            <a:extLst>
              <a:ext uri="{FF2B5EF4-FFF2-40B4-BE49-F238E27FC236}">
                <a16:creationId xmlns:a16="http://schemas.microsoft.com/office/drawing/2014/main" id="{14B616DE-1141-9991-EAD0-B0FC3ADD5C41}"/>
              </a:ext>
            </a:extLst>
          </p:cNvPr>
          <p:cNvSpPr txBox="1"/>
          <p:nvPr/>
        </p:nvSpPr>
        <p:spPr>
          <a:xfrm>
            <a:off x="2232660" y="255842"/>
            <a:ext cx="4610100" cy="646331"/>
          </a:xfrm>
          <a:prstGeom prst="rect">
            <a:avLst/>
          </a:prstGeom>
          <a:noFill/>
        </p:spPr>
        <p:txBody>
          <a:bodyPr wrap="square">
            <a:spAutoFit/>
          </a:bodyPr>
          <a:lstStyle/>
          <a:p>
            <a:r>
              <a:rPr lang="en-US" sz="1200"/>
              <a:t>Every analytical and visual choice lives in the YAML — bin width, percentile lines, colors, figure size. Change one number in one file. Nothing in your code changes</a:t>
            </a:r>
          </a:p>
        </p:txBody>
      </p:sp>
      <p:pic>
        <p:nvPicPr>
          <p:cNvPr id="12" name="Picture 11">
            <a:extLst>
              <a:ext uri="{FF2B5EF4-FFF2-40B4-BE49-F238E27FC236}">
                <a16:creationId xmlns:a16="http://schemas.microsoft.com/office/drawing/2014/main" id="{41A1AE51-A094-117A-494F-8BF84282E1B7}"/>
              </a:ext>
            </a:extLst>
          </p:cNvPr>
          <p:cNvPicPr>
            <a:picLocks noChangeAspect="1"/>
          </p:cNvPicPr>
          <p:nvPr/>
        </p:nvPicPr>
        <p:blipFill>
          <a:blip r:embed="rId3"/>
          <a:stretch>
            <a:fillRect/>
          </a:stretch>
        </p:blipFill>
        <p:spPr>
          <a:xfrm>
            <a:off x="0" y="3618742"/>
            <a:ext cx="3105214" cy="1530621"/>
          </a:xfrm>
          <a:prstGeom prst="rect">
            <a:avLst/>
          </a:prstGeom>
        </p:spPr>
      </p:pic>
    </p:spTree>
    <p:extLst>
      <p:ext uri="{BB962C8B-B14F-4D97-AF65-F5344CB8AC3E}">
        <p14:creationId xmlns:p14="http://schemas.microsoft.com/office/powerpoint/2010/main" val="34055234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405FE-66B9-BAAA-2C0B-1DCD27333B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ECCE796-3030-BCD4-2912-9AB98EA9D40C}"/>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4" name="TextBox 3">
            <a:extLst>
              <a:ext uri="{FF2B5EF4-FFF2-40B4-BE49-F238E27FC236}">
                <a16:creationId xmlns:a16="http://schemas.microsoft.com/office/drawing/2014/main" id="{D9AA9C49-8692-6E01-D2A5-42F498DDBBB9}"/>
              </a:ext>
            </a:extLst>
          </p:cNvPr>
          <p:cNvSpPr txBox="1"/>
          <p:nvPr/>
        </p:nvSpPr>
        <p:spPr>
          <a:xfrm>
            <a:off x="2868387" y="159848"/>
            <a:ext cx="5882640" cy="2292935"/>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 -&gt; Events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Events</a:t>
            </a:r>
          </a:p>
          <a:p>
            <a:r>
              <a:rPr lang="en-US" sz="1100" i="1">
                <a:latin typeface="Consolas" panose="020B0609020204030204" pitchFamily="49" charset="0"/>
              </a:rPr>
              <a:t>filter_by_dates</a:t>
            </a:r>
            <a:r>
              <a:rPr lang="en-US" sz="1100">
                <a:latin typeface="Consolas" panose="020B0609020204030204" pitchFamily="49" charset="0"/>
              </a:rPr>
              <a:t>(start, end) -&gt; Events</a:t>
            </a:r>
            <a:br>
              <a:rPr lang="en-US" sz="1100">
                <a:latin typeface="Consolas" panose="020B0609020204030204" pitchFamily="49" charset="0"/>
              </a:rPr>
            </a:br>
            <a:r>
              <a:rPr lang="en-US" sz="1100" i="1">
                <a:latin typeface="Consolas" panose="020B0609020204030204" pitchFamily="49" charset="0"/>
              </a:rPr>
              <a:t>copy</a:t>
            </a:r>
            <a:r>
              <a:rPr lang="en-US" sz="1100">
                <a:latin typeface="Consolas" panose="020B0609020204030204" pitchFamily="49" charset="0"/>
              </a:rPr>
              <a:t>() -&gt; Events</a:t>
            </a:r>
            <a:br>
              <a:rPr lang="en-US" sz="1100">
                <a:latin typeface="Consolas" panose="020B0609020204030204" pitchFamily="49" charset="0"/>
              </a:rPr>
            </a:br>
            <a:r>
              <a:rPr lang="en-US" sz="1100">
                <a:latin typeface="Consolas" panose="020B0609020204030204" pitchFamily="49" charset="0"/>
              </a:rPr>
              <a:t>build_</a:t>
            </a:r>
            <a:r>
              <a:rPr lang="en-US" sz="1100" i="1">
                <a:latin typeface="Consolas" panose="020B0609020204030204" pitchFamily="49" charset="0"/>
              </a:rPr>
              <a:t>summary</a:t>
            </a:r>
            <a:r>
              <a:rPr lang="en-US" sz="1100">
                <a:latin typeface="Consolas" panose="020B0609020204030204" pitchFamily="49" charset="0"/>
              </a:rPr>
              <a:t>() -&gt; dict</a:t>
            </a:r>
          </a:p>
          <a:p>
            <a:r>
              <a:rPr lang="en-US" sz="1100">
                <a:latin typeface="Consolas" panose="020B0609020204030204" pitchFamily="49" charset="0"/>
              </a:rPr>
              <a:t>print_summary() -&gt; None</a:t>
            </a:r>
          </a:p>
          <a:p>
            <a:endParaRPr lang="en-US" sz="1100" i="1">
              <a:latin typeface="Consolas" panose="020B0609020204030204" pitchFamily="49" charset="0"/>
            </a:endParaRPr>
          </a:p>
          <a:p>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Tree>
    <p:extLst>
      <p:ext uri="{BB962C8B-B14F-4D97-AF65-F5344CB8AC3E}">
        <p14:creationId xmlns:p14="http://schemas.microsoft.com/office/powerpoint/2010/main" val="25591884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6DC87-1488-B144-8BEE-2947361EB1F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E81083-C30D-514E-02F4-A4C83B2BC0B2}"/>
              </a:ext>
            </a:extLst>
          </p:cNvPr>
          <p:cNvSpPr txBox="1"/>
          <p:nvPr/>
        </p:nvSpPr>
        <p:spPr>
          <a:xfrm>
            <a:off x="3721826" y="2791280"/>
            <a:ext cx="5882640" cy="1200329"/>
          </a:xfrm>
          <a:prstGeom prst="rect">
            <a:avLst/>
          </a:prstGeom>
          <a:noFill/>
        </p:spPr>
        <p:txBody>
          <a:bodyPr wrap="square" rtlCol="0">
            <a:spAutoFit/>
          </a:bodyPr>
          <a:lstStyle/>
          <a:p>
            <a:r>
              <a:rPr lang="en-US" sz="1200" b="1">
                <a:latin typeface="Consolas" panose="020B0609020204030204" pitchFamily="49" charset="0"/>
              </a:rPr>
              <a:t>Constructor</a:t>
            </a:r>
          </a:p>
          <a:p>
            <a:r>
              <a:rPr lang="en-US" sz="1200" i="1">
                <a:latin typeface="Consolas" panose="020B0609020204030204" pitchFamily="49" charset="0"/>
              </a:rPr>
              <a:t>__init__</a:t>
            </a:r>
            <a:r>
              <a:rPr lang="en-US" sz="1200">
                <a:latin typeface="Consolas" panose="020B0609020204030204" pitchFamily="49" charset="0"/>
              </a:rPr>
              <a:t>(events, stratify_by) -&gt; EventsDurationPlotter</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i="1">
                <a:latin typeface="Consolas" panose="020B0609020204030204" pitchFamily="49" charset="0"/>
              </a:rPr>
              <a:t>plot_histogram</a:t>
            </a:r>
            <a:r>
              <a:rPr lang="en-US" sz="1200">
                <a:latin typeface="Consolas" panose="020B0609020204030204" pitchFamily="49" charset="0"/>
              </a:rPr>
              <a:t>(path, histogram_config)</a:t>
            </a:r>
            <a:br>
              <a:rPr lang="en-US" sz="1200">
                <a:latin typeface="Consolas" panose="020B0609020204030204" pitchFamily="49" charset="0"/>
              </a:rPr>
            </a:br>
            <a:r>
              <a:rPr lang="en-US" sz="1200" i="1">
                <a:latin typeface="Consolas" panose="020B0609020204030204" pitchFamily="49" charset="0"/>
              </a:rPr>
              <a:t>plot_violin</a:t>
            </a:r>
            <a:r>
              <a:rPr lang="en-US" sz="1200">
                <a:latin typeface="Consolas" panose="020B0609020204030204" pitchFamily="49" charset="0"/>
              </a:rPr>
              <a:t>(violin_config)</a:t>
            </a:r>
          </a:p>
        </p:txBody>
      </p:sp>
      <p:sp>
        <p:nvSpPr>
          <p:cNvPr id="2" name="TextBox 1">
            <a:extLst>
              <a:ext uri="{FF2B5EF4-FFF2-40B4-BE49-F238E27FC236}">
                <a16:creationId xmlns:a16="http://schemas.microsoft.com/office/drawing/2014/main" id="{4F0C5A8C-0845-2ABF-4572-5E72F63C184F}"/>
              </a:ext>
            </a:extLst>
          </p:cNvPr>
          <p:cNvSpPr txBox="1"/>
          <p:nvPr/>
        </p:nvSpPr>
        <p:spPr>
          <a:xfrm>
            <a:off x="117565" y="2801530"/>
            <a:ext cx="3307081" cy="830997"/>
          </a:xfrm>
          <a:prstGeom prst="rect">
            <a:avLst/>
          </a:prstGeom>
          <a:ln>
            <a:solidFill>
              <a:schemeClr val="accent1"/>
            </a:solidFill>
          </a:ln>
          <a:effectLst>
            <a:glow rad="101600">
              <a:srgbClr val="7030A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EventsDurationPlotter</a:t>
            </a:r>
          </a:p>
          <a:p>
            <a:pPr algn="ctr"/>
            <a:r>
              <a:rPr lang="en-US" sz="1200">
                <a:latin typeface="Consolas" panose="020B0609020204030204" pitchFamily="49" charset="0"/>
                <a:cs typeface="Times New Roman" panose="02020603050405020304" pitchFamily="18" charset="0"/>
              </a:rPr>
              <a:t>events: Events</a:t>
            </a:r>
          </a:p>
          <a:p>
            <a:pPr algn="ctr"/>
            <a:r>
              <a:rPr lang="en-US" sz="1200">
                <a:latin typeface="Consolas" panose="020B0609020204030204" pitchFamily="49" charset="0"/>
                <a:cs typeface="Times New Roman" panose="02020603050405020304" pitchFamily="18" charset="0"/>
              </a:rPr>
              <a:t>stratify_by: str | None</a:t>
            </a:r>
          </a:p>
          <a:p>
            <a:pPr algn="ctr"/>
            <a:endParaRPr lang="en-US" sz="1200" b="1">
              <a:latin typeface="Consolas" panose="020B0609020204030204" pitchFamily="49" charset="0"/>
              <a:cs typeface="Times New Roman" panose="02020603050405020304" pitchFamily="18" charset="0"/>
            </a:endParaRPr>
          </a:p>
        </p:txBody>
      </p:sp>
      <p:sp>
        <p:nvSpPr>
          <p:cNvPr id="6" name="TextBox 5">
            <a:extLst>
              <a:ext uri="{FF2B5EF4-FFF2-40B4-BE49-F238E27FC236}">
                <a16:creationId xmlns:a16="http://schemas.microsoft.com/office/drawing/2014/main" id="{342C601A-70BD-9466-ACE5-11BC6F74DC4C}"/>
              </a:ext>
            </a:extLst>
          </p:cNvPr>
          <p:cNvSpPr txBox="1"/>
          <p:nvPr/>
        </p:nvSpPr>
        <p:spPr>
          <a:xfrm>
            <a:off x="117565" y="88810"/>
            <a:ext cx="3307081" cy="1384995"/>
          </a:xfrm>
          <a:prstGeom prst="rect">
            <a:avLst/>
          </a:prstGeom>
          <a:ln w="38100">
            <a:solidFill>
              <a:schemeClr val="tx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HistogramConfig</a:t>
            </a:r>
          </a:p>
          <a:p>
            <a:pPr algn="ctr"/>
            <a:r>
              <a:rPr lang="en-US" sz="1200">
                <a:latin typeface="Consolas" panose="020B0609020204030204" pitchFamily="49" charset="0"/>
                <a:cs typeface="Times New Roman" panose="02020603050405020304" pitchFamily="18" charset="0"/>
              </a:rPr>
              <a:t>bins: BinsConfig</a:t>
            </a:r>
          </a:p>
          <a:p>
            <a:pPr algn="ctr"/>
            <a:r>
              <a:rPr lang="en-US" sz="1200">
                <a:latin typeface="Consolas" panose="020B0609020204030204" pitchFamily="49" charset="0"/>
                <a:cs typeface="Times New Roman" panose="02020603050405020304" pitchFamily="18" charset="0"/>
              </a:rPr>
              <a:t>labels: LabelsConfig</a:t>
            </a:r>
          </a:p>
          <a:p>
            <a:pPr algn="ctr"/>
            <a:r>
              <a:rPr lang="en-US" sz="1200">
                <a:latin typeface="Consolas" panose="020B0609020204030204" pitchFamily="49" charset="0"/>
                <a:cs typeface="Times New Roman" panose="02020603050405020304" pitchFamily="18" charset="0"/>
              </a:rPr>
              <a:t>style: StyleConfig</a:t>
            </a:r>
          </a:p>
          <a:p>
            <a:pPr algn="ctr"/>
            <a:r>
              <a:rPr lang="en-US" sz="1200">
                <a:latin typeface="Consolas" panose="020B0609020204030204" pitchFamily="49" charset="0"/>
                <a:cs typeface="Times New Roman" panose="02020603050405020304" pitchFamily="18" charset="0"/>
              </a:rPr>
              <a:t>percentile_lines: PercentilesConfig</a:t>
            </a:r>
          </a:p>
          <a:p>
            <a:pPr algn="ctr"/>
            <a:r>
              <a:rPr lang="en-US" sz="1200">
                <a:latin typeface="Consolas" panose="020B0609020204030204" pitchFamily="49" charset="0"/>
                <a:cs typeface="Times New Roman" panose="02020603050405020304" pitchFamily="18" charset="0"/>
              </a:rPr>
              <a:t>stratification: StratificationConfig</a:t>
            </a:r>
          </a:p>
          <a:p>
            <a:pPr algn="ctr"/>
            <a:endParaRPr lang="en-US" sz="1200" b="1">
              <a:latin typeface="Consolas" panose="020B0609020204030204" pitchFamily="49" charset="0"/>
              <a:cs typeface="Times New Roman" panose="02020603050405020304" pitchFamily="18" charset="0"/>
            </a:endParaRPr>
          </a:p>
        </p:txBody>
      </p:sp>
      <p:sp>
        <p:nvSpPr>
          <p:cNvPr id="8" name="TextBox 7">
            <a:extLst>
              <a:ext uri="{FF2B5EF4-FFF2-40B4-BE49-F238E27FC236}">
                <a16:creationId xmlns:a16="http://schemas.microsoft.com/office/drawing/2014/main" id="{C371DB02-8447-1BB9-B74E-B2ED3427D236}"/>
              </a:ext>
            </a:extLst>
          </p:cNvPr>
          <p:cNvSpPr txBox="1"/>
          <p:nvPr/>
        </p:nvSpPr>
        <p:spPr>
          <a:xfrm>
            <a:off x="3874226" y="181142"/>
            <a:ext cx="5882640" cy="1200329"/>
          </a:xfrm>
          <a:prstGeom prst="rect">
            <a:avLst/>
          </a:prstGeom>
          <a:noFill/>
        </p:spPr>
        <p:txBody>
          <a:bodyPr wrap="square" rtlCol="0">
            <a:spAutoFit/>
          </a:bodyPr>
          <a:lstStyle/>
          <a:p>
            <a:r>
              <a:rPr lang="en-US" sz="1200" b="1">
                <a:latin typeface="Consolas" panose="020B0609020204030204" pitchFamily="49" charset="0"/>
              </a:rPr>
              <a:t>Class Method Constructors</a:t>
            </a:r>
          </a:p>
          <a:p>
            <a:r>
              <a:rPr lang="en-US" sz="1200" i="1">
                <a:latin typeface="Consolas" panose="020B0609020204030204" pitchFamily="49" charset="0"/>
              </a:rPr>
              <a:t>build_with_defaults</a:t>
            </a:r>
            <a:r>
              <a:rPr lang="en-US" sz="1200">
                <a:latin typeface="Consolas" panose="020B0609020204030204" pitchFamily="49" charset="0"/>
              </a:rPr>
              <a:t>() -&gt; HistogramConfig</a:t>
            </a:r>
          </a:p>
          <a:p>
            <a:r>
              <a:rPr lang="en-US" sz="1200" i="1">
                <a:latin typeface="Consolas" panose="020B0609020204030204" pitchFamily="49" charset="0"/>
              </a:rPr>
              <a:t>build_from_yaml</a:t>
            </a:r>
            <a:r>
              <a:rPr lang="en-US" sz="1200">
                <a:latin typeface="Consolas" panose="020B0609020204030204" pitchFamily="49" charset="0"/>
              </a:rPr>
              <a:t>(path) -&gt; HistogramConfig</a:t>
            </a:r>
            <a:br>
              <a:rPr lang="en-US" sz="1200">
                <a:latin typeface="Consolas" panose="020B0609020204030204" pitchFamily="49" charset="0"/>
              </a:rPr>
            </a:br>
            <a:endParaRPr lang="en-US" sz="1200">
              <a:latin typeface="Consolas" panose="020B0609020204030204" pitchFamily="49" charset="0"/>
            </a:endParaRPr>
          </a:p>
          <a:p>
            <a:r>
              <a:rPr lang="en-US" sz="1200" b="1">
                <a:latin typeface="Consolas" panose="020B0609020204030204" pitchFamily="49" charset="0"/>
              </a:rPr>
              <a:t>Method</a:t>
            </a:r>
          </a:p>
          <a:p>
            <a:r>
              <a:rPr lang="en-US" sz="1200" i="1">
                <a:latin typeface="Consolas" panose="020B0609020204030204" pitchFamily="49" charset="0"/>
              </a:rPr>
              <a:t>to_yaml</a:t>
            </a:r>
            <a:r>
              <a:rPr lang="en-US" sz="1200">
                <a:latin typeface="Consolas" panose="020B0609020204030204" pitchFamily="49" charset="0"/>
              </a:rPr>
              <a:t>(path) -&gt; None</a:t>
            </a:r>
          </a:p>
        </p:txBody>
      </p:sp>
      <p:sp>
        <p:nvSpPr>
          <p:cNvPr id="3" name="TextBox 2">
            <a:extLst>
              <a:ext uri="{FF2B5EF4-FFF2-40B4-BE49-F238E27FC236}">
                <a16:creationId xmlns:a16="http://schemas.microsoft.com/office/drawing/2014/main" id="{159900D8-9F94-3733-850B-DA6FEFA1EFC5}"/>
              </a:ext>
            </a:extLst>
          </p:cNvPr>
          <p:cNvSpPr txBox="1"/>
          <p:nvPr/>
        </p:nvSpPr>
        <p:spPr>
          <a:xfrm>
            <a:off x="564204" y="1563068"/>
            <a:ext cx="3044758" cy="430887"/>
          </a:xfrm>
          <a:prstGeom prst="rect">
            <a:avLst/>
          </a:prstGeom>
          <a:noFill/>
        </p:spPr>
        <p:txBody>
          <a:bodyPr wrap="square" rtlCol="0">
            <a:spAutoFit/>
          </a:bodyPr>
          <a:lstStyle/>
          <a:p>
            <a:r>
              <a:rPr lang="en-US" sz="1100">
                <a:latin typeface="Times New Roman" panose="02020603050405020304" pitchFamily="18" charset="0"/>
                <a:cs typeface="Times New Roman" panose="02020603050405020304" pitchFamily="18" charset="0"/>
              </a:rPr>
              <a:t>subclasses check that there is enough information for bins, labels, etc...</a:t>
            </a:r>
          </a:p>
        </p:txBody>
      </p:sp>
    </p:spTree>
    <p:extLst>
      <p:ext uri="{BB962C8B-B14F-4D97-AF65-F5344CB8AC3E}">
        <p14:creationId xmlns:p14="http://schemas.microsoft.com/office/powerpoint/2010/main" val="18876317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ACEBF6-C03B-7169-B05C-1EE47DF20359}"/>
              </a:ext>
            </a:extLst>
          </p:cNvPr>
          <p:cNvSpPr txBox="1"/>
          <p:nvPr/>
        </p:nvSpPr>
        <p:spPr>
          <a:xfrm>
            <a:off x="6111240" y="110728"/>
            <a:ext cx="457200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Bonus</a:t>
            </a:r>
          </a:p>
        </p:txBody>
      </p:sp>
      <p:pic>
        <p:nvPicPr>
          <p:cNvPr id="4" name="Picture 3">
            <a:extLst>
              <a:ext uri="{FF2B5EF4-FFF2-40B4-BE49-F238E27FC236}">
                <a16:creationId xmlns:a16="http://schemas.microsoft.com/office/drawing/2014/main" id="{AE03D086-609D-CD8B-A11F-09732026FA77}"/>
              </a:ext>
            </a:extLst>
          </p:cNvPr>
          <p:cNvPicPr>
            <a:picLocks noChangeAspect="1"/>
          </p:cNvPicPr>
          <p:nvPr/>
        </p:nvPicPr>
        <p:blipFill>
          <a:blip r:embed="rId2"/>
          <a:stretch>
            <a:fillRect/>
          </a:stretch>
        </p:blipFill>
        <p:spPr>
          <a:xfrm>
            <a:off x="272526" y="1012370"/>
            <a:ext cx="4612048" cy="2664279"/>
          </a:xfrm>
          <a:prstGeom prst="rect">
            <a:avLst/>
          </a:prstGeom>
        </p:spPr>
      </p:pic>
      <p:pic>
        <p:nvPicPr>
          <p:cNvPr id="6" name="Picture 5">
            <a:extLst>
              <a:ext uri="{FF2B5EF4-FFF2-40B4-BE49-F238E27FC236}">
                <a16:creationId xmlns:a16="http://schemas.microsoft.com/office/drawing/2014/main" id="{390E3FF2-36D2-7DBF-F667-8EDAC061C194}"/>
              </a:ext>
            </a:extLst>
          </p:cNvPr>
          <p:cNvPicPr>
            <a:picLocks noChangeAspect="1"/>
          </p:cNvPicPr>
          <p:nvPr/>
        </p:nvPicPr>
        <p:blipFill>
          <a:blip r:embed="rId3"/>
          <a:stretch>
            <a:fillRect/>
          </a:stretch>
        </p:blipFill>
        <p:spPr>
          <a:xfrm>
            <a:off x="4961917" y="1012370"/>
            <a:ext cx="4054414" cy="3927021"/>
          </a:xfrm>
          <a:prstGeom prst="rect">
            <a:avLst/>
          </a:prstGeom>
        </p:spPr>
      </p:pic>
    </p:spTree>
    <p:extLst>
      <p:ext uri="{BB962C8B-B14F-4D97-AF65-F5344CB8AC3E}">
        <p14:creationId xmlns:p14="http://schemas.microsoft.com/office/powerpoint/2010/main" val="42271300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C378200-6871-541B-180D-80B335EA2BAA}"/>
              </a:ext>
            </a:extLst>
          </p:cNvPr>
          <p:cNvSpPr txBox="1"/>
          <p:nvPr/>
        </p:nvSpPr>
        <p:spPr>
          <a:xfrm>
            <a:off x="312420" y="371147"/>
            <a:ext cx="8831580" cy="4185761"/>
          </a:xfrm>
          <a:prstGeom prst="rect">
            <a:avLst/>
          </a:prstGeom>
          <a:noFill/>
        </p:spPr>
        <p:txBody>
          <a:bodyPr wrap="square" rtlCol="0">
            <a:spAutoFit/>
          </a:bodyPr>
          <a:lstStyle/>
          <a:p>
            <a:r>
              <a:rPr lang="en-US" sz="1400" b="1"/>
              <a:t>Vignette #3A</a:t>
            </a:r>
          </a:p>
          <a:p>
            <a:r>
              <a:rPr lang="en-US" sz="1400"/>
              <a:t>You have cleaned your hospitalization data. You now have 11,200 stays across 8,400 patients. Before you can ask any scientific question about hospitalization burden, you want to do something simple first: look at the data.Not a table. Not a summary statistic. A picture — one row per patient, showing where in the year their hospitalizations fell, how long each stay lasted, and how much of the year they spent not hospitalized.</a:t>
            </a:r>
          </a:p>
          <a:p>
            <a:r>
              <a:rPr lang="en-US" sz="1400" b="1"/>
              <a:t>Problem 1 — </a:t>
            </a:r>
            <a:r>
              <a:rPr lang="en-US" sz="1400"/>
              <a:t>The observation period is a first-class object: Every patient shares the same calendar window — January 1 to December 31, 2022. But a hospitalization admitted December 15 and discharged January 20 must be clipped to December 31. A script that does not clip overcounts active days and draws bars that extend past the observation window.</a:t>
            </a:r>
          </a:p>
          <a:p>
            <a:r>
              <a:rPr lang="en-US" sz="1400" b="1"/>
              <a:t>Problem 2 — </a:t>
            </a:r>
            <a:r>
              <a:rPr lang="en-US" sz="1400"/>
              <a:t>Patients with no hospitalizations are real patients: They have an observation period. They belong in the plot — as a full bar with no event segments. A script that joins on hospitalizations silently drops them. Your denominator is wrong and the plot is misleading.</a:t>
            </a:r>
          </a:p>
          <a:p>
            <a:r>
              <a:rPr lang="en-US" sz="1400" b="1"/>
              <a:t>Problem 3 — </a:t>
            </a:r>
            <a:r>
              <a:rPr lang="en-US" sz="1400"/>
              <a:t>The plot has to be reproducible: Row height, bar height ratio, colors, marker sizes, font sizes, DPI — a script that hardcodes these cannot be versioned, shared, or rerun </a:t>
            </a:r>
          </a:p>
          <a:p>
            <a:r>
              <a:rPr lang="en-US" sz="1400"/>
              <a:t>consistently. Next month's update will look different unless someone is very careful.</a:t>
            </a:r>
          </a:p>
          <a:p>
            <a:r>
              <a:rPr lang="en-US" sz="1400" b="1"/>
              <a:t>Problem 4 — </a:t>
            </a:r>
            <a:r>
              <a:rPr lang="en-US" sz="1400"/>
              <a:t>You may want to plot times without hospitalization may in three colors, not two: Inactive time before the first hospitalization tells a different story than inactive time between hospitalizations, which tells a different story than inactive time after the last one. For a Medicaid coverage vignette, you may be more interested in gaps between events and want to color them differently.</a:t>
            </a:r>
          </a:p>
        </p:txBody>
      </p:sp>
    </p:spTree>
    <p:extLst>
      <p:ext uri="{BB962C8B-B14F-4D97-AF65-F5344CB8AC3E}">
        <p14:creationId xmlns:p14="http://schemas.microsoft.com/office/powerpoint/2010/main" val="35491079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C770A8A-B0CC-C65A-74B2-AC7976D9778D}"/>
              </a:ext>
            </a:extLst>
          </p:cNvPr>
          <p:cNvSpPr txBox="1"/>
          <p:nvPr/>
        </p:nvSpPr>
        <p:spPr>
          <a:xfrm>
            <a:off x="236220" y="286822"/>
            <a:ext cx="6240780" cy="1569660"/>
          </a:xfrm>
          <a:prstGeom prst="rect">
            <a:avLst/>
          </a:prstGeom>
          <a:noFill/>
        </p:spPr>
        <p:txBody>
          <a:bodyPr wrap="square">
            <a:spAutoFit/>
          </a:bodyPr>
          <a:lstStyle/>
          <a:p>
            <a:pPr>
              <a:buNone/>
            </a:pPr>
            <a:r>
              <a:rPr lang="en-US" sz="1200">
                <a:latin typeface="Times New Roman" panose="02020603050405020304" pitchFamily="18" charset="0"/>
                <a:cs typeface="Times New Roman" panose="02020603050405020304" pitchFamily="18" charset="0"/>
              </a:rPr>
              <a:t>We asked Claude to write code to visualize hospitalization timelines for a cohort of patients over a fixed calendar year. The data was already clean. We asked for one horizontal bar per patient, with different colors for inactive time before the first hospitalization, gaps between hospitalizations, inactive time after the last hospitalization, and patients with no hospitalizations at all. Patients were sorted by total active days.</a:t>
            </a:r>
          </a:p>
          <a:p>
            <a:pPr>
              <a:buNone/>
            </a:pPr>
            <a:endParaRPr lang="en-US" sz="1200" b="1">
              <a:latin typeface="Times New Roman" panose="02020603050405020304" pitchFamily="18" charset="0"/>
              <a:cs typeface="Times New Roman" panose="02020603050405020304" pitchFamily="18" charset="0"/>
            </a:endParaRPr>
          </a:p>
          <a:p>
            <a:pPr>
              <a:buNone/>
            </a:pPr>
            <a:r>
              <a:rPr lang="en-US" sz="1200" b="1">
                <a:latin typeface="Times New Roman" panose="02020603050405020304" pitchFamily="18" charset="0"/>
                <a:cs typeface="Times New Roman" panose="02020603050405020304" pitchFamily="18" charset="0"/>
              </a:rPr>
              <a:t>Result: 142 total lines, 105 lines of actual code</a:t>
            </a:r>
            <a:endParaRPr lang="en-US" sz="1200">
              <a:latin typeface="Times New Roman" panose="02020603050405020304" pitchFamily="18" charset="0"/>
              <a:cs typeface="Times New Roman" panose="02020603050405020304" pitchFamily="18" charset="0"/>
            </a:endParaRPr>
          </a:p>
          <a:p>
            <a:pPr>
              <a:buNone/>
            </a:pPr>
            <a:endParaRPr lang="en-US" sz="1200" b="1">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FAF11DC0-F7B8-1B90-B660-D13781FB1BC9}"/>
              </a:ext>
            </a:extLst>
          </p:cNvPr>
          <p:cNvPicPr>
            <a:picLocks noChangeAspect="1"/>
          </p:cNvPicPr>
          <p:nvPr/>
        </p:nvPicPr>
        <p:blipFill>
          <a:blip r:embed="rId2"/>
          <a:stretch>
            <a:fillRect/>
          </a:stretch>
        </p:blipFill>
        <p:spPr>
          <a:xfrm>
            <a:off x="3484207" y="1637063"/>
            <a:ext cx="5016758" cy="3219615"/>
          </a:xfrm>
          <a:prstGeom prst="rect">
            <a:avLst/>
          </a:prstGeom>
        </p:spPr>
      </p:pic>
    </p:spTree>
    <p:extLst>
      <p:ext uri="{BB962C8B-B14F-4D97-AF65-F5344CB8AC3E}">
        <p14:creationId xmlns:p14="http://schemas.microsoft.com/office/powerpoint/2010/main" val="2266194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AF6FA-7CF5-8FF4-408A-9438DBF769EB}"/>
            </a:ext>
          </a:extLst>
        </p:cNvPr>
        <p:cNvGrpSpPr/>
        <p:nvPr/>
      </p:nvGrpSpPr>
      <p:grpSpPr>
        <a:xfrm>
          <a:off x="0" y="0"/>
          <a:ext cx="0" cy="0"/>
          <a:chOff x="0" y="0"/>
          <a:chExt cx="0" cy="0"/>
        </a:xfrm>
      </p:grpSpPr>
      <p:cxnSp>
        <p:nvCxnSpPr>
          <p:cNvPr id="6" name="Straight Arrow Connector 5">
            <a:extLst>
              <a:ext uri="{FF2B5EF4-FFF2-40B4-BE49-F238E27FC236}">
                <a16:creationId xmlns:a16="http://schemas.microsoft.com/office/drawing/2014/main" id="{0843A37A-6ECE-2C33-21E9-7C6FD8107779}"/>
              </a:ext>
            </a:extLst>
          </p:cNvPr>
          <p:cNvCxnSpPr>
            <a:cxnSpLocks/>
            <a:stCxn id="19" idx="2"/>
          </p:cNvCxnSpPr>
          <p:nvPr/>
        </p:nvCxnSpPr>
        <p:spPr>
          <a:xfrm>
            <a:off x="3674010" y="423289"/>
            <a:ext cx="796069" cy="16297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FA717E8-BEF6-C591-76AF-8F7C3000BFA4}"/>
              </a:ext>
            </a:extLst>
          </p:cNvPr>
          <p:cNvSpPr txBox="1"/>
          <p:nvPr/>
        </p:nvSpPr>
        <p:spPr>
          <a:xfrm>
            <a:off x="5390245" y="851919"/>
            <a:ext cx="3307081" cy="276999"/>
          </a:xfrm>
          <a:prstGeom prst="rect">
            <a:avLst/>
          </a:prstGeom>
          <a:ln w="38100">
            <a:solidFill>
              <a:schemeClr val="tx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StackedTimelineConfig</a:t>
            </a:r>
          </a:p>
        </p:txBody>
      </p:sp>
      <p:sp>
        <p:nvSpPr>
          <p:cNvPr id="8" name="TextBox 7">
            <a:extLst>
              <a:ext uri="{FF2B5EF4-FFF2-40B4-BE49-F238E27FC236}">
                <a16:creationId xmlns:a16="http://schemas.microsoft.com/office/drawing/2014/main" id="{B604AC13-207C-4CFE-FBEC-B13EF0CCEB90}"/>
              </a:ext>
            </a:extLst>
          </p:cNvPr>
          <p:cNvSpPr txBox="1"/>
          <p:nvPr/>
        </p:nvSpPr>
        <p:spPr>
          <a:xfrm>
            <a:off x="248458" y="160474"/>
            <a:ext cx="1946102"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10" name="TextBox 9">
            <a:extLst>
              <a:ext uri="{FF2B5EF4-FFF2-40B4-BE49-F238E27FC236}">
                <a16:creationId xmlns:a16="http://schemas.microsoft.com/office/drawing/2014/main" id="{C23733EF-B725-48BE-AF55-8302B268DE28}"/>
              </a:ext>
            </a:extLst>
          </p:cNvPr>
          <p:cNvSpPr txBox="1"/>
          <p:nvPr/>
        </p:nvSpPr>
        <p:spPr>
          <a:xfrm>
            <a:off x="2918459" y="2111545"/>
            <a:ext cx="3307081" cy="276999"/>
          </a:xfrm>
          <a:prstGeom prst="rect">
            <a:avLst/>
          </a:prstGeom>
          <a:ln>
            <a:solidFill>
              <a:schemeClr val="accent1"/>
            </a:solidFill>
          </a:ln>
          <a:effectLst>
            <a:glow rad="101600">
              <a:srgbClr val="7030A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StackedTimeLinePlotter</a:t>
            </a:r>
          </a:p>
        </p:txBody>
      </p:sp>
      <p:cxnSp>
        <p:nvCxnSpPr>
          <p:cNvPr id="11" name="Straight Arrow Connector 10">
            <a:extLst>
              <a:ext uri="{FF2B5EF4-FFF2-40B4-BE49-F238E27FC236}">
                <a16:creationId xmlns:a16="http://schemas.microsoft.com/office/drawing/2014/main" id="{F3D5CB14-2045-6A61-71CF-CF7E22571BB4}"/>
              </a:ext>
            </a:extLst>
          </p:cNvPr>
          <p:cNvCxnSpPr>
            <a:cxnSpLocks/>
            <a:stCxn id="7" idx="2"/>
            <a:endCxn id="10" idx="0"/>
          </p:cNvCxnSpPr>
          <p:nvPr/>
        </p:nvCxnSpPr>
        <p:spPr>
          <a:xfrm flipH="1">
            <a:off x="4572000" y="1128918"/>
            <a:ext cx="2471786" cy="9826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63D694C-289B-ECB9-D3B5-749363085936}"/>
              </a:ext>
            </a:extLst>
          </p:cNvPr>
          <p:cNvCxnSpPr>
            <a:cxnSpLocks/>
            <a:stCxn id="8" idx="2"/>
          </p:cNvCxnSpPr>
          <p:nvPr/>
        </p:nvCxnSpPr>
        <p:spPr>
          <a:xfrm>
            <a:off x="1221509" y="437473"/>
            <a:ext cx="3219862" cy="16199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DB900F6-DFE8-1302-5300-5463E2C24D5B}"/>
              </a:ext>
            </a:extLst>
          </p:cNvPr>
          <p:cNvCxnSpPr>
            <a:cxnSpLocks/>
            <a:stCxn id="10" idx="2"/>
          </p:cNvCxnSpPr>
          <p:nvPr/>
        </p:nvCxnSpPr>
        <p:spPr>
          <a:xfrm>
            <a:off x="4572000" y="2388544"/>
            <a:ext cx="0" cy="4787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D8FBE2C7-B409-0C95-58A0-18E7BEE3D486}"/>
              </a:ext>
            </a:extLst>
          </p:cNvPr>
          <p:cNvSpPr txBox="1"/>
          <p:nvPr/>
        </p:nvSpPr>
        <p:spPr>
          <a:xfrm>
            <a:off x="2700959" y="146290"/>
            <a:ext cx="1946102"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p:txBody>
      </p:sp>
      <p:sp>
        <p:nvSpPr>
          <p:cNvPr id="27" name="TextBox 26">
            <a:extLst>
              <a:ext uri="{FF2B5EF4-FFF2-40B4-BE49-F238E27FC236}">
                <a16:creationId xmlns:a16="http://schemas.microsoft.com/office/drawing/2014/main" id="{A4A07D8E-C57F-57DE-2602-BB3153A29FFD}"/>
              </a:ext>
            </a:extLst>
          </p:cNvPr>
          <p:cNvSpPr txBox="1"/>
          <p:nvPr/>
        </p:nvSpPr>
        <p:spPr>
          <a:xfrm>
            <a:off x="6413863" y="237495"/>
            <a:ext cx="1574074" cy="261610"/>
          </a:xfrm>
          <a:prstGeom prst="rect">
            <a:avLst/>
          </a:prstGeom>
          <a:noFill/>
        </p:spPr>
        <p:txBody>
          <a:bodyPr wrap="square" rtlCol="0">
            <a:spAutoFit/>
          </a:bodyPr>
          <a:lstStyle/>
          <a:p>
            <a:r>
              <a:rPr lang="en-US" sz="1100">
                <a:latin typeface="Times New Roman" panose="02020603050405020304" pitchFamily="18" charset="0"/>
                <a:cs typeface="Times New Roman" panose="02020603050405020304" pitchFamily="18" charset="0"/>
              </a:rPr>
              <a:t>configuration YAML</a:t>
            </a:r>
          </a:p>
        </p:txBody>
      </p:sp>
      <p:cxnSp>
        <p:nvCxnSpPr>
          <p:cNvPr id="29" name="Straight Arrow Connector 28">
            <a:extLst>
              <a:ext uri="{FF2B5EF4-FFF2-40B4-BE49-F238E27FC236}">
                <a16:creationId xmlns:a16="http://schemas.microsoft.com/office/drawing/2014/main" id="{0E5AEE5E-7CF9-2ABE-96CA-CCE6B5147448}"/>
              </a:ext>
            </a:extLst>
          </p:cNvPr>
          <p:cNvCxnSpPr>
            <a:cxnSpLocks/>
            <a:stCxn id="27" idx="2"/>
          </p:cNvCxnSpPr>
          <p:nvPr/>
        </p:nvCxnSpPr>
        <p:spPr>
          <a:xfrm>
            <a:off x="7200900" y="499105"/>
            <a:ext cx="0" cy="1932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3A10E481-B3A3-4B50-4608-0D138C343F90}"/>
              </a:ext>
            </a:extLst>
          </p:cNvPr>
          <p:cNvSpPr txBox="1"/>
          <p:nvPr/>
        </p:nvSpPr>
        <p:spPr>
          <a:xfrm>
            <a:off x="6733903" y="1696046"/>
            <a:ext cx="2168434" cy="1384995"/>
          </a:xfrm>
          <a:prstGeom prst="rect">
            <a:avLst/>
          </a:prstGeom>
          <a:noFill/>
        </p:spPr>
        <p:txBody>
          <a:bodyPr wrap="square" rtlCol="0">
            <a:spAutoFit/>
          </a:bodyPr>
          <a:lstStyle/>
          <a:p>
            <a:r>
              <a:rPr lang="en-US" sz="1200"/>
              <a:t>Objects are designed as concepts:</a:t>
            </a:r>
          </a:p>
          <a:p>
            <a:r>
              <a:rPr lang="en-US" sz="1200" i="1"/>
              <a:t>To exist I need:</a:t>
            </a:r>
          </a:p>
          <a:p>
            <a:r>
              <a:rPr lang="en-US" sz="1200" i="1"/>
              <a:t>1) events to plot</a:t>
            </a:r>
            <a:br>
              <a:rPr lang="en-US" sz="1200" i="1"/>
            </a:br>
            <a:r>
              <a:rPr lang="en-US" sz="1200" i="1"/>
              <a:t>2) period of interest to plot</a:t>
            </a:r>
            <a:br>
              <a:rPr lang="en-US" sz="1200" i="1"/>
            </a:br>
            <a:r>
              <a:rPr lang="en-US" sz="1200" i="1"/>
              <a:t>3) what colors and styles, how are events identified, ...</a:t>
            </a:r>
            <a:endParaRPr lang="en-US" sz="1200"/>
          </a:p>
        </p:txBody>
      </p:sp>
      <p:pic>
        <p:nvPicPr>
          <p:cNvPr id="46" name="Picture 45">
            <a:extLst>
              <a:ext uri="{FF2B5EF4-FFF2-40B4-BE49-F238E27FC236}">
                <a16:creationId xmlns:a16="http://schemas.microsoft.com/office/drawing/2014/main" id="{BE4058A9-1E6A-9C5F-114F-26E121BD7268}"/>
              </a:ext>
            </a:extLst>
          </p:cNvPr>
          <p:cNvPicPr>
            <a:picLocks noChangeAspect="1"/>
          </p:cNvPicPr>
          <p:nvPr/>
        </p:nvPicPr>
        <p:blipFill>
          <a:blip r:embed="rId2"/>
          <a:stretch>
            <a:fillRect/>
          </a:stretch>
        </p:blipFill>
        <p:spPr>
          <a:xfrm>
            <a:off x="3389955" y="3081041"/>
            <a:ext cx="2514212" cy="2008314"/>
          </a:xfrm>
          <a:prstGeom prst="rect">
            <a:avLst/>
          </a:prstGeom>
        </p:spPr>
      </p:pic>
      <p:sp>
        <p:nvSpPr>
          <p:cNvPr id="47" name="TextBox 46">
            <a:extLst>
              <a:ext uri="{FF2B5EF4-FFF2-40B4-BE49-F238E27FC236}">
                <a16:creationId xmlns:a16="http://schemas.microsoft.com/office/drawing/2014/main" id="{8CCF15DD-93C3-0DD8-47A6-774C0E02C485}"/>
              </a:ext>
            </a:extLst>
          </p:cNvPr>
          <p:cNvSpPr txBox="1"/>
          <p:nvPr/>
        </p:nvSpPr>
        <p:spPr>
          <a:xfrm>
            <a:off x="691647" y="3656088"/>
            <a:ext cx="2841171" cy="1223412"/>
          </a:xfrm>
          <a:prstGeom prst="rect">
            <a:avLst/>
          </a:prstGeom>
          <a:noFill/>
        </p:spPr>
        <p:txBody>
          <a:bodyPr wrap="square" rtlCol="0">
            <a:spAutoFit/>
          </a:bodyPr>
          <a:lstStyle/>
          <a:p>
            <a:r>
              <a:rPr lang="en-US" sz="1050">
                <a:latin typeface="Times New Roman" panose="02020603050405020304" pitchFamily="18" charset="0"/>
                <a:cs typeface="Times New Roman" panose="02020603050405020304" pitchFamily="18" charset="0"/>
              </a:rPr>
              <a:t>With different colors you can see</a:t>
            </a:r>
          </a:p>
          <a:p>
            <a:r>
              <a:rPr lang="en-US" sz="1050">
                <a:latin typeface="Times New Roman" panose="02020603050405020304" pitchFamily="18" charset="0"/>
                <a:cs typeface="Times New Roman" panose="02020603050405020304" pitchFamily="18" charset="0"/>
              </a:rPr>
              <a:t>- Time before first hospitalization</a:t>
            </a:r>
          </a:p>
          <a:p>
            <a:r>
              <a:rPr lang="en-US" sz="1050">
                <a:latin typeface="Times New Roman" panose="02020603050405020304" pitchFamily="18" charset="0"/>
                <a:cs typeface="Times New Roman" panose="02020603050405020304" pitchFamily="18" charset="0"/>
              </a:rPr>
              <a:t>- Time between hospitalizations</a:t>
            </a:r>
          </a:p>
          <a:p>
            <a:r>
              <a:rPr lang="en-US" sz="1050">
                <a:latin typeface="Times New Roman" panose="02020603050405020304" pitchFamily="18" charset="0"/>
                <a:cs typeface="Times New Roman" panose="02020603050405020304" pitchFamily="18" charset="0"/>
              </a:rPr>
              <a:t>- Time after last hosp</a:t>
            </a:r>
            <a:br>
              <a:rPr lang="en-US" sz="1050">
                <a:latin typeface="Times New Roman" panose="02020603050405020304" pitchFamily="18" charset="0"/>
                <a:cs typeface="Times New Roman" panose="02020603050405020304" pitchFamily="18" charset="0"/>
              </a:rPr>
            </a:br>
            <a:endParaRPr lang="en-US" sz="1050">
              <a:latin typeface="Times New Roman" panose="02020603050405020304" pitchFamily="18" charset="0"/>
              <a:cs typeface="Times New Roman" panose="02020603050405020304" pitchFamily="18" charset="0"/>
            </a:endParaRPr>
          </a:p>
          <a:p>
            <a:r>
              <a:rPr lang="en-US" sz="1050">
                <a:latin typeface="Times New Roman" panose="02020603050405020304" pitchFamily="18" charset="0"/>
                <a:cs typeface="Times New Roman" panose="02020603050405020304" pitchFamily="18" charset="0"/>
              </a:rPr>
              <a:t>You also have the option of sorting by total duration of events, first event, etc...</a:t>
            </a:r>
          </a:p>
        </p:txBody>
      </p:sp>
    </p:spTree>
    <p:extLst>
      <p:ext uri="{BB962C8B-B14F-4D97-AF65-F5344CB8AC3E}">
        <p14:creationId xmlns:p14="http://schemas.microsoft.com/office/powerpoint/2010/main" val="3104478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1E599-7112-CEFA-92E6-B9C15E8DEC5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2FC4B06-B7C9-F69A-EA5F-0D6873B5AF74}"/>
              </a:ext>
            </a:extLst>
          </p:cNvPr>
          <p:cNvSpPr txBox="1"/>
          <p:nvPr/>
        </p:nvSpPr>
        <p:spPr>
          <a:xfrm>
            <a:off x="312420" y="371147"/>
            <a:ext cx="8831580" cy="3539430"/>
          </a:xfrm>
          <a:prstGeom prst="rect">
            <a:avLst/>
          </a:prstGeom>
          <a:noFill/>
        </p:spPr>
        <p:txBody>
          <a:bodyPr wrap="square" rtlCol="0">
            <a:spAutoFit/>
          </a:bodyPr>
          <a:lstStyle/>
          <a:p>
            <a:r>
              <a:rPr lang="en-US" sz="1400" b="1"/>
              <a:t>Vignette #3B</a:t>
            </a:r>
          </a:p>
          <a:p>
            <a:r>
              <a:rPr lang="en-US" sz="1400"/>
              <a:t>Your collaborator asks: "Can we look at the year following each patient's 65th birthday instead?" This sounds like a one-line change. It is not.</a:t>
            </a:r>
          </a:p>
          <a:p>
            <a:r>
              <a:rPr lang="en-US" sz="1400" b="1"/>
              <a:t>Problem 1</a:t>
            </a:r>
            <a:r>
              <a:rPr lang="en-US" sz="1400"/>
              <a:t> — Every patient has a different observation window: Age windows mean patient A's window is 1957-03-14 → 1958-03-14 and patient B's is 1959-11-02 → 1960-11-02. Every downstream calculation now operates on a different time range per patient.</a:t>
            </a:r>
          </a:p>
          <a:p>
            <a:r>
              <a:rPr lang="en-US" sz="1400" b="1"/>
              <a:t>Problem 2</a:t>
            </a:r>
            <a:r>
              <a:rPr lang="en-US" sz="1400"/>
              <a:t> — Date of birth arithmetic is treacherous: Adding one year to a date sounds trivial. A patient born February 29 exposes your convention immediately. pd.DateOffset(years=65) and timedelta(days=365*65) give different answers. Neither documents which is right.</a:t>
            </a:r>
          </a:p>
          <a:p>
            <a:r>
              <a:rPr lang="en-US" sz="1400" b="1"/>
              <a:t>Problem 3</a:t>
            </a:r>
            <a:r>
              <a:rPr lang="en-US" sz="1400"/>
              <a:t> — The x-axis in your matplotlib is no longer shared: Day 0 now means "the day the patient turned 65" — not a calendar date. A script that hardcodes calendar ticks produces a misleading plot.</a:t>
            </a:r>
          </a:p>
          <a:p>
            <a:r>
              <a:rPr lang="en-US" sz="1400" b="1"/>
              <a:t>Problem 4</a:t>
            </a:r>
            <a:r>
              <a:rPr lang="en-US" sz="1400"/>
              <a:t> — Clipping is now patient-specific: The two global constants OBS_START and OBS_END from vignette 3A no longer exist. Every clip is now a per-row operation against two columns that vary by patient.</a:t>
            </a:r>
          </a:p>
          <a:p>
            <a:r>
              <a:rPr lang="en-US" sz="1400" b="1"/>
              <a:t>Problem 5</a:t>
            </a:r>
            <a:r>
              <a:rPr lang="en-US" sz="1400"/>
              <a:t> — The demographics file is now load-bearing: You need date of birth for every patient — including those with no hospitalizations. A script that reads demographics only for patients in the hospitalization file silently drops zero-hospitalization patients. Again.</a:t>
            </a:r>
          </a:p>
        </p:txBody>
      </p:sp>
    </p:spTree>
    <p:extLst>
      <p:ext uri="{BB962C8B-B14F-4D97-AF65-F5344CB8AC3E}">
        <p14:creationId xmlns:p14="http://schemas.microsoft.com/office/powerpoint/2010/main" val="24127580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995C80-3555-2BEA-76DB-0D66AE39F9C7}"/>
              </a:ext>
            </a:extLst>
          </p:cNvPr>
          <p:cNvPicPr>
            <a:picLocks noChangeAspect="1"/>
          </p:cNvPicPr>
          <p:nvPr/>
        </p:nvPicPr>
        <p:blipFill>
          <a:blip r:embed="rId2"/>
          <a:stretch>
            <a:fillRect/>
          </a:stretch>
        </p:blipFill>
        <p:spPr>
          <a:xfrm>
            <a:off x="464675" y="240548"/>
            <a:ext cx="5639090" cy="4540483"/>
          </a:xfrm>
          <a:prstGeom prst="rect">
            <a:avLst/>
          </a:prstGeom>
        </p:spPr>
      </p:pic>
    </p:spTree>
    <p:extLst>
      <p:ext uri="{BB962C8B-B14F-4D97-AF65-F5344CB8AC3E}">
        <p14:creationId xmlns:p14="http://schemas.microsoft.com/office/powerpoint/2010/main" val="19499582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32A115-75E2-0893-F410-73930A572485}"/>
              </a:ext>
            </a:extLst>
          </p:cNvPr>
          <p:cNvSpPr txBox="1"/>
          <p:nvPr/>
        </p:nvSpPr>
        <p:spPr>
          <a:xfrm>
            <a:off x="109945" y="378370"/>
            <a:ext cx="2922815" cy="830997"/>
          </a:xfrm>
          <a:custGeom>
            <a:avLst/>
            <a:gdLst>
              <a:gd name="csX0" fmla="*/ 0 w 2922815"/>
              <a:gd name="csY0" fmla="*/ 0 h 830997"/>
              <a:gd name="csX1" fmla="*/ 2922815 w 2922815"/>
              <a:gd name="csY1" fmla="*/ 0 h 830997"/>
              <a:gd name="csX2" fmla="*/ 2922815 w 2922815"/>
              <a:gd name="csY2" fmla="*/ 830997 h 830997"/>
              <a:gd name="csX3" fmla="*/ 0 w 2922815"/>
              <a:gd name="csY3" fmla="*/ 830997 h 830997"/>
              <a:gd name="csX4" fmla="*/ 0 w 2922815"/>
              <a:gd name="csY4" fmla="*/ 0 h 830997"/>
            </a:gdLst>
            <a:ahLst/>
            <a:cxnLst>
              <a:cxn ang="0">
                <a:pos x="csX0" y="csY0"/>
              </a:cxn>
              <a:cxn ang="0">
                <a:pos x="csX1" y="csY1"/>
              </a:cxn>
              <a:cxn ang="0">
                <a:pos x="csX2" y="csY2"/>
              </a:cxn>
              <a:cxn ang="0">
                <a:pos x="csX3" y="csY3"/>
              </a:cxn>
              <a:cxn ang="0">
                <a:pos x="csX4" y="csY4"/>
              </a:cxn>
            </a:cxnLst>
            <a:rect l="l" t="t" r="r" b="b"/>
            <a:pathLst>
              <a:path w="2922815" h="830997" fill="none" extrusionOk="0">
                <a:moveTo>
                  <a:pt x="0" y="0"/>
                </a:moveTo>
                <a:cubicBezTo>
                  <a:pt x="355566" y="-130955"/>
                  <a:pt x="1815757" y="60629"/>
                  <a:pt x="2922815" y="0"/>
                </a:cubicBezTo>
                <a:cubicBezTo>
                  <a:pt x="2917705" y="121524"/>
                  <a:pt x="2862889" y="451653"/>
                  <a:pt x="2922815" y="830997"/>
                </a:cubicBezTo>
                <a:cubicBezTo>
                  <a:pt x="2415729" y="798166"/>
                  <a:pt x="508035" y="741353"/>
                  <a:pt x="0" y="830997"/>
                </a:cubicBezTo>
                <a:cubicBezTo>
                  <a:pt x="41085" y="721302"/>
                  <a:pt x="11105" y="326204"/>
                  <a:pt x="0" y="0"/>
                </a:cubicBezTo>
                <a:close/>
              </a:path>
              <a:path w="2922815" h="830997" stroke="0" extrusionOk="0">
                <a:moveTo>
                  <a:pt x="0" y="0"/>
                </a:moveTo>
                <a:cubicBezTo>
                  <a:pt x="1326380" y="-145685"/>
                  <a:pt x="1476772" y="120332"/>
                  <a:pt x="2922815" y="0"/>
                </a:cubicBezTo>
                <a:cubicBezTo>
                  <a:pt x="2979401" y="341217"/>
                  <a:pt x="2883799" y="468452"/>
                  <a:pt x="2922815" y="830997"/>
                </a:cubicBezTo>
                <a:cubicBezTo>
                  <a:pt x="2105533" y="688498"/>
                  <a:pt x="437425" y="981975"/>
                  <a:pt x="0" y="830997"/>
                </a:cubicBezTo>
                <a:cubicBezTo>
                  <a:pt x="6173" y="664514"/>
                  <a:pt x="-16538" y="379586"/>
                  <a:pt x="0" y="0"/>
                </a:cubicBezTo>
                <a:close/>
              </a:path>
            </a:pathLst>
          </a:custGeom>
          <a:solidFill>
            <a:schemeClr val="bg1"/>
          </a:solidFill>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EventsWithinObsPeriodsAnalyzer</a:t>
            </a:r>
          </a:p>
          <a:p>
            <a:pPr algn="ctr"/>
            <a:r>
              <a:rPr lang="en-US" sz="1200">
                <a:latin typeface="Consolas" panose="020B0609020204030204" pitchFamily="49" charset="0"/>
                <a:cs typeface="Times New Roman" panose="02020603050405020304" pitchFamily="18" charset="0"/>
              </a:rPr>
              <a:t>events: Events</a:t>
            </a:r>
          </a:p>
          <a:p>
            <a:pPr algn="ctr"/>
            <a:r>
              <a:rPr lang="en-US" sz="1200">
                <a:latin typeface="Consolas" panose="020B0609020204030204" pitchFamily="49" charset="0"/>
                <a:cs typeface="Times New Roman" panose="02020603050405020304" pitchFamily="18" charset="0"/>
              </a:rPr>
              <a:t>obs_period: ObsPeriodPerEntity</a:t>
            </a:r>
          </a:p>
          <a:p>
            <a:pPr algn="ctr"/>
            <a:r>
              <a:rPr lang="en-US" sz="1200">
                <a:latin typeface="Consolas" panose="020B0609020204030204" pitchFamily="49" charset="0"/>
                <a:cs typeface="Times New Roman" panose="02020603050405020304" pitchFamily="18" charset="0"/>
              </a:rPr>
              <a:t>entity_col: str | None</a:t>
            </a:r>
          </a:p>
        </p:txBody>
      </p:sp>
      <p:sp>
        <p:nvSpPr>
          <p:cNvPr id="3" name="TextBox 2">
            <a:extLst>
              <a:ext uri="{FF2B5EF4-FFF2-40B4-BE49-F238E27FC236}">
                <a16:creationId xmlns:a16="http://schemas.microsoft.com/office/drawing/2014/main" id="{6C50AC7A-5CFF-9ED0-06DF-EE0A9EA00600}"/>
              </a:ext>
            </a:extLst>
          </p:cNvPr>
          <p:cNvSpPr txBox="1"/>
          <p:nvPr/>
        </p:nvSpPr>
        <p:spPr>
          <a:xfrm>
            <a:off x="3424646" y="272582"/>
            <a:ext cx="5882640" cy="1200329"/>
          </a:xfrm>
          <a:prstGeom prst="rect">
            <a:avLst/>
          </a:prstGeom>
          <a:noFill/>
        </p:spPr>
        <p:txBody>
          <a:bodyPr wrap="square" rtlCol="0">
            <a:spAutoFit/>
          </a:bodyPr>
          <a:lstStyle/>
          <a:p>
            <a:r>
              <a:rPr lang="en-US" sz="1200" b="1">
                <a:latin typeface="Consolas" panose="020B0609020204030204" pitchFamily="49" charset="0"/>
              </a:rPr>
              <a:t>Constructor</a:t>
            </a:r>
          </a:p>
          <a:p>
            <a:r>
              <a:rPr lang="en-US" sz="1200" i="1">
                <a:latin typeface="Consolas" panose="020B0609020204030204" pitchFamily="49" charset="0"/>
              </a:rPr>
              <a:t>__init__</a:t>
            </a:r>
            <a:r>
              <a:rPr lang="en-US" sz="1200">
                <a:latin typeface="Consolas" panose="020B0609020204030204" pitchFamily="49" charset="0"/>
              </a:rPr>
              <a:t>(events, obs_period, entity_col)</a:t>
            </a:r>
            <a:r>
              <a:rPr lang="en-US" sz="1200" i="1">
                <a:latin typeface="Consolas" panose="020B0609020204030204" pitchFamily="49" charset="0"/>
              </a:rPr>
              <a:t> </a:t>
            </a:r>
          </a:p>
          <a:p>
            <a:endParaRPr lang="en-US" sz="1200" i="1">
              <a:latin typeface="Consolas" panose="020B0609020204030204" pitchFamily="49" charset="0"/>
            </a:endParaRPr>
          </a:p>
          <a:p>
            <a:r>
              <a:rPr lang="en-US" sz="1200" b="1">
                <a:latin typeface="Consolas" panose="020B0609020204030204" pitchFamily="49" charset="0"/>
              </a:rPr>
              <a:t>Methods</a:t>
            </a:r>
          </a:p>
          <a:p>
            <a:r>
              <a:rPr lang="en-US" sz="1200" i="1">
                <a:latin typeface="Consolas" panose="020B0609020204030204" pitchFamily="49" charset="0"/>
              </a:rPr>
              <a:t>compute_event_coverage</a:t>
            </a:r>
            <a:r>
              <a:rPr lang="en-US" sz="1200">
                <a:latin typeface="Consolas" panose="020B0609020204030204" pitchFamily="49" charset="0"/>
              </a:rPr>
              <a:t>() -&gt; PipeDelimitedIntermediateEvents</a:t>
            </a:r>
          </a:p>
          <a:p>
            <a:endParaRPr lang="en-US" sz="1200">
              <a:latin typeface="Consolas" panose="020B0609020204030204" pitchFamily="49" charset="0"/>
            </a:endParaRPr>
          </a:p>
        </p:txBody>
      </p:sp>
    </p:spTree>
    <p:extLst>
      <p:ext uri="{BB962C8B-B14F-4D97-AF65-F5344CB8AC3E}">
        <p14:creationId xmlns:p14="http://schemas.microsoft.com/office/powerpoint/2010/main" val="19023658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6F31E6C-6343-C599-499C-7C985D1DC1FA}"/>
              </a:ext>
            </a:extLst>
          </p:cNvPr>
          <p:cNvSpPr txBox="1"/>
          <p:nvPr/>
        </p:nvSpPr>
        <p:spPr>
          <a:xfrm>
            <a:off x="2727960" y="3771346"/>
            <a:ext cx="6187440" cy="1200329"/>
          </a:xfrm>
          <a:prstGeom prst="rect">
            <a:avLst/>
          </a:prstGeom>
          <a:noFill/>
        </p:spPr>
        <p:txBody>
          <a:bodyPr wrap="square">
            <a:spAutoFit/>
          </a:bodyPr>
          <a:lstStyle/>
          <a:p>
            <a:r>
              <a:rPr lang="en-US" sz="1200"/>
              <a:t>No configuration files. No specific error messages — a wrong column name gives you a KeyError, a bad date gives you a silent NaN, a logic error gives you wrong numbers with no warning. The meaningful gap is hardcoded. </a:t>
            </a:r>
          </a:p>
          <a:p>
            <a:endParaRPr lang="en-US" sz="1200"/>
          </a:p>
          <a:p>
            <a:r>
              <a:rPr lang="en-US" sz="1200"/>
              <a:t>The eventus version is 6 lines of code, two YAML files, and specific errors that tell you exactly what went wrong.</a:t>
            </a:r>
            <a:endParaRPr lang="en-US" sz="1200" i="1"/>
          </a:p>
        </p:txBody>
      </p:sp>
      <p:pic>
        <p:nvPicPr>
          <p:cNvPr id="8" name="Picture 7">
            <a:extLst>
              <a:ext uri="{FF2B5EF4-FFF2-40B4-BE49-F238E27FC236}">
                <a16:creationId xmlns:a16="http://schemas.microsoft.com/office/drawing/2014/main" id="{6A1AEF2B-E7B4-9BA0-B09C-E25CF08B102D}"/>
              </a:ext>
            </a:extLst>
          </p:cNvPr>
          <p:cNvPicPr>
            <a:picLocks noChangeAspect="1"/>
          </p:cNvPicPr>
          <p:nvPr/>
        </p:nvPicPr>
        <p:blipFill>
          <a:blip r:embed="rId2"/>
          <a:stretch>
            <a:fillRect/>
          </a:stretch>
        </p:blipFill>
        <p:spPr>
          <a:xfrm>
            <a:off x="603975" y="413763"/>
            <a:ext cx="7086964" cy="3124361"/>
          </a:xfrm>
          <a:prstGeom prst="rect">
            <a:avLst/>
          </a:prstGeom>
        </p:spPr>
      </p:pic>
    </p:spTree>
    <p:extLst>
      <p:ext uri="{BB962C8B-B14F-4D97-AF65-F5344CB8AC3E}">
        <p14:creationId xmlns:p14="http://schemas.microsoft.com/office/powerpoint/2010/main" val="23876806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780410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8E370-2D86-267B-C161-050A9525F1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3A2609B-A8FE-52AB-94BD-9EA64CC875B8}"/>
              </a:ext>
            </a:extLst>
          </p:cNvPr>
          <p:cNvSpPr txBox="1"/>
          <p:nvPr/>
        </p:nvSpPr>
        <p:spPr>
          <a:xfrm>
            <a:off x="53340" y="175260"/>
            <a:ext cx="8831580" cy="4401205"/>
          </a:xfrm>
          <a:prstGeom prst="rect">
            <a:avLst/>
          </a:prstGeom>
          <a:noFill/>
        </p:spPr>
        <p:txBody>
          <a:bodyPr wrap="square" rtlCol="0">
            <a:spAutoFit/>
          </a:bodyPr>
          <a:lstStyle/>
          <a:p>
            <a:r>
              <a:rPr lang="en-US" sz="1400" b="1"/>
              <a:t>Vignette #4:</a:t>
            </a:r>
          </a:p>
          <a:p>
            <a:r>
              <a:rPr lang="en-US" sz="1400"/>
              <a:t>You have cleaned your Medicaid coverage data. Each row represents one continuous coverage episode — a span of days during which a senior was enrolled. Now you want to understand the structure of coverage gaps across your cohort from age 65 to 70.Before running any statistical models, you want to do something simple first: look at a sample of the data. Then you want to understand the distribution of coverage gaps — not just how many days patients were uncovered, but where in their five-year window those gaps fell</a:t>
            </a:r>
          </a:p>
          <a:p>
            <a:r>
              <a:rPr lang="en-US" sz="1400" b="1"/>
              <a:t>Problem 1</a:t>
            </a:r>
            <a:r>
              <a:rPr lang="en-US" sz="1400"/>
              <a:t> — Coverage gaps are not one thing: A patient uncovered for 90 days before their first coverage episode is scientifically different from a patient uncovered for 90 days between two episodes. The first may reflect delayed enrollment. The second may reflect a lapse. A script that computes inactive_days as a single number destroys this distinction.</a:t>
            </a:r>
          </a:p>
          <a:p>
            <a:r>
              <a:rPr lang="en-US" sz="1400" b="1"/>
              <a:t>Problem 2</a:t>
            </a:r>
            <a:r>
              <a:rPr lang="en-US" sz="1400"/>
              <a:t> — The denominator changes for each question: "Days before first coverage" only applies to patients whose coverage started after age 65. "Gap between coverage episodes" only applies to patients with ≥ 2 episodes. A script that computes these without tracking the denominator produces misleading statistics.</a:t>
            </a:r>
          </a:p>
          <a:p>
            <a:r>
              <a:rPr lang="en-US" sz="1400" b="1"/>
              <a:t>Problem 3</a:t>
            </a:r>
            <a:r>
              <a:rPr lang="en-US" sz="1400"/>
              <a:t> — Problem 3 — The distributions are only comparable if the denominators are visible: If 800 patients had any gap but only 200 had gaps between episodes, percentiles are only understandable if you know what fraction of the cohort each violin represents. A plot where both violins appear the same width implies equal denominators — and is actively misleading.</a:t>
            </a:r>
          </a:p>
          <a:p>
            <a:r>
              <a:rPr lang="en-US" sz="1400" b="1"/>
              <a:t>Problem 4</a:t>
            </a:r>
            <a:r>
              <a:rPr lang="en-US" sz="1400"/>
              <a:t> — The observation period is age-derived: Each patient's window runs from their 65th to their 70th birthday — a different calendar range for every patient. A script that hardcodes a fixed calendar period assigns the wrong observation window to every patient.</a:t>
            </a:r>
          </a:p>
        </p:txBody>
      </p:sp>
    </p:spTree>
    <p:extLst>
      <p:ext uri="{BB962C8B-B14F-4D97-AF65-F5344CB8AC3E}">
        <p14:creationId xmlns:p14="http://schemas.microsoft.com/office/powerpoint/2010/main" val="21553842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353574-C264-E6FD-62B9-69AA6733C57B}"/>
              </a:ext>
            </a:extLst>
          </p:cNvPr>
          <p:cNvPicPr>
            <a:picLocks noChangeAspect="1"/>
          </p:cNvPicPr>
          <p:nvPr/>
        </p:nvPicPr>
        <p:blipFill>
          <a:blip r:embed="rId2"/>
          <a:stretch>
            <a:fillRect/>
          </a:stretch>
        </p:blipFill>
        <p:spPr>
          <a:xfrm>
            <a:off x="4279417" y="132234"/>
            <a:ext cx="4673840" cy="4578585"/>
          </a:xfrm>
          <a:prstGeom prst="rect">
            <a:avLst/>
          </a:prstGeom>
        </p:spPr>
      </p:pic>
    </p:spTree>
    <p:extLst>
      <p:ext uri="{BB962C8B-B14F-4D97-AF65-F5344CB8AC3E}">
        <p14:creationId xmlns:p14="http://schemas.microsoft.com/office/powerpoint/2010/main" val="19965169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4BD98FE-2ECA-29F0-CBC6-27CDFF0C634B}"/>
              </a:ext>
            </a:extLst>
          </p:cNvPr>
          <p:cNvSpPr txBox="1"/>
          <p:nvPr/>
        </p:nvSpPr>
        <p:spPr>
          <a:xfrm>
            <a:off x="169817" y="634526"/>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Semantics</a:t>
            </a:r>
          </a:p>
          <a:p>
            <a:pPr algn="ctr"/>
            <a:r>
              <a:rPr lang="en-US" sz="1200">
                <a:latin typeface="Times New Roman" panose="02020603050405020304" pitchFamily="18" charset="0"/>
                <a:cs typeface="Times New Roman" panose="02020603050405020304" pitchFamily="18" charset="0"/>
              </a:rPr>
              <a:t>"I know what columns mean"</a:t>
            </a:r>
          </a:p>
        </p:txBody>
      </p:sp>
      <p:sp>
        <p:nvSpPr>
          <p:cNvPr id="4" name="TextBox 3">
            <a:extLst>
              <a:ext uri="{FF2B5EF4-FFF2-40B4-BE49-F238E27FC236}">
                <a16:creationId xmlns:a16="http://schemas.microsoft.com/office/drawing/2014/main" id="{60D0BECE-032C-B05E-8016-6B42864B4776}"/>
              </a:ext>
            </a:extLst>
          </p:cNvPr>
          <p:cNvSpPr txBox="1"/>
          <p:nvPr/>
        </p:nvSpPr>
        <p:spPr>
          <a:xfrm>
            <a:off x="169816" y="1329034"/>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Data Objects</a:t>
            </a:r>
          </a:p>
          <a:p>
            <a:pPr algn="ctr"/>
            <a:r>
              <a:rPr lang="en-US" sz="1200">
                <a:latin typeface="Times New Roman" panose="02020603050405020304" pitchFamily="18" charset="0"/>
                <a:cs typeface="Times New Roman" panose="02020603050405020304" pitchFamily="18" charset="0"/>
              </a:rPr>
              <a:t>"I hold clean/validated data"</a:t>
            </a:r>
          </a:p>
        </p:txBody>
      </p:sp>
      <p:sp>
        <p:nvSpPr>
          <p:cNvPr id="5" name="TextBox 4">
            <a:extLst>
              <a:ext uri="{FF2B5EF4-FFF2-40B4-BE49-F238E27FC236}">
                <a16:creationId xmlns:a16="http://schemas.microsoft.com/office/drawing/2014/main" id="{AAD37947-6237-1437-B713-3D564F8E3ED7}"/>
              </a:ext>
            </a:extLst>
          </p:cNvPr>
          <p:cNvSpPr txBox="1"/>
          <p:nvPr/>
        </p:nvSpPr>
        <p:spPr>
          <a:xfrm>
            <a:off x="141515" y="2001237"/>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Analyzers</a:t>
            </a:r>
          </a:p>
          <a:p>
            <a:pPr algn="ctr"/>
            <a:r>
              <a:rPr lang="en-US" sz="1200">
                <a:latin typeface="Times New Roman" panose="02020603050405020304" pitchFamily="18" charset="0"/>
                <a:cs typeface="Times New Roman" panose="02020603050405020304" pitchFamily="18" charset="0"/>
              </a:rPr>
              <a:t>"I compute shareable stuff"</a:t>
            </a:r>
          </a:p>
        </p:txBody>
      </p:sp>
      <p:sp>
        <p:nvSpPr>
          <p:cNvPr id="6" name="TextBox 5">
            <a:extLst>
              <a:ext uri="{FF2B5EF4-FFF2-40B4-BE49-F238E27FC236}">
                <a16:creationId xmlns:a16="http://schemas.microsoft.com/office/drawing/2014/main" id="{F2F159B6-AAD1-8C7B-FB9A-D5654E8FD269}"/>
              </a:ext>
            </a:extLst>
          </p:cNvPr>
          <p:cNvSpPr txBox="1"/>
          <p:nvPr/>
        </p:nvSpPr>
        <p:spPr>
          <a:xfrm>
            <a:off x="169814" y="2676460"/>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Intermediates</a:t>
            </a:r>
          </a:p>
          <a:p>
            <a:pPr algn="ctr"/>
            <a:r>
              <a:rPr lang="en-US" sz="1200">
                <a:latin typeface="Times New Roman" panose="02020603050405020304" pitchFamily="18" charset="0"/>
                <a:cs typeface="Times New Roman" panose="02020603050405020304" pitchFamily="18" charset="0"/>
              </a:rPr>
              <a:t>"Pipe-delimited columnar contract"</a:t>
            </a:r>
          </a:p>
        </p:txBody>
      </p:sp>
      <p:sp>
        <p:nvSpPr>
          <p:cNvPr id="7" name="TextBox 6">
            <a:extLst>
              <a:ext uri="{FF2B5EF4-FFF2-40B4-BE49-F238E27FC236}">
                <a16:creationId xmlns:a16="http://schemas.microsoft.com/office/drawing/2014/main" id="{0798FD70-B53D-EFA2-F0F4-CE70E0B3D67C}"/>
              </a:ext>
            </a:extLst>
          </p:cNvPr>
          <p:cNvSpPr txBox="1"/>
          <p:nvPr/>
        </p:nvSpPr>
        <p:spPr>
          <a:xfrm>
            <a:off x="169817" y="3517334"/>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Visualizers</a:t>
            </a:r>
          </a:p>
          <a:p>
            <a:pPr algn="ctr"/>
            <a:r>
              <a:rPr lang="en-US" sz="1200">
                <a:latin typeface="Times New Roman" panose="02020603050405020304" pitchFamily="18" charset="0"/>
                <a:cs typeface="Times New Roman" panose="02020603050405020304" pitchFamily="18" charset="0"/>
              </a:rPr>
              <a:t>"I draw pictures"</a:t>
            </a:r>
          </a:p>
        </p:txBody>
      </p:sp>
      <p:sp>
        <p:nvSpPr>
          <p:cNvPr id="8" name="TextBox 7">
            <a:extLst>
              <a:ext uri="{FF2B5EF4-FFF2-40B4-BE49-F238E27FC236}">
                <a16:creationId xmlns:a16="http://schemas.microsoft.com/office/drawing/2014/main" id="{5D17D607-8AB3-D7CA-2898-CC19C4FAC22D}"/>
              </a:ext>
            </a:extLst>
          </p:cNvPr>
          <p:cNvSpPr txBox="1"/>
          <p:nvPr/>
        </p:nvSpPr>
        <p:spPr>
          <a:xfrm>
            <a:off x="2984862" y="726858"/>
            <a:ext cx="284770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EventSemantics, OccurrenceSemantics</a:t>
            </a:r>
          </a:p>
        </p:txBody>
      </p:sp>
      <p:sp>
        <p:nvSpPr>
          <p:cNvPr id="9" name="TextBox 8">
            <a:extLst>
              <a:ext uri="{FF2B5EF4-FFF2-40B4-BE49-F238E27FC236}">
                <a16:creationId xmlns:a16="http://schemas.microsoft.com/office/drawing/2014/main" id="{0FC39483-E1D0-FA0F-7227-A0A4E5CD4E10}"/>
              </a:ext>
            </a:extLst>
          </p:cNvPr>
          <p:cNvSpPr txBox="1"/>
          <p:nvPr/>
        </p:nvSpPr>
        <p:spPr>
          <a:xfrm>
            <a:off x="2984862" y="1421366"/>
            <a:ext cx="5225144"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 EventsPerEntity, Spans, Occurrences, OccurrencesPerEntity</a:t>
            </a:r>
          </a:p>
        </p:txBody>
      </p:sp>
      <p:sp>
        <p:nvSpPr>
          <p:cNvPr id="10" name="TextBox 9">
            <a:extLst>
              <a:ext uri="{FF2B5EF4-FFF2-40B4-BE49-F238E27FC236}">
                <a16:creationId xmlns:a16="http://schemas.microsoft.com/office/drawing/2014/main" id="{5AD248FF-441C-8730-A19A-C6709E01C765}"/>
              </a:ext>
            </a:extLst>
          </p:cNvPr>
          <p:cNvSpPr txBox="1"/>
          <p:nvPr/>
        </p:nvSpPr>
        <p:spPr>
          <a:xfrm>
            <a:off x="2984862" y="2001237"/>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EventsWithinSpanAnalyzer, OccurrencesWithinSpanAnalyzer, ***OccurrencesWithinEventsAnalyzer</a:t>
            </a:r>
          </a:p>
        </p:txBody>
      </p:sp>
      <p:sp>
        <p:nvSpPr>
          <p:cNvPr id="11" name="TextBox 10">
            <a:extLst>
              <a:ext uri="{FF2B5EF4-FFF2-40B4-BE49-F238E27FC236}">
                <a16:creationId xmlns:a16="http://schemas.microsoft.com/office/drawing/2014/main" id="{E9E67F2D-B886-0FA2-5EAB-6CE2D88D6F8A}"/>
              </a:ext>
            </a:extLst>
          </p:cNvPr>
          <p:cNvSpPr txBox="1"/>
          <p:nvPr/>
        </p:nvSpPr>
        <p:spPr>
          <a:xfrm>
            <a:off x="2984861" y="2692503"/>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PipeDelimitedIntermediate, PipeDelimitedIntermediateEvents, PipeDelimitedIntermediateOccurrences, ***EventsOccurrences</a:t>
            </a:r>
          </a:p>
        </p:txBody>
      </p:sp>
      <p:sp>
        <p:nvSpPr>
          <p:cNvPr id="12" name="TextBox 11">
            <a:extLst>
              <a:ext uri="{FF2B5EF4-FFF2-40B4-BE49-F238E27FC236}">
                <a16:creationId xmlns:a16="http://schemas.microsoft.com/office/drawing/2014/main" id="{5EF75954-011D-DEB2-35B2-808EF5106C86}"/>
              </a:ext>
            </a:extLst>
          </p:cNvPr>
          <p:cNvSpPr txBox="1"/>
          <p:nvPr/>
        </p:nvSpPr>
        <p:spPr>
          <a:xfrm>
            <a:off x="2984862" y="3562209"/>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StackedBarsPlotter(change name), ActivityOverTimePlotter, EventWithinSpanAnalysisHistogramPlotter</a:t>
            </a:r>
          </a:p>
        </p:txBody>
      </p:sp>
      <p:sp>
        <p:nvSpPr>
          <p:cNvPr id="13" name="TextBox 12">
            <a:extLst>
              <a:ext uri="{FF2B5EF4-FFF2-40B4-BE49-F238E27FC236}">
                <a16:creationId xmlns:a16="http://schemas.microsoft.com/office/drawing/2014/main" id="{9DE8C2BE-F953-734F-60AF-10A9420782FC}"/>
              </a:ext>
            </a:extLst>
          </p:cNvPr>
          <p:cNvSpPr txBox="1"/>
          <p:nvPr/>
        </p:nvSpPr>
        <p:spPr>
          <a:xfrm>
            <a:off x="6936377" y="102716"/>
            <a:ext cx="2207623" cy="646331"/>
          </a:xfrm>
          <a:prstGeom prst="rect">
            <a:avLst/>
          </a:prstGeom>
          <a:noFill/>
        </p:spPr>
        <p:txBody>
          <a:bodyPr wrap="square" rtlCol="0">
            <a:spAutoFit/>
          </a:bodyPr>
          <a:lstStyle/>
          <a:p>
            <a:r>
              <a:rPr lang="en-US"/>
              <a:t>Five Main Abstractions</a:t>
            </a:r>
          </a:p>
        </p:txBody>
      </p:sp>
    </p:spTree>
    <p:extLst>
      <p:ext uri="{BB962C8B-B14F-4D97-AF65-F5344CB8AC3E}">
        <p14:creationId xmlns:p14="http://schemas.microsoft.com/office/powerpoint/2010/main" val="42793111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D937A-300F-30EF-4A6F-28182B72BB3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511C7B0-179E-8736-5A7C-5D3487AA398D}"/>
              </a:ext>
            </a:extLst>
          </p:cNvPr>
          <p:cNvSpPr txBox="1"/>
          <p:nvPr/>
        </p:nvSpPr>
        <p:spPr>
          <a:xfrm>
            <a:off x="5695407" y="102716"/>
            <a:ext cx="3448594" cy="369332"/>
          </a:xfrm>
          <a:prstGeom prst="rect">
            <a:avLst/>
          </a:prstGeom>
          <a:noFill/>
        </p:spPr>
        <p:txBody>
          <a:bodyPr wrap="square" rtlCol="0">
            <a:spAutoFit/>
          </a:bodyPr>
          <a:lstStyle/>
          <a:p>
            <a:r>
              <a:rPr lang="en-US"/>
              <a:t>Anatomy of Objects</a:t>
            </a:r>
          </a:p>
        </p:txBody>
      </p:sp>
      <p:sp>
        <p:nvSpPr>
          <p:cNvPr id="6" name="TextBox 5">
            <a:extLst>
              <a:ext uri="{FF2B5EF4-FFF2-40B4-BE49-F238E27FC236}">
                <a16:creationId xmlns:a16="http://schemas.microsoft.com/office/drawing/2014/main" id="{1F14131F-7EF8-D00F-3F11-6BBAFDE3B920}"/>
              </a:ext>
            </a:extLst>
          </p:cNvPr>
          <p:cNvSpPr txBox="1"/>
          <p:nvPr/>
        </p:nvSpPr>
        <p:spPr>
          <a:xfrm>
            <a:off x="209005" y="1038815"/>
            <a:ext cx="2468881" cy="646331"/>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C31E4B7A-5EDB-B9D0-27FE-4C337523B2E0}"/>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10" name="TextBox 9">
            <a:extLst>
              <a:ext uri="{FF2B5EF4-FFF2-40B4-BE49-F238E27FC236}">
                <a16:creationId xmlns:a16="http://schemas.microsoft.com/office/drawing/2014/main" id="{3A7132C3-3A69-63CD-0CA0-2DA429CFB8C5}"/>
              </a:ext>
            </a:extLst>
          </p:cNvPr>
          <p:cNvSpPr txBox="1"/>
          <p:nvPr/>
        </p:nvSpPr>
        <p:spPr>
          <a:xfrm>
            <a:off x="6361610" y="1006972"/>
            <a:ext cx="2468881" cy="646331"/>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Ocurrences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OccurrenceSemantics</a:t>
            </a:r>
          </a:p>
        </p:txBody>
      </p:sp>
      <p:pic>
        <p:nvPicPr>
          <p:cNvPr id="15" name="Picture 14">
            <a:extLst>
              <a:ext uri="{FF2B5EF4-FFF2-40B4-BE49-F238E27FC236}">
                <a16:creationId xmlns:a16="http://schemas.microsoft.com/office/drawing/2014/main" id="{B4F1E447-C2CE-960A-76D7-D94CD8D38FAC}"/>
              </a:ext>
            </a:extLst>
          </p:cNvPr>
          <p:cNvPicPr>
            <a:picLocks noChangeAspect="1"/>
          </p:cNvPicPr>
          <p:nvPr/>
        </p:nvPicPr>
        <p:blipFill>
          <a:blip r:embed="rId24"/>
          <a:stretch>
            <a:fillRect/>
          </a:stretch>
        </p:blipFill>
        <p:spPr>
          <a:xfrm>
            <a:off x="5107577" y="2478704"/>
            <a:ext cx="3892731" cy="957977"/>
          </a:xfrm>
          <a:prstGeom prst="rect">
            <a:avLst/>
          </a:prstGeom>
        </p:spPr>
      </p:pic>
      <p:pic>
        <p:nvPicPr>
          <p:cNvPr id="18" name="Picture 17">
            <a:extLst>
              <a:ext uri="{FF2B5EF4-FFF2-40B4-BE49-F238E27FC236}">
                <a16:creationId xmlns:a16="http://schemas.microsoft.com/office/drawing/2014/main" id="{FA1E84EE-6814-249E-33EA-3F6D2C0CD515}"/>
              </a:ext>
            </a:extLst>
          </p:cNvPr>
          <p:cNvPicPr>
            <a:picLocks noChangeAspect="1"/>
          </p:cNvPicPr>
          <p:nvPr/>
        </p:nvPicPr>
        <p:blipFill>
          <a:blip r:embed="rId25"/>
          <a:stretch>
            <a:fillRect/>
          </a:stretch>
        </p:blipFill>
        <p:spPr>
          <a:xfrm>
            <a:off x="5112784" y="3771961"/>
            <a:ext cx="3931976" cy="852351"/>
          </a:xfrm>
          <a:prstGeom prst="rect">
            <a:avLst/>
          </a:prstGeom>
        </p:spPr>
      </p:pic>
      <p:sp>
        <p:nvSpPr>
          <p:cNvPr id="19" name="TextBox 18">
            <a:extLst>
              <a:ext uri="{FF2B5EF4-FFF2-40B4-BE49-F238E27FC236}">
                <a16:creationId xmlns:a16="http://schemas.microsoft.com/office/drawing/2014/main" id="{EDC8C54C-4044-56A5-DF8A-572E64BE1462}"/>
              </a:ext>
            </a:extLst>
          </p:cNvPr>
          <p:cNvSpPr txBox="1"/>
          <p:nvPr/>
        </p:nvSpPr>
        <p:spPr>
          <a:xfrm>
            <a:off x="146958" y="102716"/>
            <a:ext cx="4914899" cy="646331"/>
          </a:xfrm>
          <a:prstGeom prst="rect">
            <a:avLst/>
          </a:prstGeom>
          <a:noFill/>
        </p:spPr>
        <p:txBody>
          <a:bodyPr wrap="square" rtlCol="0">
            <a:spAutoFit/>
          </a:bodyPr>
          <a:lstStyle/>
          <a:p>
            <a:r>
              <a:rPr lang="en-US" sz="1200" i="1">
                <a:latin typeface="Abadi" panose="020B0604020104020204" pitchFamily="34" charset="0"/>
              </a:rPr>
              <a:t>A DataFrame tells you what the numbers are. Semantics tells you what they mean. Every eventi data object carries both — so the pipeline never loses context.</a:t>
            </a:r>
          </a:p>
        </p:txBody>
      </p:sp>
      <p:sp>
        <p:nvSpPr>
          <p:cNvPr id="23" name="TextBox 22">
            <a:extLst>
              <a:ext uri="{FF2B5EF4-FFF2-40B4-BE49-F238E27FC236}">
                <a16:creationId xmlns:a16="http://schemas.microsoft.com/office/drawing/2014/main" id="{CC717DFC-1600-F853-E442-79A668F1DFD6}"/>
              </a:ext>
            </a:extLst>
          </p:cNvPr>
          <p:cNvSpPr txBox="1"/>
          <p:nvPr/>
        </p:nvSpPr>
        <p:spPr>
          <a:xfrm>
            <a:off x="318407" y="2812351"/>
            <a:ext cx="4572000" cy="1569660"/>
          </a:xfrm>
          <a:prstGeom prst="rect">
            <a:avLst/>
          </a:prstGeom>
          <a:noFill/>
        </p:spPr>
        <p:txBody>
          <a:bodyPr wrap="square">
            <a:spAutoFit/>
          </a:bodyPr>
          <a:lstStyle/>
          <a:p>
            <a:r>
              <a:rPr lang="en-US" sz="1200" i="1">
                <a:latin typeface="Abadi" panose="020B0604020104020204" pitchFamily="34" charset="0"/>
              </a:rPr>
              <a:t>Why this level of abstraction:</a:t>
            </a:r>
          </a:p>
          <a:p>
            <a:r>
              <a:rPr lang="en-US" sz="1200" i="1">
                <a:latin typeface="Abadi" panose="020B0604020104020204" pitchFamily="34" charset="0"/>
              </a:rPr>
              <a:t>The type is the guarantee.</a:t>
            </a:r>
          </a:p>
          <a:p>
            <a:r>
              <a:rPr lang="en-US" sz="1200" i="1">
                <a:latin typeface="Abadi" panose="020B0604020104020204" pitchFamily="34" charset="0"/>
              </a:rPr>
              <a:t>No checking if the column still exists. No asserting the dates parsed correctly. No confirming the entity ID is not null. No re-validating what you already validated three functions ago. No praying that whoever called your function remembered to clean the data first. </a:t>
            </a:r>
          </a:p>
          <a:p>
            <a:endParaRPr lang="en-US" sz="1200" i="1">
              <a:latin typeface="Abadi" panose="020B0604020104020204" pitchFamily="34" charset="0"/>
            </a:endParaRPr>
          </a:p>
          <a:p>
            <a:r>
              <a:rPr lang="en-US" sz="1200" i="1">
                <a:latin typeface="Abadi" panose="020B0604020104020204" pitchFamily="34" charset="0"/>
              </a:rPr>
              <a:t>If an Events object exists, it is clean</a:t>
            </a:r>
          </a:p>
        </p:txBody>
      </p:sp>
      <p:sp>
        <p:nvSpPr>
          <p:cNvPr id="24" name="TextBox 23">
            <a:extLst>
              <a:ext uri="{FF2B5EF4-FFF2-40B4-BE49-F238E27FC236}">
                <a16:creationId xmlns:a16="http://schemas.microsoft.com/office/drawing/2014/main" id="{A41FBD51-66A8-64BC-F1A6-7C135903A50A}"/>
              </a:ext>
            </a:extLst>
          </p:cNvPr>
          <p:cNvSpPr txBox="1"/>
          <p:nvPr/>
        </p:nvSpPr>
        <p:spPr>
          <a:xfrm>
            <a:off x="3226526" y="1020610"/>
            <a:ext cx="2468881" cy="646331"/>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Tree>
    <p:extLst>
      <p:ext uri="{BB962C8B-B14F-4D97-AF65-F5344CB8AC3E}">
        <p14:creationId xmlns:p14="http://schemas.microsoft.com/office/powerpoint/2010/main" val="176281391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9F3A3-705C-8818-9704-E42DF21DF0A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031F908-CF12-B013-507B-2119D7DB7F36}"/>
              </a:ext>
            </a:extLst>
          </p:cNvPr>
          <p:cNvSpPr txBox="1"/>
          <p:nvPr/>
        </p:nvSpPr>
        <p:spPr>
          <a:xfrm>
            <a:off x="5695407" y="102716"/>
            <a:ext cx="3448594" cy="369332"/>
          </a:xfrm>
          <a:prstGeom prst="rect">
            <a:avLst/>
          </a:prstGeom>
          <a:noFill/>
        </p:spPr>
        <p:txBody>
          <a:bodyPr wrap="square" rtlCol="0">
            <a:spAutoFit/>
          </a:bodyPr>
          <a:lstStyle/>
          <a:p>
            <a:r>
              <a:rPr lang="en-US"/>
              <a:t>Analyzers utilize object contracts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226DC564-6F22-77F7-B96C-7EE10959332A}"/>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10" name="TextBox 9">
            <a:extLst>
              <a:ext uri="{FF2B5EF4-FFF2-40B4-BE49-F238E27FC236}">
                <a16:creationId xmlns:a16="http://schemas.microsoft.com/office/drawing/2014/main" id="{E3CDD131-78C9-CA9F-255D-BABD3B5ECA46}"/>
              </a:ext>
            </a:extLst>
          </p:cNvPr>
          <p:cNvSpPr txBox="1"/>
          <p:nvPr/>
        </p:nvSpPr>
        <p:spPr>
          <a:xfrm>
            <a:off x="501830" y="846952"/>
            <a:ext cx="2468881" cy="1015663"/>
          </a:xfrm>
          <a:prstGeom prst="rect">
            <a:avLst/>
          </a:prstGeom>
          <a:noFill/>
          <a:ln>
            <a:solidFill>
              <a:schemeClr val="accent5">
                <a:lumMod val="20000"/>
                <a:lumOff val="80000"/>
              </a:schemeClr>
            </a:solidFill>
          </a:ln>
          <a:effectLst>
            <a:glow rad="101600">
              <a:srgbClr val="FF0000">
                <a:alpha val="40000"/>
              </a:srgb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EventsWithinSpanAnalyzer</a:t>
            </a:r>
          </a:p>
          <a:p>
            <a:pPr algn="ctr"/>
            <a:r>
              <a:rPr lang="en-US" sz="1200">
                <a:latin typeface="Centaur" panose="02030504050205020304" pitchFamily="18" charset="0"/>
                <a:cs typeface="Times New Roman" panose="02020603050405020304" pitchFamily="18" charset="0"/>
              </a:rPr>
              <a:t>events: Events</a:t>
            </a:r>
          </a:p>
          <a:p>
            <a:pPr algn="ctr"/>
            <a:r>
              <a:rPr lang="en-US" sz="1200">
                <a:latin typeface="Centaur" panose="02030504050205020304" pitchFamily="18" charset="0"/>
                <a:cs typeface="Times New Roman" panose="02020603050405020304" pitchFamily="18" charset="0"/>
              </a:rPr>
              <a:t>spans: Spans</a:t>
            </a:r>
          </a:p>
          <a:p>
            <a:pPr algn="ctr"/>
            <a:r>
              <a:rPr lang="en-US" sz="1200">
                <a:latin typeface="Centaur" panose="02030504050205020304" pitchFamily="18" charset="0"/>
                <a:cs typeface="Times New Roman" panose="02020603050405020304" pitchFamily="18" charset="0"/>
              </a:rPr>
              <a:t>entity_col: str</a:t>
            </a:r>
          </a:p>
          <a:p>
            <a:pPr algn="ctr"/>
            <a:r>
              <a:rPr lang="en-US" sz="1200">
                <a:latin typeface="Centaur" panose="02030504050205020304" pitchFamily="18" charset="0"/>
                <a:cs typeface="Times New Roman" panose="02020603050405020304" pitchFamily="18" charset="0"/>
              </a:rPr>
              <a:t>meaningful_gap: int</a:t>
            </a:r>
          </a:p>
        </p:txBody>
      </p:sp>
      <p:pic>
        <p:nvPicPr>
          <p:cNvPr id="4" name="Picture 3">
            <a:extLst>
              <a:ext uri="{FF2B5EF4-FFF2-40B4-BE49-F238E27FC236}">
                <a16:creationId xmlns:a16="http://schemas.microsoft.com/office/drawing/2014/main" id="{A62CE5E8-39A3-71C1-E5A9-1A474F33078E}"/>
              </a:ext>
            </a:extLst>
          </p:cNvPr>
          <p:cNvPicPr>
            <a:picLocks noChangeAspect="1"/>
          </p:cNvPicPr>
          <p:nvPr/>
        </p:nvPicPr>
        <p:blipFill>
          <a:blip r:embed="rId24"/>
          <a:stretch>
            <a:fillRect/>
          </a:stretch>
        </p:blipFill>
        <p:spPr>
          <a:xfrm>
            <a:off x="4209796" y="846952"/>
            <a:ext cx="4934204" cy="990651"/>
          </a:xfrm>
          <a:prstGeom prst="rect">
            <a:avLst/>
          </a:prstGeom>
        </p:spPr>
      </p:pic>
      <p:pic>
        <p:nvPicPr>
          <p:cNvPr id="7" name="Picture 6">
            <a:extLst>
              <a:ext uri="{FF2B5EF4-FFF2-40B4-BE49-F238E27FC236}">
                <a16:creationId xmlns:a16="http://schemas.microsoft.com/office/drawing/2014/main" id="{0BCBA484-C3EC-9F64-37CD-309B4CC08A32}"/>
              </a:ext>
            </a:extLst>
          </p:cNvPr>
          <p:cNvPicPr>
            <a:picLocks noChangeAspect="1"/>
          </p:cNvPicPr>
          <p:nvPr/>
        </p:nvPicPr>
        <p:blipFill>
          <a:blip r:embed="rId25"/>
          <a:stretch>
            <a:fillRect/>
          </a:stretch>
        </p:blipFill>
        <p:spPr>
          <a:xfrm>
            <a:off x="4241549" y="2208697"/>
            <a:ext cx="4902452" cy="558829"/>
          </a:xfrm>
          <a:prstGeom prst="rect">
            <a:avLst/>
          </a:prstGeom>
        </p:spPr>
      </p:pic>
    </p:spTree>
    <p:extLst>
      <p:ext uri="{BB962C8B-B14F-4D97-AF65-F5344CB8AC3E}">
        <p14:creationId xmlns:p14="http://schemas.microsoft.com/office/powerpoint/2010/main" val="11707224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7D58151-86B3-7A36-A1E3-A3FA01AC8F35}"/>
              </a:ext>
            </a:extLst>
          </p:cNvPr>
          <p:cNvSpPr txBox="1"/>
          <p:nvPr/>
        </p:nvSpPr>
        <p:spPr>
          <a:xfrm>
            <a:off x="5695407" y="102716"/>
            <a:ext cx="3448594" cy="369332"/>
          </a:xfrm>
          <a:prstGeom prst="rect">
            <a:avLst/>
          </a:prstGeom>
          <a:noFill/>
        </p:spPr>
        <p:txBody>
          <a:bodyPr wrap="square" rtlCol="0">
            <a:spAutoFit/>
          </a:bodyPr>
          <a:lstStyle/>
          <a:p>
            <a:r>
              <a:rPr lang="en-US"/>
              <a:t>Parallelism and Composability</a:t>
            </a:r>
          </a:p>
        </p:txBody>
      </p:sp>
      <p:sp>
        <p:nvSpPr>
          <p:cNvPr id="3" name="TextBox 2">
            <a:extLst>
              <a:ext uri="{FF2B5EF4-FFF2-40B4-BE49-F238E27FC236}">
                <a16:creationId xmlns:a16="http://schemas.microsoft.com/office/drawing/2014/main" id="{DCD8B5AC-0557-001C-8981-09F1DA2189B7}"/>
              </a:ext>
            </a:extLst>
          </p:cNvPr>
          <p:cNvSpPr txBox="1"/>
          <p:nvPr/>
        </p:nvSpPr>
        <p:spPr>
          <a:xfrm>
            <a:off x="5183776" y="945088"/>
            <a:ext cx="2468881"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a:t>
            </a:r>
          </a:p>
          <a:p>
            <a:pPr algn="ctr"/>
            <a:r>
              <a:rPr lang="en-US" sz="1200" b="1">
                <a:latin typeface="Consolas" panose="020B0609020204030204" pitchFamily="49" charset="0"/>
                <a:cs typeface="Times New Roman" panose="02020603050405020304" pitchFamily="18" charset="0"/>
              </a:rPr>
              <a:t>(i.e. ED day, vaccine day)</a:t>
            </a:r>
          </a:p>
        </p:txBody>
      </p:sp>
      <p:sp>
        <p:nvSpPr>
          <p:cNvPr id="4" name="TextBox 3">
            <a:extLst>
              <a:ext uri="{FF2B5EF4-FFF2-40B4-BE49-F238E27FC236}">
                <a16:creationId xmlns:a16="http://schemas.microsoft.com/office/drawing/2014/main" id="{CACCE28A-7E1F-6D48-7A0B-140873068F91}"/>
              </a:ext>
            </a:extLst>
          </p:cNvPr>
          <p:cNvSpPr txBox="1"/>
          <p:nvPr/>
        </p:nvSpPr>
        <p:spPr>
          <a:xfrm>
            <a:off x="4998719" y="1873376"/>
            <a:ext cx="2838996"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OccurrencesWithinSpanAnalyzer</a:t>
            </a:r>
          </a:p>
          <a:p>
            <a:pPr algn="ctr"/>
            <a:r>
              <a:rPr lang="en-US" sz="1200" b="1">
                <a:latin typeface="Consolas" panose="020B0609020204030204" pitchFamily="49" charset="0"/>
                <a:cs typeface="Times New Roman" panose="02020603050405020304" pitchFamily="18" charset="0"/>
              </a:rPr>
              <a:t>.calc()</a:t>
            </a:r>
          </a:p>
        </p:txBody>
      </p:sp>
      <p:sp>
        <p:nvSpPr>
          <p:cNvPr id="5" name="TextBox 4">
            <a:extLst>
              <a:ext uri="{FF2B5EF4-FFF2-40B4-BE49-F238E27FC236}">
                <a16:creationId xmlns:a16="http://schemas.microsoft.com/office/drawing/2014/main" id="{34D228A2-6AFB-7FA5-A05D-ED480ED00FC2}"/>
              </a:ext>
            </a:extLst>
          </p:cNvPr>
          <p:cNvSpPr txBox="1"/>
          <p:nvPr/>
        </p:nvSpPr>
        <p:spPr>
          <a:xfrm>
            <a:off x="4761411" y="2776571"/>
            <a:ext cx="3370218"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PipeDelimitedIntermediateOccurences</a:t>
            </a:r>
          </a:p>
          <a:p>
            <a:pPr algn="ctr"/>
            <a:r>
              <a:rPr lang="en-US" sz="1200" b="1">
                <a:latin typeface="Consolas" panose="020B0609020204030204" pitchFamily="49" charset="0"/>
                <a:cs typeface="Times New Roman" panose="02020603050405020304" pitchFamily="18" charset="0"/>
              </a:rPr>
              <a:t>.self_analyze(), .print_summary()</a:t>
            </a:r>
          </a:p>
        </p:txBody>
      </p:sp>
      <p:sp>
        <p:nvSpPr>
          <p:cNvPr id="6" name="TextBox 5">
            <a:extLst>
              <a:ext uri="{FF2B5EF4-FFF2-40B4-BE49-F238E27FC236}">
                <a16:creationId xmlns:a16="http://schemas.microsoft.com/office/drawing/2014/main" id="{C79E06BB-A302-5214-11BE-E28285D805C5}"/>
              </a:ext>
            </a:extLst>
          </p:cNvPr>
          <p:cNvSpPr txBox="1"/>
          <p:nvPr/>
        </p:nvSpPr>
        <p:spPr>
          <a:xfrm>
            <a:off x="777239" y="945296"/>
            <a:ext cx="2468881"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br>
              <a:rPr lang="en-US" sz="1200" b="1">
                <a:latin typeface="Consolas" panose="020B0609020204030204" pitchFamily="49" charset="0"/>
                <a:cs typeface="Times New Roman" panose="02020603050405020304" pitchFamily="18" charset="0"/>
              </a:rPr>
            </a:br>
            <a:r>
              <a:rPr lang="en-US" sz="1200" b="1">
                <a:latin typeface="Consolas" panose="020B0609020204030204" pitchFamily="49" charset="0"/>
                <a:cs typeface="Times New Roman" panose="02020603050405020304" pitchFamily="18" charset="0"/>
              </a:rPr>
              <a:t>(i.e. insurance-coverage)</a:t>
            </a:r>
          </a:p>
        </p:txBody>
      </p:sp>
      <p:sp>
        <p:nvSpPr>
          <p:cNvPr id="7" name="TextBox 6">
            <a:extLst>
              <a:ext uri="{FF2B5EF4-FFF2-40B4-BE49-F238E27FC236}">
                <a16:creationId xmlns:a16="http://schemas.microsoft.com/office/drawing/2014/main" id="{7FB24CEA-30E5-5CBA-B6FD-8AD5009A90DA}"/>
              </a:ext>
            </a:extLst>
          </p:cNvPr>
          <p:cNvSpPr txBox="1"/>
          <p:nvPr/>
        </p:nvSpPr>
        <p:spPr>
          <a:xfrm>
            <a:off x="592182" y="1873584"/>
            <a:ext cx="2838996"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EventsWithinSpanAnalyzer</a:t>
            </a:r>
          </a:p>
          <a:p>
            <a:pPr algn="ctr"/>
            <a:r>
              <a:rPr lang="en-US" sz="1200" b="1">
                <a:latin typeface="Consolas" panose="020B0609020204030204" pitchFamily="49" charset="0"/>
                <a:cs typeface="Times New Roman" panose="02020603050405020304" pitchFamily="18" charset="0"/>
              </a:rPr>
              <a:t>.calc_active_vs_inactive()</a:t>
            </a:r>
          </a:p>
        </p:txBody>
      </p:sp>
      <p:sp>
        <p:nvSpPr>
          <p:cNvPr id="8" name="TextBox 7">
            <a:extLst>
              <a:ext uri="{FF2B5EF4-FFF2-40B4-BE49-F238E27FC236}">
                <a16:creationId xmlns:a16="http://schemas.microsoft.com/office/drawing/2014/main" id="{05E27686-F227-D7B9-185A-555BA080B570}"/>
              </a:ext>
            </a:extLst>
          </p:cNvPr>
          <p:cNvSpPr txBox="1"/>
          <p:nvPr/>
        </p:nvSpPr>
        <p:spPr>
          <a:xfrm>
            <a:off x="354874" y="2776779"/>
            <a:ext cx="3370218"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PipeDelimitedIntermediateEvents</a:t>
            </a:r>
          </a:p>
          <a:p>
            <a:pPr algn="ctr"/>
            <a:r>
              <a:rPr lang="en-US" sz="1200" b="1">
                <a:latin typeface="Consolas" panose="020B0609020204030204" pitchFamily="49" charset="0"/>
                <a:cs typeface="Times New Roman" panose="02020603050405020304" pitchFamily="18" charset="0"/>
              </a:rPr>
              <a:t>.self_analyze(), .tier1/2/3()</a:t>
            </a:r>
          </a:p>
        </p:txBody>
      </p:sp>
      <p:sp>
        <p:nvSpPr>
          <p:cNvPr id="9" name="TextBox 8">
            <a:extLst>
              <a:ext uri="{FF2B5EF4-FFF2-40B4-BE49-F238E27FC236}">
                <a16:creationId xmlns:a16="http://schemas.microsoft.com/office/drawing/2014/main" id="{E201D2B9-E328-98D6-72D3-A0C7AE802AC3}"/>
              </a:ext>
            </a:extLst>
          </p:cNvPr>
          <p:cNvSpPr txBox="1"/>
          <p:nvPr/>
        </p:nvSpPr>
        <p:spPr>
          <a:xfrm>
            <a:off x="3608614" y="3706284"/>
            <a:ext cx="1390105" cy="261610"/>
          </a:xfrm>
          <a:prstGeom prst="rect">
            <a:avLst/>
          </a:prstGeom>
          <a:noFill/>
          <a:ln>
            <a:solidFill>
              <a:schemeClr val="tx1"/>
            </a:solidFill>
            <a:prstDash val="sysDot"/>
          </a:ln>
        </p:spPr>
        <p:txBody>
          <a:bodyPr wrap="square" rtlCol="0">
            <a:spAutoFit/>
          </a:bodyPr>
          <a:lstStyle/>
          <a:p>
            <a:pPr algn="ctr"/>
            <a:r>
              <a:rPr lang="en-US" sz="1100">
                <a:latin typeface="Abadi" panose="020B0604020104020204" pitchFamily="34" charset="0"/>
              </a:rPr>
              <a:t>add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68DB5CBF-D701-D322-4416-C438505D842C}"/>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cxnSp>
        <p:nvCxnSpPr>
          <p:cNvPr id="20" name="Straight Arrow Connector 19">
            <a:extLst>
              <a:ext uri="{FF2B5EF4-FFF2-40B4-BE49-F238E27FC236}">
                <a16:creationId xmlns:a16="http://schemas.microsoft.com/office/drawing/2014/main" id="{05A859ED-E06B-274D-17CB-3FEA7780F090}"/>
              </a:ext>
            </a:extLst>
          </p:cNvPr>
          <p:cNvCxnSpPr>
            <a:stCxn id="8" idx="2"/>
            <a:endCxn id="9" idx="0"/>
          </p:cNvCxnSpPr>
          <p:nvPr/>
        </p:nvCxnSpPr>
        <p:spPr>
          <a:xfrm>
            <a:off x="2039983" y="3238444"/>
            <a:ext cx="2263684" cy="4678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6575BD2-FB31-A170-A790-2AFEEA89FB6C}"/>
              </a:ext>
            </a:extLst>
          </p:cNvPr>
          <p:cNvCxnSpPr>
            <a:cxnSpLocks/>
            <a:stCxn id="5" idx="2"/>
            <a:endCxn id="9" idx="0"/>
          </p:cNvCxnSpPr>
          <p:nvPr/>
        </p:nvCxnSpPr>
        <p:spPr>
          <a:xfrm flipH="1">
            <a:off x="4303667" y="3238236"/>
            <a:ext cx="2142853" cy="4680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7BE384C-5999-6A35-D7ED-50B38B267B85}"/>
              </a:ext>
            </a:extLst>
          </p:cNvPr>
          <p:cNvCxnSpPr>
            <a:cxnSpLocks/>
            <a:stCxn id="5" idx="2"/>
          </p:cNvCxnSpPr>
          <p:nvPr/>
        </p:nvCxnSpPr>
        <p:spPr>
          <a:xfrm flipH="1">
            <a:off x="5375093" y="3238236"/>
            <a:ext cx="1071427" cy="11247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62B8F02-B538-3AF8-2F69-2D570ECB750D}"/>
              </a:ext>
            </a:extLst>
          </p:cNvPr>
          <p:cNvSpPr txBox="1"/>
          <p:nvPr/>
        </p:nvSpPr>
        <p:spPr>
          <a:xfrm>
            <a:off x="2618558" y="4408731"/>
            <a:ext cx="3370218" cy="276999"/>
          </a:xfrm>
          <a:prstGeom prst="rect">
            <a:avLst/>
          </a:prstGeom>
          <a:noFill/>
          <a:ln>
            <a:solidFill>
              <a:schemeClr val="accent5">
                <a:lumMod val="20000"/>
                <a:lumOff val="80000"/>
              </a:schemeClr>
            </a:solidFill>
          </a:ln>
          <a:effectLst>
            <a:glow rad="101600">
              <a:schemeClr val="accent4">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StackedBarsPlotter</a:t>
            </a:r>
          </a:p>
        </p:txBody>
      </p:sp>
      <p:cxnSp>
        <p:nvCxnSpPr>
          <p:cNvPr id="14" name="Straight Arrow Connector 13">
            <a:extLst>
              <a:ext uri="{FF2B5EF4-FFF2-40B4-BE49-F238E27FC236}">
                <a16:creationId xmlns:a16="http://schemas.microsoft.com/office/drawing/2014/main" id="{A6443675-EB6E-072E-E721-E90B1ED7F448}"/>
              </a:ext>
            </a:extLst>
          </p:cNvPr>
          <p:cNvCxnSpPr>
            <a:cxnSpLocks/>
            <a:stCxn id="8" idx="2"/>
          </p:cNvCxnSpPr>
          <p:nvPr/>
        </p:nvCxnSpPr>
        <p:spPr>
          <a:xfrm>
            <a:off x="2039983" y="3238444"/>
            <a:ext cx="1055642" cy="11702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B26C338-B9CF-64EE-5B48-270AF23AA4BE}"/>
              </a:ext>
            </a:extLst>
          </p:cNvPr>
          <p:cNvCxnSpPr>
            <a:cxnSpLocks/>
            <a:stCxn id="9" idx="2"/>
            <a:endCxn id="11" idx="0"/>
          </p:cNvCxnSpPr>
          <p:nvPr/>
        </p:nvCxnSpPr>
        <p:spPr>
          <a:xfrm>
            <a:off x="4303667" y="3967894"/>
            <a:ext cx="0" cy="4408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78E5E55-A5DE-FE84-CBF1-8BA954AEF9AB}"/>
              </a:ext>
            </a:extLst>
          </p:cNvPr>
          <p:cNvSpPr txBox="1"/>
          <p:nvPr/>
        </p:nvSpPr>
        <p:spPr>
          <a:xfrm>
            <a:off x="6123215" y="3758505"/>
            <a:ext cx="2592977" cy="1384995"/>
          </a:xfrm>
          <a:prstGeom prst="rect">
            <a:avLst/>
          </a:prstGeom>
          <a:noFill/>
        </p:spPr>
        <p:txBody>
          <a:bodyPr wrap="square" rtlCol="0">
            <a:spAutoFit/>
          </a:bodyPr>
          <a:lstStyle/>
          <a:p>
            <a:r>
              <a:rPr lang="en-US" sz="1200" i="1"/>
              <a:t>Plotter can therefore plot either occurrences within an span; or events within a span; or both within a span.</a:t>
            </a:r>
            <a:br>
              <a:rPr lang="en-US" sz="1200" i="1"/>
            </a:br>
            <a:r>
              <a:rPr lang="en-US" sz="1200" i="1"/>
              <a:t>All orchestrated by a YAML that understands the objects.</a:t>
            </a:r>
          </a:p>
          <a:p>
            <a:r>
              <a:rPr lang="en-US" sz="1200" i="1"/>
              <a:t>The plotter does not care which path was taken.</a:t>
            </a:r>
          </a:p>
        </p:txBody>
      </p:sp>
    </p:spTree>
    <p:extLst>
      <p:ext uri="{BB962C8B-B14F-4D97-AF65-F5344CB8AC3E}">
        <p14:creationId xmlns:p14="http://schemas.microsoft.com/office/powerpoint/2010/main" val="23171894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5E7D19C-B635-5DD0-8695-955AAAFDEE8B}"/>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4" name="TextBox 3">
            <a:extLst>
              <a:ext uri="{FF2B5EF4-FFF2-40B4-BE49-F238E27FC236}">
                <a16:creationId xmlns:a16="http://schemas.microsoft.com/office/drawing/2014/main" id="{5B7BC92F-7B27-B664-AE87-871394806226}"/>
              </a:ext>
            </a:extLst>
          </p:cNvPr>
          <p:cNvSpPr txBox="1"/>
          <p:nvPr/>
        </p:nvSpPr>
        <p:spPr>
          <a:xfrm>
            <a:off x="2868387" y="159848"/>
            <a:ext cx="5882640" cy="2292935"/>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 -&gt; Events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Events</a:t>
            </a:r>
          </a:p>
          <a:p>
            <a:r>
              <a:rPr lang="en-US" sz="1100" i="1">
                <a:latin typeface="Consolas" panose="020B0609020204030204" pitchFamily="49" charset="0"/>
              </a:rPr>
              <a:t>filter_by_dates</a:t>
            </a:r>
            <a:r>
              <a:rPr lang="en-US" sz="1100">
                <a:latin typeface="Consolas" panose="020B0609020204030204" pitchFamily="49" charset="0"/>
              </a:rPr>
              <a:t>(start, end) -&gt; Events</a:t>
            </a:r>
            <a:br>
              <a:rPr lang="en-US" sz="1100">
                <a:latin typeface="Consolas" panose="020B0609020204030204" pitchFamily="49" charset="0"/>
              </a:rPr>
            </a:br>
            <a:r>
              <a:rPr lang="en-US" sz="1100" i="1">
                <a:latin typeface="Consolas" panose="020B0609020204030204" pitchFamily="49" charset="0"/>
              </a:rPr>
              <a:t>copy</a:t>
            </a:r>
            <a:r>
              <a:rPr lang="en-US" sz="1100">
                <a:latin typeface="Consolas" panose="020B0609020204030204" pitchFamily="49" charset="0"/>
              </a:rPr>
              <a:t>() -&gt; Events</a:t>
            </a:r>
            <a:br>
              <a:rPr lang="en-US" sz="1100">
                <a:latin typeface="Consolas" panose="020B0609020204030204" pitchFamily="49" charset="0"/>
              </a:rPr>
            </a:br>
            <a:r>
              <a:rPr lang="en-US" sz="1100">
                <a:latin typeface="Consolas" panose="020B0609020204030204" pitchFamily="49" charset="0"/>
              </a:rPr>
              <a:t>build_</a:t>
            </a:r>
            <a:r>
              <a:rPr lang="en-US" sz="1100" i="1">
                <a:latin typeface="Consolas" panose="020B0609020204030204" pitchFamily="49" charset="0"/>
              </a:rPr>
              <a:t>summary</a:t>
            </a:r>
            <a:r>
              <a:rPr lang="en-US" sz="1100">
                <a:latin typeface="Consolas" panose="020B0609020204030204" pitchFamily="49" charset="0"/>
              </a:rPr>
              <a:t>() -&gt; dict</a:t>
            </a:r>
          </a:p>
          <a:p>
            <a:r>
              <a:rPr lang="en-US" sz="1100">
                <a:latin typeface="Consolas" panose="020B0609020204030204" pitchFamily="49" charset="0"/>
              </a:rPr>
              <a:t>print_summary() -&gt; None</a:t>
            </a:r>
          </a:p>
          <a:p>
            <a:endParaRPr lang="en-US" sz="1100" i="1">
              <a:latin typeface="Consolas" panose="020B0609020204030204" pitchFamily="49" charset="0"/>
            </a:endParaRPr>
          </a:p>
          <a:p>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
        <p:nvSpPr>
          <p:cNvPr id="2" name="TextBox 1">
            <a:extLst>
              <a:ext uri="{FF2B5EF4-FFF2-40B4-BE49-F238E27FC236}">
                <a16:creationId xmlns:a16="http://schemas.microsoft.com/office/drawing/2014/main" id="{9566D439-2BCA-EA05-5D5C-1A5873516B6E}"/>
              </a:ext>
            </a:extLst>
          </p:cNvPr>
          <p:cNvSpPr txBox="1"/>
          <p:nvPr/>
        </p:nvSpPr>
        <p:spPr>
          <a:xfrm>
            <a:off x="209005" y="253015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5" name="TextBox 4">
            <a:extLst>
              <a:ext uri="{FF2B5EF4-FFF2-40B4-BE49-F238E27FC236}">
                <a16:creationId xmlns:a16="http://schemas.microsoft.com/office/drawing/2014/main" id="{519EBFA5-FF8F-8A12-912B-1E0CECAF5AE3}"/>
              </a:ext>
            </a:extLst>
          </p:cNvPr>
          <p:cNvSpPr txBox="1"/>
          <p:nvPr/>
        </p:nvSpPr>
        <p:spPr>
          <a:xfrm>
            <a:off x="2868387" y="2481626"/>
            <a:ext cx="5882640" cy="1107996"/>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br>
              <a:rPr lang="en-US" sz="1100">
                <a:latin typeface="Consolas" panose="020B0609020204030204" pitchFamily="49" charset="0"/>
              </a:rPr>
            </a:br>
            <a:br>
              <a:rPr lang="en-US" sz="1100">
                <a:latin typeface="Consolas" panose="020B0609020204030204" pitchFamily="49" charset="0"/>
              </a:rPr>
            </a:br>
            <a:r>
              <a:rPr lang="en-US" sz="1100" b="1">
                <a:latin typeface="Consolas" panose="020B0609020204030204" pitchFamily="49" charset="0"/>
              </a:rPr>
              <a:t>Methods</a:t>
            </a:r>
          </a:p>
          <a:p>
            <a:r>
              <a:rPr lang="en-US" sz="1100" i="1">
                <a:latin typeface="Consolas" panose="020B0609020204030204" pitchFamily="49" charset="0"/>
              </a:rPr>
              <a:t>return_as_obs_period</a:t>
            </a:r>
            <a:r>
              <a:rPr lang="en-US" sz="1100">
                <a:latin typeface="Consolas" panose="020B0609020204030204" pitchFamily="49" charset="0"/>
              </a:rPr>
              <a:t>() -&gt; ObsPeriodPerEntity</a:t>
            </a:r>
          </a:p>
          <a:p>
            <a:endParaRPr lang="en-US" sz="1100" b="1">
              <a:latin typeface="Consolas" panose="020B0609020204030204" pitchFamily="49" charset="0"/>
            </a:endParaRPr>
          </a:p>
        </p:txBody>
      </p:sp>
      <p:sp>
        <p:nvSpPr>
          <p:cNvPr id="6" name="TextBox 5">
            <a:extLst>
              <a:ext uri="{FF2B5EF4-FFF2-40B4-BE49-F238E27FC236}">
                <a16:creationId xmlns:a16="http://schemas.microsoft.com/office/drawing/2014/main" id="{27174356-EF4E-8A97-3F23-B5C67449DE89}"/>
              </a:ext>
            </a:extLst>
          </p:cNvPr>
          <p:cNvSpPr txBox="1"/>
          <p:nvPr/>
        </p:nvSpPr>
        <p:spPr>
          <a:xfrm>
            <a:off x="209005" y="3762873"/>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7" name="TextBox 6">
            <a:extLst>
              <a:ext uri="{FF2B5EF4-FFF2-40B4-BE49-F238E27FC236}">
                <a16:creationId xmlns:a16="http://schemas.microsoft.com/office/drawing/2014/main" id="{8298FAA9-3EF5-3BEC-415A-FBC202D14C9D}"/>
              </a:ext>
            </a:extLst>
          </p:cNvPr>
          <p:cNvSpPr txBox="1"/>
          <p:nvPr/>
        </p:nvSpPr>
        <p:spPr>
          <a:xfrm>
            <a:off x="2868387" y="3694293"/>
            <a:ext cx="6066608" cy="938719"/>
          </a:xfrm>
          <a:prstGeom prst="rect">
            <a:avLst/>
          </a:prstGeom>
          <a:noFill/>
        </p:spPr>
        <p:txBody>
          <a:bodyPr wrap="square" rtlCol="0">
            <a:spAutoFit/>
          </a:bodyPr>
          <a:lstStyle/>
          <a:p>
            <a:r>
              <a:rPr lang="en-US" sz="1100" b="1">
                <a:latin typeface="Consolas" panose="020B0609020204030204" pitchFamily="49" charset="0"/>
              </a:rPr>
              <a:t>Constructors as Class Methods</a:t>
            </a:r>
          </a:p>
          <a:p>
            <a:r>
              <a:rPr lang="en-US" sz="1100" i="1">
                <a:latin typeface="Consolas" panose="020B0609020204030204" pitchFamily="49" charset="0"/>
              </a:rPr>
              <a:t>construct_from_calendar</a:t>
            </a:r>
            <a:r>
              <a:rPr lang="en-US" sz="1100">
                <a:latin typeface="Consolas" panose="020B0609020204030204" pitchFamily="49" charset="0"/>
              </a:rPr>
              <a:t>(entity_ids, start, end, entity_col, identity|None)</a:t>
            </a:r>
            <a:endParaRPr lang="en-US" sz="1100" i="1">
              <a:latin typeface="Consolas" panose="020B0609020204030204" pitchFamily="49" charset="0"/>
            </a:endParaRPr>
          </a:p>
          <a:p>
            <a:r>
              <a:rPr lang="en-US" sz="1100" i="1">
                <a:latin typeface="Consolas" panose="020B0609020204030204" pitchFamily="49" charset="0"/>
              </a:rPr>
              <a:t>construct_from_age_window</a:t>
            </a:r>
            <a:r>
              <a:rPr lang="en-US" sz="1100">
                <a:latin typeface="Consolas" panose="020B0609020204030204" pitchFamily="49" charset="0"/>
              </a:rPr>
              <a:t>(entity_df, dob_col, age_start, age_end, entity_col, age_unit, identity)</a:t>
            </a:r>
            <a:endParaRPr lang="en-US" sz="1100" i="1">
              <a:latin typeface="Consolas" panose="020B0609020204030204" pitchFamily="49" charset="0"/>
            </a:endParaRPr>
          </a:p>
          <a:p>
            <a:r>
              <a:rPr lang="en-US" sz="1100" i="1">
                <a:latin typeface="Consolas" panose="020B0609020204030204" pitchFamily="49" charset="0"/>
              </a:rPr>
              <a:t>construct_from_events</a:t>
            </a:r>
            <a:r>
              <a:rPr lang="en-US" sz="1100">
                <a:latin typeface="Consolas" panose="020B0609020204030204" pitchFamily="49" charset="0"/>
              </a:rPr>
              <a:t>(events, identity|None)</a:t>
            </a:r>
          </a:p>
        </p:txBody>
      </p:sp>
      <p:cxnSp>
        <p:nvCxnSpPr>
          <p:cNvPr id="9" name="Straight Arrow Connector 8">
            <a:extLst>
              <a:ext uri="{FF2B5EF4-FFF2-40B4-BE49-F238E27FC236}">
                <a16:creationId xmlns:a16="http://schemas.microsoft.com/office/drawing/2014/main" id="{DBC00C26-1286-F564-EE74-358BD04EC0C1}"/>
              </a:ext>
            </a:extLst>
          </p:cNvPr>
          <p:cNvCxnSpPr/>
          <p:nvPr/>
        </p:nvCxnSpPr>
        <p:spPr>
          <a:xfrm>
            <a:off x="1574074" y="1012371"/>
            <a:ext cx="0" cy="10319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E2040B0-EE5A-D588-3C97-762A395CD7B8}"/>
              </a:ext>
            </a:extLst>
          </p:cNvPr>
          <p:cNvCxnSpPr>
            <a:cxnSpLocks/>
          </p:cNvCxnSpPr>
          <p:nvPr/>
        </p:nvCxnSpPr>
        <p:spPr>
          <a:xfrm>
            <a:off x="1574074" y="3292929"/>
            <a:ext cx="0" cy="328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97309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EAAF7-3B65-D177-B93A-E43553E28F5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C60447-FF59-8A11-315C-51AE0C47ABC2}"/>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OccurrenceSemantics</a:t>
            </a:r>
          </a:p>
        </p:txBody>
      </p:sp>
      <p:sp>
        <p:nvSpPr>
          <p:cNvPr id="4" name="TextBox 3">
            <a:extLst>
              <a:ext uri="{FF2B5EF4-FFF2-40B4-BE49-F238E27FC236}">
                <a16:creationId xmlns:a16="http://schemas.microsoft.com/office/drawing/2014/main" id="{BAEA84C1-49A2-1C1C-5178-1AE5D20FA9F0}"/>
              </a:ext>
            </a:extLst>
          </p:cNvPr>
          <p:cNvSpPr txBox="1"/>
          <p:nvPr/>
        </p:nvSpPr>
        <p:spPr>
          <a:xfrm>
            <a:off x="2868387" y="159848"/>
            <a:ext cx="5882640" cy="2462213"/>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Occurrences</a:t>
            </a:r>
          </a:p>
          <a:p>
            <a:r>
              <a:rPr lang="en-US" sz="1100" i="1">
                <a:latin typeface="Consolas" panose="020B0609020204030204" pitchFamily="49" charset="0"/>
              </a:rPr>
              <a:t>filter_by_dates</a:t>
            </a:r>
            <a:r>
              <a:rPr lang="en-US" sz="1100">
                <a:latin typeface="Consolas" panose="020B0609020204030204" pitchFamily="49" charset="0"/>
              </a:rPr>
              <a:t>(start, end) -&gt; Occurrences</a:t>
            </a:r>
            <a:br>
              <a:rPr lang="en-US" sz="1100">
                <a:latin typeface="Consolas" panose="020B0609020204030204" pitchFamily="49" charset="0"/>
              </a:rPr>
            </a:br>
            <a:r>
              <a:rPr lang="en-US" sz="1100" i="1">
                <a:latin typeface="Consolas" panose="020B0609020204030204" pitchFamily="49" charset="0"/>
              </a:rPr>
              <a:t>count_per_entity</a:t>
            </a:r>
            <a:r>
              <a:rPr lang="en-US" sz="1100">
                <a:latin typeface="Consolas" panose="020B0609020204030204" pitchFamily="49" charset="0"/>
              </a:rPr>
              <a:t>() -&gt; pd.Series</a:t>
            </a:r>
          </a:p>
          <a:p>
            <a:r>
              <a:rPr lang="en-US" sz="1100" i="1">
                <a:latin typeface="Consolas" panose="020B0609020204030204" pitchFamily="49" charset="0"/>
              </a:rPr>
              <a:t>copy</a:t>
            </a:r>
            <a:r>
              <a:rPr lang="en-US" sz="1100">
                <a:latin typeface="Consolas" panose="020B0609020204030204" pitchFamily="49" charset="0"/>
              </a:rPr>
              <a:t>() -&gt; Occurrences</a:t>
            </a:r>
            <a:br>
              <a:rPr lang="en-US" sz="1100">
                <a:latin typeface="Consolas" panose="020B0609020204030204" pitchFamily="49" charset="0"/>
              </a:rPr>
            </a:br>
            <a:r>
              <a:rPr lang="en-US" sz="1100">
                <a:latin typeface="Consolas" panose="020B0609020204030204" pitchFamily="49" charset="0"/>
              </a:rPr>
              <a:t>build_</a:t>
            </a:r>
            <a:r>
              <a:rPr lang="en-US" sz="1100" i="1">
                <a:latin typeface="Consolas" panose="020B0609020204030204" pitchFamily="49" charset="0"/>
              </a:rPr>
              <a:t>summary</a:t>
            </a:r>
            <a:r>
              <a:rPr lang="en-US" sz="1100">
                <a:latin typeface="Consolas" panose="020B0609020204030204" pitchFamily="49" charset="0"/>
              </a:rPr>
              <a:t>() -&gt; dict</a:t>
            </a:r>
          </a:p>
          <a:p>
            <a:r>
              <a:rPr lang="en-US" sz="1100">
                <a:latin typeface="Consolas" panose="020B0609020204030204" pitchFamily="49" charset="0"/>
              </a:rPr>
              <a:t>print_summary() -&gt; None</a:t>
            </a:r>
          </a:p>
          <a:p>
            <a:endParaRPr lang="en-US" sz="1100" i="1">
              <a:latin typeface="Consolas" panose="020B0609020204030204" pitchFamily="49" charset="0"/>
            </a:endParaRPr>
          </a:p>
          <a:p>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
        <p:nvSpPr>
          <p:cNvPr id="2" name="TextBox 1">
            <a:extLst>
              <a:ext uri="{FF2B5EF4-FFF2-40B4-BE49-F238E27FC236}">
                <a16:creationId xmlns:a16="http://schemas.microsoft.com/office/drawing/2014/main" id="{67E08284-8D1E-414D-07F5-3F1D9E3EE10B}"/>
              </a:ext>
            </a:extLst>
          </p:cNvPr>
          <p:cNvSpPr txBox="1"/>
          <p:nvPr/>
        </p:nvSpPr>
        <p:spPr>
          <a:xfrm>
            <a:off x="209005" y="277399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5" name="TextBox 4">
            <a:extLst>
              <a:ext uri="{FF2B5EF4-FFF2-40B4-BE49-F238E27FC236}">
                <a16:creationId xmlns:a16="http://schemas.microsoft.com/office/drawing/2014/main" id="{7F8C5E50-F235-8397-C119-EB02DE6FCEA2}"/>
              </a:ext>
            </a:extLst>
          </p:cNvPr>
          <p:cNvSpPr txBox="1"/>
          <p:nvPr/>
        </p:nvSpPr>
        <p:spPr>
          <a:xfrm>
            <a:off x="2868387" y="2697054"/>
            <a:ext cx="5882640" cy="1277273"/>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br>
              <a:rPr lang="en-US" sz="1100">
                <a:latin typeface="Consolas" panose="020B0609020204030204" pitchFamily="49" charset="0"/>
              </a:rPr>
            </a:br>
            <a:br>
              <a:rPr lang="en-US" sz="1100">
                <a:latin typeface="Consolas" panose="020B0609020204030204" pitchFamily="49" charset="0"/>
              </a:rPr>
            </a:br>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OccurrencesPerEntity</a:t>
            </a:r>
          </a:p>
          <a:p>
            <a:r>
              <a:rPr lang="en-US" sz="1100" i="1">
                <a:latin typeface="Consolas" panose="020B0609020204030204" pitchFamily="49" charset="0"/>
              </a:rPr>
              <a:t>copy</a:t>
            </a:r>
            <a:r>
              <a:rPr lang="en-US" sz="1100">
                <a:latin typeface="Consolas" panose="020B0609020204030204" pitchFamily="49" charset="0"/>
              </a:rPr>
              <a:t>() -&gt; OccurrencesPerEntity</a:t>
            </a:r>
          </a:p>
          <a:p>
            <a:r>
              <a:rPr lang="en-US" sz="1100" i="1">
                <a:latin typeface="Consolas" panose="020B0609020204030204" pitchFamily="49" charset="0"/>
              </a:rPr>
              <a:t>build_obs_period</a:t>
            </a:r>
            <a:r>
              <a:rPr lang="en-US" sz="1100">
                <a:latin typeface="Consolas" panose="020B0609020204030204" pitchFamily="49" charset="0"/>
              </a:rPr>
              <a:t>(identity) -&gt; ObsPeriodPerEntity</a:t>
            </a:r>
          </a:p>
        </p:txBody>
      </p:sp>
      <p:cxnSp>
        <p:nvCxnSpPr>
          <p:cNvPr id="9" name="Straight Arrow Connector 8">
            <a:extLst>
              <a:ext uri="{FF2B5EF4-FFF2-40B4-BE49-F238E27FC236}">
                <a16:creationId xmlns:a16="http://schemas.microsoft.com/office/drawing/2014/main" id="{0A5D7157-F928-F497-117B-0D68CB795CF9}"/>
              </a:ext>
            </a:extLst>
          </p:cNvPr>
          <p:cNvCxnSpPr/>
          <p:nvPr/>
        </p:nvCxnSpPr>
        <p:spPr>
          <a:xfrm>
            <a:off x="1574074" y="1012371"/>
            <a:ext cx="0" cy="10319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04537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741CD-442A-48C1-FEBA-922C7337E4B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76CFAC5-166D-E319-06DE-99DAECA2E323}"/>
              </a:ext>
            </a:extLst>
          </p:cNvPr>
          <p:cNvSpPr txBox="1"/>
          <p:nvPr/>
        </p:nvSpPr>
        <p:spPr>
          <a:xfrm>
            <a:off x="3554965" y="90020"/>
            <a:ext cx="5882640" cy="1015663"/>
          </a:xfrm>
          <a:prstGeom prst="rect">
            <a:avLst/>
          </a:prstGeom>
          <a:noFill/>
        </p:spPr>
        <p:txBody>
          <a:bodyPr wrap="square" rtlCol="0">
            <a:spAutoFit/>
          </a:bodyPr>
          <a:lstStyle/>
          <a:p>
            <a:r>
              <a:rPr lang="en-US" sz="1200" b="1">
                <a:latin typeface="Consolas" panose="020B0609020204030204" pitchFamily="49" charset="0"/>
              </a:rPr>
              <a:t>Constructor</a:t>
            </a:r>
          </a:p>
          <a:p>
            <a:r>
              <a:rPr lang="en-US" sz="1200" i="1">
                <a:latin typeface="Consolas" panose="020B0609020204030204" pitchFamily="49" charset="0"/>
              </a:rPr>
              <a:t>__init__</a:t>
            </a:r>
            <a:r>
              <a:rPr lang="en-US" sz="1200">
                <a:latin typeface="Consolas" panose="020B0609020204030204" pitchFamily="49" charset="0"/>
              </a:rPr>
              <a:t>(events, obs_period, entity_col, meaningful_gap)</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compute_event_coverage() -&gt; PipeDelimitedIntermediateEvents</a:t>
            </a:r>
          </a:p>
        </p:txBody>
      </p:sp>
      <p:sp>
        <p:nvSpPr>
          <p:cNvPr id="2" name="TextBox 1">
            <a:extLst>
              <a:ext uri="{FF2B5EF4-FFF2-40B4-BE49-F238E27FC236}">
                <a16:creationId xmlns:a16="http://schemas.microsoft.com/office/drawing/2014/main" id="{15A6BAD4-18E2-1E61-2416-BD0C516639CC}"/>
              </a:ext>
            </a:extLst>
          </p:cNvPr>
          <p:cNvSpPr txBox="1"/>
          <p:nvPr/>
        </p:nvSpPr>
        <p:spPr>
          <a:xfrm>
            <a:off x="182879" y="90020"/>
            <a:ext cx="3307081" cy="1107996"/>
          </a:xfrm>
          <a:prstGeom prst="rect">
            <a:avLst/>
          </a:prstGeom>
          <a:ln>
            <a:solidFill>
              <a:srgbClr val="FF0000"/>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EventsWithinObsPeriodAnalyzer</a:t>
            </a:r>
          </a:p>
          <a:p>
            <a:pPr algn="ctr"/>
            <a:r>
              <a:rPr lang="en-US" sz="1100">
                <a:latin typeface="Consolas" panose="020B0609020204030204" pitchFamily="49" charset="0"/>
                <a:cs typeface="Times New Roman" panose="02020603050405020304" pitchFamily="18" charset="0"/>
              </a:rPr>
              <a:t>events: Events</a:t>
            </a:r>
          </a:p>
          <a:p>
            <a:pPr algn="ctr"/>
            <a:r>
              <a:rPr lang="en-US" sz="1100">
                <a:latin typeface="Consolas" panose="020B0609020204030204" pitchFamily="49" charset="0"/>
                <a:cs typeface="Times New Roman" panose="02020603050405020304" pitchFamily="18" charset="0"/>
              </a:rPr>
              <a:t>obs_period: ObsPeriodPerEntity</a:t>
            </a:r>
          </a:p>
          <a:p>
            <a:pPr algn="ctr"/>
            <a:r>
              <a:rPr lang="en-US" sz="1100">
                <a:latin typeface="Consolas" panose="020B0609020204030204" pitchFamily="49" charset="0"/>
                <a:cs typeface="Times New Roman" panose="02020603050405020304" pitchFamily="18" charset="0"/>
              </a:rPr>
              <a:t>entity_col: str | None</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meaningful_gap: int</a:t>
            </a:r>
          </a:p>
          <a:p>
            <a:pPr algn="ctr"/>
            <a:endParaRPr lang="en-US" sz="1100" b="1">
              <a:latin typeface="Consolas" panose="020B0609020204030204" pitchFamily="49" charset="0"/>
              <a:cs typeface="Times New Roman" panose="02020603050405020304" pitchFamily="18" charset="0"/>
            </a:endParaRPr>
          </a:p>
        </p:txBody>
      </p:sp>
      <p:sp>
        <p:nvSpPr>
          <p:cNvPr id="6" name="TextBox 5">
            <a:extLst>
              <a:ext uri="{FF2B5EF4-FFF2-40B4-BE49-F238E27FC236}">
                <a16:creationId xmlns:a16="http://schemas.microsoft.com/office/drawing/2014/main" id="{701E673B-A06A-9CD5-C4EC-D0BDECD5F542}"/>
              </a:ext>
            </a:extLst>
          </p:cNvPr>
          <p:cNvSpPr txBox="1"/>
          <p:nvPr/>
        </p:nvSpPr>
        <p:spPr>
          <a:xfrm>
            <a:off x="104503" y="1721667"/>
            <a:ext cx="3385457" cy="1446550"/>
          </a:xfrm>
          <a:prstGeom prst="rect">
            <a:avLst/>
          </a:prstGeom>
          <a:ln w="38100">
            <a:solidFill>
              <a:srgbClr val="7030A0"/>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StackedTimelinePlotterConfig</a:t>
            </a:r>
          </a:p>
          <a:p>
            <a:pPr algn="ctr"/>
            <a:r>
              <a:rPr lang="en-US" sz="1100">
                <a:latin typeface="Consolas" panose="020B0609020204030204" pitchFamily="49" charset="0"/>
                <a:cs typeface="Times New Roman" panose="02020603050405020304" pitchFamily="18" charset="0"/>
              </a:rPr>
              <a:t>general: GeneralConfig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span: SpanConfig</a:t>
            </a:r>
          </a:p>
          <a:p>
            <a:pPr algn="ctr"/>
            <a:r>
              <a:rPr lang="en-US" sz="1100">
                <a:latin typeface="Consolas" panose="020B0609020204030204" pitchFamily="49" charset="0"/>
                <a:cs typeface="Times New Roman" panose="02020603050405020304" pitchFamily="18" charset="0"/>
              </a:rPr>
              <a:t>event_settings: list[EventLayerConfig]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occurrences_settings: list[OccLayerConfig]</a:t>
            </a:r>
          </a:p>
          <a:p>
            <a:pPr algn="ctr"/>
            <a:r>
              <a:rPr lang="en-US" sz="1100">
                <a:latin typeface="Consolas" panose="020B0609020204030204" pitchFamily="49" charset="0"/>
                <a:cs typeface="Times New Roman" panose="02020603050405020304" pitchFamily="18" charset="0"/>
              </a:rPr>
              <a:t>legend: LegendConfig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x_axis_labels: XAxisConfig</a:t>
            </a:r>
          </a:p>
          <a:p>
            <a:pPr algn="ctr"/>
            <a:endParaRPr lang="en-US" sz="1100" b="1">
              <a:latin typeface="Consolas" panose="020B0609020204030204" pitchFamily="49" charset="0"/>
              <a:cs typeface="Times New Roman" panose="02020603050405020304" pitchFamily="18" charset="0"/>
            </a:endParaRPr>
          </a:p>
        </p:txBody>
      </p:sp>
      <p:sp>
        <p:nvSpPr>
          <p:cNvPr id="8" name="TextBox 7">
            <a:extLst>
              <a:ext uri="{FF2B5EF4-FFF2-40B4-BE49-F238E27FC236}">
                <a16:creationId xmlns:a16="http://schemas.microsoft.com/office/drawing/2014/main" id="{3A5A075B-09CE-4551-F0E3-09897A8521B2}"/>
              </a:ext>
            </a:extLst>
          </p:cNvPr>
          <p:cNvSpPr txBox="1"/>
          <p:nvPr/>
        </p:nvSpPr>
        <p:spPr>
          <a:xfrm>
            <a:off x="3699355" y="1721667"/>
            <a:ext cx="5882640" cy="276999"/>
          </a:xfrm>
          <a:prstGeom prst="rect">
            <a:avLst/>
          </a:prstGeom>
          <a:noFill/>
        </p:spPr>
        <p:txBody>
          <a:bodyPr wrap="square" rtlCol="0">
            <a:spAutoFit/>
          </a:bodyPr>
          <a:lstStyle/>
          <a:p>
            <a:r>
              <a:rPr lang="en-US" sz="1200" b="1">
                <a:latin typeface="Consolas" panose="020B0609020204030204" pitchFamily="49" charset="0"/>
              </a:rPr>
              <a:t>***</a:t>
            </a:r>
          </a:p>
        </p:txBody>
      </p:sp>
      <p:sp>
        <p:nvSpPr>
          <p:cNvPr id="3" name="TextBox 2">
            <a:extLst>
              <a:ext uri="{FF2B5EF4-FFF2-40B4-BE49-F238E27FC236}">
                <a16:creationId xmlns:a16="http://schemas.microsoft.com/office/drawing/2014/main" id="{669A410E-5A3A-20EC-7072-8850352B2A08}"/>
              </a:ext>
            </a:extLst>
          </p:cNvPr>
          <p:cNvSpPr txBox="1"/>
          <p:nvPr/>
        </p:nvSpPr>
        <p:spPr>
          <a:xfrm>
            <a:off x="104503" y="3832407"/>
            <a:ext cx="3385457" cy="769441"/>
          </a:xfrm>
          <a:prstGeom prst="rect">
            <a:avLst/>
          </a:prstGeom>
          <a:ln w="38100">
            <a:solidFill>
              <a:schemeClr val="accent5"/>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StackedTimelinePlotter</a:t>
            </a:r>
          </a:p>
          <a:p>
            <a:pPr algn="ctr"/>
            <a:r>
              <a:rPr lang="en-US" sz="1100">
                <a:latin typeface="Consolas" panose="020B0609020204030204" pitchFamily="49" charset="0"/>
                <a:cs typeface="Times New Roman" panose="02020603050405020304" pitchFamily="18" charset="0"/>
              </a:rPr>
              <a:t>intermediate: PipeDelimitedIntermediate</a:t>
            </a:r>
          </a:p>
          <a:p>
            <a:pPr algn="ctr"/>
            <a:r>
              <a:rPr lang="en-US" sz="1100">
                <a:latin typeface="Consolas" panose="020B0609020204030204" pitchFamily="49" charset="0"/>
                <a:cs typeface="Times New Roman" panose="02020603050405020304" pitchFamily="18" charset="0"/>
              </a:rPr>
              <a:t>config: StackedTimelineConfig | None</a:t>
            </a:r>
          </a:p>
          <a:p>
            <a:pPr algn="ctr"/>
            <a:endParaRPr lang="en-US" sz="1100" b="1">
              <a:latin typeface="Consolas" panose="020B0609020204030204" pitchFamily="49" charset="0"/>
              <a:cs typeface="Times New Roman" panose="02020603050405020304" pitchFamily="18" charset="0"/>
            </a:endParaRPr>
          </a:p>
        </p:txBody>
      </p:sp>
      <p:sp>
        <p:nvSpPr>
          <p:cNvPr id="5" name="TextBox 4">
            <a:extLst>
              <a:ext uri="{FF2B5EF4-FFF2-40B4-BE49-F238E27FC236}">
                <a16:creationId xmlns:a16="http://schemas.microsoft.com/office/drawing/2014/main" id="{129EAA0A-E1D8-FF3B-96BF-9C626F925A40}"/>
              </a:ext>
            </a:extLst>
          </p:cNvPr>
          <p:cNvSpPr txBox="1"/>
          <p:nvPr/>
        </p:nvSpPr>
        <p:spPr>
          <a:xfrm>
            <a:off x="3707365" y="3762860"/>
            <a:ext cx="5882640" cy="938719"/>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(intermediate, config)</a:t>
            </a:r>
          </a:p>
          <a:p>
            <a:endParaRPr lang="en-US" sz="1100">
              <a:latin typeface="Consolas" panose="020B0609020204030204" pitchFamily="49" charset="0"/>
            </a:endParaRPr>
          </a:p>
          <a:p>
            <a:r>
              <a:rPr lang="en-US" sz="1100" b="1">
                <a:latin typeface="Consolas" panose="020B0609020204030204" pitchFamily="49" charset="0"/>
              </a:rPr>
              <a:t>Methods</a:t>
            </a:r>
          </a:p>
          <a:p>
            <a:r>
              <a:rPr lang="en-US" sz="1100">
                <a:latin typeface="Consolas" panose="020B0609020204030204" pitchFamily="49" charset="0"/>
              </a:rPr>
              <a:t>plot(path)</a:t>
            </a:r>
          </a:p>
        </p:txBody>
      </p:sp>
    </p:spTree>
    <p:extLst>
      <p:ext uri="{BB962C8B-B14F-4D97-AF65-F5344CB8AC3E}">
        <p14:creationId xmlns:p14="http://schemas.microsoft.com/office/powerpoint/2010/main" val="9343181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29809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3243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85293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
    <p:bg>
      <p:bgPr>
        <a:solidFill>
          <a:srgbClr val="0D2B45"/>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28090"/>
          </a:solidFill>
          <a:ln/>
        </p:spPr>
        <p:txBody>
          <a:bodyPr/>
          <a:lstStyle/>
          <a:p>
            <a:endParaRPr lang="en-US"/>
          </a:p>
        </p:txBody>
      </p:sp>
      <p:sp>
        <p:nvSpPr>
          <p:cNvPr id="3" name="Text 1"/>
          <p:cNvSpPr/>
          <p:nvPr/>
        </p:nvSpPr>
        <p:spPr>
          <a:xfrm>
            <a:off x="365760" y="1097280"/>
            <a:ext cx="8412480" cy="1005840"/>
          </a:xfrm>
          <a:prstGeom prst="rect">
            <a:avLst/>
          </a:prstGeom>
          <a:noFill/>
          <a:ln/>
        </p:spPr>
        <p:txBody>
          <a:bodyPr wrap="square" lIns="0" tIns="0" rIns="0" bIns="0" rtlCol="0" anchor="ctr"/>
          <a:lstStyle/>
          <a:p>
            <a:pPr marL="0" indent="0" algn="l">
              <a:buNone/>
            </a:pPr>
            <a:r>
              <a:rPr lang="en-US" sz="7200" b="1" kern="0" spc="800">
                <a:solidFill>
                  <a:srgbClr val="FFFFFF"/>
                </a:solidFill>
                <a:latin typeface="Calibri" pitchFamily="34" charset="0"/>
                <a:ea typeface="Calibri" pitchFamily="34" charset="-122"/>
                <a:cs typeface="Calibri" pitchFamily="34" charset="-120"/>
              </a:rPr>
              <a:t>eventi</a:t>
            </a:r>
            <a:endParaRPr lang="en-US" sz="7200" dirty="0"/>
          </a:p>
        </p:txBody>
      </p:sp>
      <p:sp>
        <p:nvSpPr>
          <p:cNvPr id="4" name="Text 2"/>
          <p:cNvSpPr/>
          <p:nvPr/>
        </p:nvSpPr>
        <p:spPr>
          <a:xfrm>
            <a:off x="365760" y="2194560"/>
            <a:ext cx="8412480" cy="1097280"/>
          </a:xfrm>
          <a:prstGeom prst="rect">
            <a:avLst/>
          </a:prstGeom>
          <a:noFill/>
          <a:ln/>
        </p:spPr>
        <p:txBody>
          <a:bodyPr wrap="square" lIns="0" tIns="0" rIns="0" bIns="0" rtlCol="0" anchor="ctr"/>
          <a:lstStyle/>
          <a:p>
            <a:pPr marL="0" indent="0" algn="l">
              <a:buNone/>
            </a:pPr>
            <a:r>
              <a:rPr lang="en-US" sz="2200" dirty="0">
                <a:solidFill>
                  <a:srgbClr val="02C39A"/>
                </a:solidFill>
                <a:latin typeface="Calibri" pitchFamily="34" charset="0"/>
                <a:ea typeface="Calibri" pitchFamily="34" charset="-122"/>
                <a:cs typeface="Calibri" pitchFamily="34" charset="-120"/>
              </a:rPr>
              <a:t>A Domain-Agnostic Python Framework for Analyzing</a:t>
            </a:r>
            <a:endParaRPr lang="en-US" sz="2200" dirty="0"/>
          </a:p>
          <a:p>
            <a:pPr marL="0" indent="0" algn="l">
              <a:buNone/>
            </a:pPr>
            <a:r>
              <a:rPr lang="en-US" sz="2200" dirty="0">
                <a:solidFill>
                  <a:srgbClr val="02C39A"/>
                </a:solidFill>
                <a:latin typeface="Calibri" pitchFamily="34" charset="0"/>
                <a:ea typeface="Calibri" pitchFamily="34" charset="-122"/>
                <a:cs typeface="Calibri" pitchFamily="34" charset="-120"/>
              </a:rPr>
              <a:t>Events, Spans, and Occurrences</a:t>
            </a:r>
            <a:endParaRPr lang="en-US" sz="2200" dirty="0"/>
          </a:p>
        </p:txBody>
      </p:sp>
      <p:sp>
        <p:nvSpPr>
          <p:cNvPr id="5" name="Text 3"/>
          <p:cNvSpPr/>
          <p:nvPr/>
        </p:nvSpPr>
        <p:spPr>
          <a:xfrm>
            <a:off x="365760" y="4206240"/>
            <a:ext cx="4572000" cy="457200"/>
          </a:xfrm>
          <a:prstGeom prst="rect">
            <a:avLst/>
          </a:prstGeom>
          <a:noFill/>
          <a:ln/>
        </p:spPr>
        <p:txBody>
          <a:bodyPr wrap="square" lIns="0" tIns="0" rIns="0" bIns="0" rtlCol="0" anchor="ctr"/>
          <a:lstStyle/>
          <a:p>
            <a:pPr marL="0" indent="0" algn="l">
              <a:buNone/>
            </a:pPr>
            <a:r>
              <a:rPr lang="en-US" sz="1400" i="1" dirty="0">
                <a:solidFill>
                  <a:srgbClr val="8A9BB0"/>
                </a:solidFill>
                <a:latin typeface="Calibri" pitchFamily="34" charset="0"/>
                <a:ea typeface="Calibri" pitchFamily="34" charset="-122"/>
                <a:cs typeface="Calibri" pitchFamily="34" charset="-120"/>
              </a:rPr>
              <a:t>Architecture &amp; Design</a:t>
            </a:r>
            <a:endParaRPr lang="en-US" sz="1400" dirty="0"/>
          </a:p>
        </p:txBody>
      </p:sp>
      <p:sp>
        <p:nvSpPr>
          <p:cNvPr id="6" name="Shape 4"/>
          <p:cNvSpPr/>
          <p:nvPr/>
        </p:nvSpPr>
        <p:spPr>
          <a:xfrm>
            <a:off x="6858000" y="2560320"/>
            <a:ext cx="2560320" cy="2560320"/>
          </a:xfrm>
          <a:prstGeom prst="ellipse">
            <a:avLst/>
          </a:prstGeom>
          <a:solidFill>
            <a:srgbClr val="028090">
              <a:alpha val="15000"/>
            </a:srgbClr>
          </a:solidFill>
          <a:ln/>
        </p:spPr>
        <p:txBody>
          <a:bodyPr/>
          <a:lstStyle/>
          <a:p>
            <a:endParaRPr lang="en-US"/>
          </a:p>
        </p:txBody>
      </p:sp>
      <p:sp>
        <p:nvSpPr>
          <p:cNvPr id="7" name="Shape 5"/>
          <p:cNvSpPr/>
          <p:nvPr/>
        </p:nvSpPr>
        <p:spPr>
          <a:xfrm>
            <a:off x="7498080" y="1645920"/>
            <a:ext cx="1645920" cy="1645920"/>
          </a:xfrm>
          <a:prstGeom prst="ellipse">
            <a:avLst/>
          </a:prstGeom>
          <a:solidFill>
            <a:srgbClr val="02C39A">
              <a:alpha val="20000"/>
            </a:srgbClr>
          </a:solidFill>
          <a:ln/>
        </p:spPr>
        <p:txBody>
          <a:bodyPr/>
          <a:lstStyle/>
          <a:p>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The Same Challenge Appears Everywhere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51560"/>
            <a:ext cx="1828800" cy="384048"/>
          </a:xfrm>
          <a:prstGeom prst="rect">
            <a:avLst/>
          </a:prstGeom>
          <a:solidFill>
            <a:srgbClr val="0D2B45"/>
          </a:solidFill>
          <a:ln/>
        </p:spPr>
        <p:txBody>
          <a:bodyPr/>
          <a:lstStyle/>
          <a:p>
            <a:endParaRPr lang="en-US"/>
          </a:p>
        </p:txBody>
      </p:sp>
      <p:sp>
        <p:nvSpPr>
          <p:cNvPr id="5" name="Text 3"/>
          <p:cNvSpPr/>
          <p:nvPr/>
        </p:nvSpPr>
        <p:spPr>
          <a:xfrm>
            <a:off x="365760" y="1051560"/>
            <a:ext cx="182880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Domain</a:t>
            </a:r>
            <a:endParaRPr lang="en-US" sz="1300" dirty="0"/>
          </a:p>
        </p:txBody>
      </p:sp>
      <p:sp>
        <p:nvSpPr>
          <p:cNvPr id="6" name="Shape 4"/>
          <p:cNvSpPr/>
          <p:nvPr/>
        </p:nvSpPr>
        <p:spPr>
          <a:xfrm>
            <a:off x="2377440" y="1051560"/>
            <a:ext cx="2011680" cy="384048"/>
          </a:xfrm>
          <a:prstGeom prst="rect">
            <a:avLst/>
          </a:prstGeom>
          <a:solidFill>
            <a:srgbClr val="0D2B45"/>
          </a:solidFill>
          <a:ln/>
        </p:spPr>
        <p:txBody>
          <a:bodyPr/>
          <a:lstStyle/>
          <a:p>
            <a:endParaRPr lang="en-US"/>
          </a:p>
        </p:txBody>
      </p:sp>
      <p:sp>
        <p:nvSpPr>
          <p:cNvPr id="7" name="Text 5"/>
          <p:cNvSpPr/>
          <p:nvPr/>
        </p:nvSpPr>
        <p:spPr>
          <a:xfrm>
            <a:off x="2377440" y="1051560"/>
            <a:ext cx="20116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Span</a:t>
            </a:r>
            <a:endParaRPr lang="en-US" sz="1300" dirty="0"/>
          </a:p>
        </p:txBody>
      </p:sp>
      <p:sp>
        <p:nvSpPr>
          <p:cNvPr id="8" name="Shape 6"/>
          <p:cNvSpPr/>
          <p:nvPr/>
        </p:nvSpPr>
        <p:spPr>
          <a:xfrm>
            <a:off x="4572000" y="1051560"/>
            <a:ext cx="2011680" cy="384048"/>
          </a:xfrm>
          <a:prstGeom prst="rect">
            <a:avLst/>
          </a:prstGeom>
          <a:solidFill>
            <a:srgbClr val="0D2B45"/>
          </a:solidFill>
          <a:ln/>
        </p:spPr>
        <p:txBody>
          <a:bodyPr/>
          <a:lstStyle/>
          <a:p>
            <a:endParaRPr lang="en-US"/>
          </a:p>
        </p:txBody>
      </p:sp>
      <p:sp>
        <p:nvSpPr>
          <p:cNvPr id="9" name="Text 7"/>
          <p:cNvSpPr/>
          <p:nvPr/>
        </p:nvSpPr>
        <p:spPr>
          <a:xfrm>
            <a:off x="4572000" y="1051560"/>
            <a:ext cx="20116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Events</a:t>
            </a:r>
            <a:endParaRPr lang="en-US" sz="1300" dirty="0"/>
          </a:p>
        </p:txBody>
      </p:sp>
      <p:sp>
        <p:nvSpPr>
          <p:cNvPr id="10" name="Shape 8"/>
          <p:cNvSpPr/>
          <p:nvPr/>
        </p:nvSpPr>
        <p:spPr>
          <a:xfrm>
            <a:off x="6766560" y="1051560"/>
            <a:ext cx="2011680" cy="384048"/>
          </a:xfrm>
          <a:prstGeom prst="rect">
            <a:avLst/>
          </a:prstGeom>
          <a:solidFill>
            <a:srgbClr val="0D2B45"/>
          </a:solidFill>
          <a:ln/>
        </p:spPr>
        <p:txBody>
          <a:bodyPr/>
          <a:lstStyle/>
          <a:p>
            <a:endParaRPr lang="en-US"/>
          </a:p>
        </p:txBody>
      </p:sp>
      <p:sp>
        <p:nvSpPr>
          <p:cNvPr id="11" name="Text 9"/>
          <p:cNvSpPr/>
          <p:nvPr/>
        </p:nvSpPr>
        <p:spPr>
          <a:xfrm>
            <a:off x="6766560" y="1051560"/>
            <a:ext cx="20116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Occurrences</a:t>
            </a:r>
            <a:endParaRPr lang="en-US" sz="1300" dirty="0"/>
          </a:p>
        </p:txBody>
      </p:sp>
      <p:sp>
        <p:nvSpPr>
          <p:cNvPr id="12" name="Shape 10"/>
          <p:cNvSpPr/>
          <p:nvPr/>
        </p:nvSpPr>
        <p:spPr>
          <a:xfrm>
            <a:off x="365760" y="1508760"/>
            <a:ext cx="1828800" cy="502920"/>
          </a:xfrm>
          <a:prstGeom prst="rect">
            <a:avLst/>
          </a:prstGeom>
          <a:solidFill>
            <a:srgbClr val="FFFFFF"/>
          </a:solidFill>
          <a:ln w="19050">
            <a:solidFill>
              <a:srgbClr val="E8EFF5"/>
            </a:solidFill>
            <a:prstDash val="solid"/>
          </a:ln>
        </p:spPr>
        <p:txBody>
          <a:bodyPr/>
          <a:lstStyle/>
          <a:p>
            <a:endParaRPr lang="en-US"/>
          </a:p>
        </p:txBody>
      </p:sp>
      <p:sp>
        <p:nvSpPr>
          <p:cNvPr id="13" name="Text 11"/>
          <p:cNvSpPr/>
          <p:nvPr/>
        </p:nvSpPr>
        <p:spPr>
          <a:xfrm>
            <a:off x="411480" y="1508760"/>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Insurance</a:t>
            </a:r>
            <a:endParaRPr lang="en-US" sz="1200" dirty="0"/>
          </a:p>
        </p:txBody>
      </p:sp>
      <p:sp>
        <p:nvSpPr>
          <p:cNvPr id="14" name="Shape 12"/>
          <p:cNvSpPr/>
          <p:nvPr/>
        </p:nvSpPr>
        <p:spPr>
          <a:xfrm>
            <a:off x="2377440" y="1508760"/>
            <a:ext cx="2011680" cy="502920"/>
          </a:xfrm>
          <a:prstGeom prst="rect">
            <a:avLst/>
          </a:prstGeom>
          <a:solidFill>
            <a:srgbClr val="FFFFFF"/>
          </a:solidFill>
          <a:ln w="19050">
            <a:solidFill>
              <a:srgbClr val="E8EFF5"/>
            </a:solidFill>
            <a:prstDash val="solid"/>
          </a:ln>
        </p:spPr>
        <p:txBody>
          <a:bodyPr/>
          <a:lstStyle/>
          <a:p>
            <a:endParaRPr lang="en-US"/>
          </a:p>
        </p:txBody>
      </p:sp>
      <p:sp>
        <p:nvSpPr>
          <p:cNvPr id="15" name="Text 13"/>
          <p:cNvSpPr/>
          <p:nvPr/>
        </p:nvSpPr>
        <p:spPr>
          <a:xfrm>
            <a:off x="2423160" y="1508760"/>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Enrollment year</a:t>
            </a:r>
            <a:endParaRPr lang="en-US" sz="1200" dirty="0"/>
          </a:p>
        </p:txBody>
      </p:sp>
      <p:sp>
        <p:nvSpPr>
          <p:cNvPr id="16" name="Shape 14"/>
          <p:cNvSpPr/>
          <p:nvPr/>
        </p:nvSpPr>
        <p:spPr>
          <a:xfrm>
            <a:off x="4572000" y="1508760"/>
            <a:ext cx="2011680" cy="502920"/>
          </a:xfrm>
          <a:prstGeom prst="rect">
            <a:avLst/>
          </a:prstGeom>
          <a:solidFill>
            <a:srgbClr val="FFFFFF"/>
          </a:solidFill>
          <a:ln w="19050">
            <a:solidFill>
              <a:srgbClr val="E8EFF5"/>
            </a:solidFill>
            <a:prstDash val="solid"/>
          </a:ln>
        </p:spPr>
        <p:txBody>
          <a:bodyPr/>
          <a:lstStyle/>
          <a:p>
            <a:endParaRPr lang="en-US"/>
          </a:p>
        </p:txBody>
      </p:sp>
      <p:sp>
        <p:nvSpPr>
          <p:cNvPr id="17" name="Text 15"/>
          <p:cNvSpPr/>
          <p:nvPr/>
        </p:nvSpPr>
        <p:spPr>
          <a:xfrm>
            <a:off x="4617720" y="1508760"/>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Coverage periods</a:t>
            </a:r>
            <a:endParaRPr lang="en-US" sz="1200" dirty="0"/>
          </a:p>
        </p:txBody>
      </p:sp>
      <p:sp>
        <p:nvSpPr>
          <p:cNvPr id="18" name="Shape 16"/>
          <p:cNvSpPr/>
          <p:nvPr/>
        </p:nvSpPr>
        <p:spPr>
          <a:xfrm>
            <a:off x="6766560" y="1508760"/>
            <a:ext cx="2011680" cy="502920"/>
          </a:xfrm>
          <a:prstGeom prst="rect">
            <a:avLst/>
          </a:prstGeom>
          <a:solidFill>
            <a:srgbClr val="FFFFFF"/>
          </a:solidFill>
          <a:ln w="19050">
            <a:solidFill>
              <a:srgbClr val="E8EFF5"/>
            </a:solidFill>
            <a:prstDash val="solid"/>
          </a:ln>
        </p:spPr>
        <p:txBody>
          <a:bodyPr/>
          <a:lstStyle/>
          <a:p>
            <a:endParaRPr lang="en-US"/>
          </a:p>
        </p:txBody>
      </p:sp>
      <p:sp>
        <p:nvSpPr>
          <p:cNvPr id="19" name="Text 17"/>
          <p:cNvSpPr/>
          <p:nvPr/>
        </p:nvSpPr>
        <p:spPr>
          <a:xfrm>
            <a:off x="6812280" y="1508760"/>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ED visits</a:t>
            </a:r>
            <a:endParaRPr lang="en-US" sz="1200" dirty="0"/>
          </a:p>
        </p:txBody>
      </p:sp>
      <p:sp>
        <p:nvSpPr>
          <p:cNvPr id="20" name="Shape 18"/>
          <p:cNvSpPr/>
          <p:nvPr/>
        </p:nvSpPr>
        <p:spPr>
          <a:xfrm>
            <a:off x="365760" y="2075688"/>
            <a:ext cx="1828800" cy="502920"/>
          </a:xfrm>
          <a:prstGeom prst="rect">
            <a:avLst/>
          </a:prstGeom>
          <a:solidFill>
            <a:srgbClr val="E8EFF5"/>
          </a:solidFill>
          <a:ln w="19050">
            <a:solidFill>
              <a:srgbClr val="E8EFF5"/>
            </a:solidFill>
            <a:prstDash val="solid"/>
          </a:ln>
        </p:spPr>
        <p:txBody>
          <a:bodyPr/>
          <a:lstStyle/>
          <a:p>
            <a:endParaRPr lang="en-US"/>
          </a:p>
        </p:txBody>
      </p:sp>
      <p:sp>
        <p:nvSpPr>
          <p:cNvPr id="21" name="Text 19"/>
          <p:cNvSpPr/>
          <p:nvPr/>
        </p:nvSpPr>
        <p:spPr>
          <a:xfrm>
            <a:off x="411480" y="2075688"/>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Clinical Trials</a:t>
            </a:r>
            <a:endParaRPr lang="en-US" sz="1200" dirty="0"/>
          </a:p>
        </p:txBody>
      </p:sp>
      <p:sp>
        <p:nvSpPr>
          <p:cNvPr id="22" name="Shape 20"/>
          <p:cNvSpPr/>
          <p:nvPr/>
        </p:nvSpPr>
        <p:spPr>
          <a:xfrm>
            <a:off x="2377440" y="2075688"/>
            <a:ext cx="2011680" cy="502920"/>
          </a:xfrm>
          <a:prstGeom prst="rect">
            <a:avLst/>
          </a:prstGeom>
          <a:solidFill>
            <a:srgbClr val="E8EFF5"/>
          </a:solidFill>
          <a:ln w="19050">
            <a:solidFill>
              <a:srgbClr val="E8EFF5"/>
            </a:solidFill>
            <a:prstDash val="solid"/>
          </a:ln>
        </p:spPr>
        <p:txBody>
          <a:bodyPr/>
          <a:lstStyle/>
          <a:p>
            <a:endParaRPr lang="en-US"/>
          </a:p>
        </p:txBody>
      </p:sp>
      <p:sp>
        <p:nvSpPr>
          <p:cNvPr id="23" name="Text 21"/>
          <p:cNvSpPr/>
          <p:nvPr/>
        </p:nvSpPr>
        <p:spPr>
          <a:xfrm>
            <a:off x="2423160" y="2075688"/>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Study period</a:t>
            </a:r>
            <a:endParaRPr lang="en-US" sz="1200" dirty="0"/>
          </a:p>
        </p:txBody>
      </p:sp>
      <p:sp>
        <p:nvSpPr>
          <p:cNvPr id="24" name="Shape 22"/>
          <p:cNvSpPr/>
          <p:nvPr/>
        </p:nvSpPr>
        <p:spPr>
          <a:xfrm>
            <a:off x="4572000" y="2075688"/>
            <a:ext cx="2011680" cy="502920"/>
          </a:xfrm>
          <a:prstGeom prst="rect">
            <a:avLst/>
          </a:prstGeom>
          <a:solidFill>
            <a:srgbClr val="E8EFF5"/>
          </a:solidFill>
          <a:ln w="19050">
            <a:solidFill>
              <a:srgbClr val="E8EFF5"/>
            </a:solidFill>
            <a:prstDash val="solid"/>
          </a:ln>
        </p:spPr>
        <p:txBody>
          <a:bodyPr/>
          <a:lstStyle/>
          <a:p>
            <a:endParaRPr lang="en-US"/>
          </a:p>
        </p:txBody>
      </p:sp>
      <p:sp>
        <p:nvSpPr>
          <p:cNvPr id="25" name="Text 23"/>
          <p:cNvSpPr/>
          <p:nvPr/>
        </p:nvSpPr>
        <p:spPr>
          <a:xfrm>
            <a:off x="4617720" y="2075688"/>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Treatment windows</a:t>
            </a:r>
            <a:endParaRPr lang="en-US" sz="1200" dirty="0"/>
          </a:p>
        </p:txBody>
      </p:sp>
      <p:sp>
        <p:nvSpPr>
          <p:cNvPr id="26" name="Shape 24"/>
          <p:cNvSpPr/>
          <p:nvPr/>
        </p:nvSpPr>
        <p:spPr>
          <a:xfrm>
            <a:off x="6766560" y="2075688"/>
            <a:ext cx="2011680" cy="502920"/>
          </a:xfrm>
          <a:prstGeom prst="rect">
            <a:avLst/>
          </a:prstGeom>
          <a:solidFill>
            <a:srgbClr val="E8EFF5"/>
          </a:solidFill>
          <a:ln w="19050">
            <a:solidFill>
              <a:srgbClr val="E8EFF5"/>
            </a:solidFill>
            <a:prstDash val="solid"/>
          </a:ln>
        </p:spPr>
        <p:txBody>
          <a:bodyPr/>
          <a:lstStyle/>
          <a:p>
            <a:endParaRPr lang="en-US"/>
          </a:p>
        </p:txBody>
      </p:sp>
      <p:sp>
        <p:nvSpPr>
          <p:cNvPr id="27" name="Text 25"/>
          <p:cNvSpPr/>
          <p:nvPr/>
        </p:nvSpPr>
        <p:spPr>
          <a:xfrm>
            <a:off x="6812280" y="2075688"/>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Adverse events</a:t>
            </a:r>
            <a:endParaRPr lang="en-US" sz="1200" dirty="0"/>
          </a:p>
        </p:txBody>
      </p:sp>
      <p:sp>
        <p:nvSpPr>
          <p:cNvPr id="28" name="Shape 26"/>
          <p:cNvSpPr/>
          <p:nvPr/>
        </p:nvSpPr>
        <p:spPr>
          <a:xfrm>
            <a:off x="365760" y="2642616"/>
            <a:ext cx="1828800" cy="502920"/>
          </a:xfrm>
          <a:prstGeom prst="rect">
            <a:avLst/>
          </a:prstGeom>
          <a:solidFill>
            <a:srgbClr val="FFFFFF"/>
          </a:solidFill>
          <a:ln w="19050">
            <a:solidFill>
              <a:srgbClr val="E8EFF5"/>
            </a:solidFill>
            <a:prstDash val="solid"/>
          </a:ln>
        </p:spPr>
        <p:txBody>
          <a:bodyPr/>
          <a:lstStyle/>
          <a:p>
            <a:endParaRPr lang="en-US"/>
          </a:p>
        </p:txBody>
      </p:sp>
      <p:sp>
        <p:nvSpPr>
          <p:cNvPr id="29" name="Text 27"/>
          <p:cNvSpPr/>
          <p:nvPr/>
        </p:nvSpPr>
        <p:spPr>
          <a:xfrm>
            <a:off x="411480" y="2642616"/>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HR Analytics</a:t>
            </a:r>
            <a:endParaRPr lang="en-US" sz="1200" dirty="0"/>
          </a:p>
        </p:txBody>
      </p:sp>
      <p:sp>
        <p:nvSpPr>
          <p:cNvPr id="30" name="Shape 28"/>
          <p:cNvSpPr/>
          <p:nvPr/>
        </p:nvSpPr>
        <p:spPr>
          <a:xfrm>
            <a:off x="2377440" y="2642616"/>
            <a:ext cx="2011680" cy="502920"/>
          </a:xfrm>
          <a:prstGeom prst="rect">
            <a:avLst/>
          </a:prstGeom>
          <a:solidFill>
            <a:srgbClr val="FFFFFF"/>
          </a:solidFill>
          <a:ln w="19050">
            <a:solidFill>
              <a:srgbClr val="E8EFF5"/>
            </a:solidFill>
            <a:prstDash val="solid"/>
          </a:ln>
        </p:spPr>
        <p:txBody>
          <a:bodyPr/>
          <a:lstStyle/>
          <a:p>
            <a:endParaRPr lang="en-US"/>
          </a:p>
        </p:txBody>
      </p:sp>
      <p:sp>
        <p:nvSpPr>
          <p:cNvPr id="31" name="Text 29"/>
          <p:cNvSpPr/>
          <p:nvPr/>
        </p:nvSpPr>
        <p:spPr>
          <a:xfrm>
            <a:off x="2423160" y="2642616"/>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Employment period</a:t>
            </a:r>
            <a:endParaRPr lang="en-US" sz="1200" dirty="0"/>
          </a:p>
        </p:txBody>
      </p:sp>
      <p:sp>
        <p:nvSpPr>
          <p:cNvPr id="32" name="Shape 30"/>
          <p:cNvSpPr/>
          <p:nvPr/>
        </p:nvSpPr>
        <p:spPr>
          <a:xfrm>
            <a:off x="4572000" y="2642616"/>
            <a:ext cx="2011680" cy="502920"/>
          </a:xfrm>
          <a:prstGeom prst="rect">
            <a:avLst/>
          </a:prstGeom>
          <a:solidFill>
            <a:srgbClr val="FFFFFF"/>
          </a:solidFill>
          <a:ln w="19050">
            <a:solidFill>
              <a:srgbClr val="E8EFF5"/>
            </a:solidFill>
            <a:prstDash val="solid"/>
          </a:ln>
        </p:spPr>
        <p:txBody>
          <a:bodyPr/>
          <a:lstStyle/>
          <a:p>
            <a:endParaRPr lang="en-US"/>
          </a:p>
        </p:txBody>
      </p:sp>
      <p:sp>
        <p:nvSpPr>
          <p:cNvPr id="33" name="Text 31"/>
          <p:cNvSpPr/>
          <p:nvPr/>
        </p:nvSpPr>
        <p:spPr>
          <a:xfrm>
            <a:off x="4617720" y="2642616"/>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Benefit enrollment</a:t>
            </a:r>
            <a:endParaRPr lang="en-US" sz="1200" dirty="0"/>
          </a:p>
        </p:txBody>
      </p:sp>
      <p:sp>
        <p:nvSpPr>
          <p:cNvPr id="34" name="Shape 32"/>
          <p:cNvSpPr/>
          <p:nvPr/>
        </p:nvSpPr>
        <p:spPr>
          <a:xfrm>
            <a:off x="6766560" y="2642616"/>
            <a:ext cx="2011680" cy="502920"/>
          </a:xfrm>
          <a:prstGeom prst="rect">
            <a:avLst/>
          </a:prstGeom>
          <a:solidFill>
            <a:srgbClr val="FFFFFF"/>
          </a:solidFill>
          <a:ln w="19050">
            <a:solidFill>
              <a:srgbClr val="E8EFF5"/>
            </a:solidFill>
            <a:prstDash val="solid"/>
          </a:ln>
        </p:spPr>
        <p:txBody>
          <a:bodyPr/>
          <a:lstStyle/>
          <a:p>
            <a:endParaRPr lang="en-US"/>
          </a:p>
        </p:txBody>
      </p:sp>
      <p:sp>
        <p:nvSpPr>
          <p:cNvPr id="35" name="Text 33"/>
          <p:cNvSpPr/>
          <p:nvPr/>
        </p:nvSpPr>
        <p:spPr>
          <a:xfrm>
            <a:off x="6812280" y="2642616"/>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Salary changes</a:t>
            </a:r>
            <a:endParaRPr lang="en-US" sz="1200" dirty="0"/>
          </a:p>
        </p:txBody>
      </p:sp>
      <p:sp>
        <p:nvSpPr>
          <p:cNvPr id="36" name="Shape 34"/>
          <p:cNvSpPr/>
          <p:nvPr/>
        </p:nvSpPr>
        <p:spPr>
          <a:xfrm>
            <a:off x="365760" y="3209544"/>
            <a:ext cx="1828800" cy="502920"/>
          </a:xfrm>
          <a:prstGeom prst="rect">
            <a:avLst/>
          </a:prstGeom>
          <a:solidFill>
            <a:srgbClr val="E8EFF5"/>
          </a:solidFill>
          <a:ln w="19050">
            <a:solidFill>
              <a:srgbClr val="E8EFF5"/>
            </a:solidFill>
            <a:prstDash val="solid"/>
          </a:ln>
        </p:spPr>
        <p:txBody>
          <a:bodyPr/>
          <a:lstStyle/>
          <a:p>
            <a:endParaRPr lang="en-US"/>
          </a:p>
        </p:txBody>
      </p:sp>
      <p:sp>
        <p:nvSpPr>
          <p:cNvPr id="37" name="Text 35"/>
          <p:cNvSpPr/>
          <p:nvPr/>
        </p:nvSpPr>
        <p:spPr>
          <a:xfrm>
            <a:off x="411480" y="3209544"/>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Education</a:t>
            </a:r>
            <a:endParaRPr lang="en-US" sz="1200" dirty="0"/>
          </a:p>
        </p:txBody>
      </p:sp>
      <p:sp>
        <p:nvSpPr>
          <p:cNvPr id="38" name="Shape 36"/>
          <p:cNvSpPr/>
          <p:nvPr/>
        </p:nvSpPr>
        <p:spPr>
          <a:xfrm>
            <a:off x="2377440" y="3209544"/>
            <a:ext cx="2011680" cy="502920"/>
          </a:xfrm>
          <a:prstGeom prst="rect">
            <a:avLst/>
          </a:prstGeom>
          <a:solidFill>
            <a:srgbClr val="E8EFF5"/>
          </a:solidFill>
          <a:ln w="19050">
            <a:solidFill>
              <a:srgbClr val="E8EFF5"/>
            </a:solidFill>
            <a:prstDash val="solid"/>
          </a:ln>
        </p:spPr>
        <p:txBody>
          <a:bodyPr/>
          <a:lstStyle/>
          <a:p>
            <a:endParaRPr lang="en-US"/>
          </a:p>
        </p:txBody>
      </p:sp>
      <p:sp>
        <p:nvSpPr>
          <p:cNvPr id="39" name="Text 37"/>
          <p:cNvSpPr/>
          <p:nvPr/>
        </p:nvSpPr>
        <p:spPr>
          <a:xfrm>
            <a:off x="2423160" y="3209544"/>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Academic year</a:t>
            </a:r>
            <a:endParaRPr lang="en-US" sz="1200" dirty="0"/>
          </a:p>
        </p:txBody>
      </p:sp>
      <p:sp>
        <p:nvSpPr>
          <p:cNvPr id="40" name="Shape 38"/>
          <p:cNvSpPr/>
          <p:nvPr/>
        </p:nvSpPr>
        <p:spPr>
          <a:xfrm>
            <a:off x="4572000" y="3209544"/>
            <a:ext cx="2011680" cy="502920"/>
          </a:xfrm>
          <a:prstGeom prst="rect">
            <a:avLst/>
          </a:prstGeom>
          <a:solidFill>
            <a:srgbClr val="E8EFF5"/>
          </a:solidFill>
          <a:ln w="19050">
            <a:solidFill>
              <a:srgbClr val="E8EFF5"/>
            </a:solidFill>
            <a:prstDash val="solid"/>
          </a:ln>
        </p:spPr>
        <p:txBody>
          <a:bodyPr/>
          <a:lstStyle/>
          <a:p>
            <a:endParaRPr lang="en-US"/>
          </a:p>
        </p:txBody>
      </p:sp>
      <p:sp>
        <p:nvSpPr>
          <p:cNvPr id="41" name="Text 39"/>
          <p:cNvSpPr/>
          <p:nvPr/>
        </p:nvSpPr>
        <p:spPr>
          <a:xfrm>
            <a:off x="4617720" y="3209544"/>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Enrollment periods</a:t>
            </a:r>
            <a:endParaRPr lang="en-US" sz="1200" dirty="0"/>
          </a:p>
        </p:txBody>
      </p:sp>
      <p:sp>
        <p:nvSpPr>
          <p:cNvPr id="42" name="Shape 40"/>
          <p:cNvSpPr/>
          <p:nvPr/>
        </p:nvSpPr>
        <p:spPr>
          <a:xfrm>
            <a:off x="6766560" y="3209544"/>
            <a:ext cx="2011680" cy="502920"/>
          </a:xfrm>
          <a:prstGeom prst="rect">
            <a:avLst/>
          </a:prstGeom>
          <a:solidFill>
            <a:srgbClr val="E8EFF5"/>
          </a:solidFill>
          <a:ln w="19050">
            <a:solidFill>
              <a:srgbClr val="E8EFF5"/>
            </a:solidFill>
            <a:prstDash val="solid"/>
          </a:ln>
        </p:spPr>
        <p:txBody>
          <a:bodyPr/>
          <a:lstStyle/>
          <a:p>
            <a:endParaRPr lang="en-US"/>
          </a:p>
        </p:txBody>
      </p:sp>
      <p:sp>
        <p:nvSpPr>
          <p:cNvPr id="43" name="Text 41"/>
          <p:cNvSpPr/>
          <p:nvPr/>
        </p:nvSpPr>
        <p:spPr>
          <a:xfrm>
            <a:off x="6812280" y="3209544"/>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Absences</a:t>
            </a:r>
            <a:endParaRPr lang="en-US" sz="1200" dirty="0"/>
          </a:p>
        </p:txBody>
      </p:sp>
      <p:sp>
        <p:nvSpPr>
          <p:cNvPr id="44" name="Text 42"/>
          <p:cNvSpPr/>
          <p:nvPr/>
        </p:nvSpPr>
        <p:spPr>
          <a:xfrm>
            <a:off x="365760" y="4526280"/>
            <a:ext cx="8412480" cy="411480"/>
          </a:xfrm>
          <a:prstGeom prst="rect">
            <a:avLst/>
          </a:prstGeom>
          <a:noFill/>
          <a:ln/>
        </p:spPr>
        <p:txBody>
          <a:bodyPr wrap="square" lIns="0" tIns="0" rIns="0" bIns="0" rtlCol="0" anchor="ctr"/>
          <a:lstStyle/>
          <a:p>
            <a:pPr marL="0" indent="0" algn="ctr">
              <a:buNone/>
            </a:pPr>
            <a:r>
              <a:rPr lang="en-US" sz="1400" i="1" dirty="0">
                <a:solidFill>
                  <a:srgbClr val="028090"/>
                </a:solidFill>
                <a:latin typeface="Calibri" pitchFamily="34" charset="0"/>
                <a:ea typeface="Calibri" pitchFamily="34" charset="-122"/>
                <a:cs typeface="Calibri" pitchFamily="34" charset="-120"/>
              </a:rPr>
              <a:t>No general-purpose Python tool existed for this structure — </a:t>
            </a:r>
            <a:r>
              <a:rPr lang="en-US" sz="1400" i="1">
                <a:solidFill>
                  <a:srgbClr val="028090"/>
                </a:solidFill>
                <a:latin typeface="Calibri" pitchFamily="34" charset="0"/>
                <a:ea typeface="Calibri" pitchFamily="34" charset="-122"/>
                <a:cs typeface="Calibri" pitchFamily="34" charset="-120"/>
              </a:rPr>
              <a:t>until eventi.</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The Four-Layer Architecture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05840"/>
            <a:ext cx="4389120" cy="594360"/>
          </a:xfrm>
          <a:prstGeom prst="rect">
            <a:avLst/>
          </a:prstGeom>
          <a:solidFill>
            <a:srgbClr val="0D2B45"/>
          </a:solidFill>
          <a:ln/>
        </p:spPr>
        <p:txBody>
          <a:bodyPr/>
          <a:lstStyle/>
          <a:p>
            <a:endParaRPr lang="en-US"/>
          </a:p>
        </p:txBody>
      </p:sp>
      <p:sp>
        <p:nvSpPr>
          <p:cNvPr id="5" name="Text 3"/>
          <p:cNvSpPr/>
          <p:nvPr/>
        </p:nvSpPr>
        <p:spPr>
          <a:xfrm>
            <a:off x="457200" y="1042416"/>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Semantics</a:t>
            </a:r>
            <a:endParaRPr lang="en-US" sz="1400" dirty="0"/>
          </a:p>
        </p:txBody>
      </p:sp>
      <p:sp>
        <p:nvSpPr>
          <p:cNvPr id="6" name="Text 4"/>
          <p:cNvSpPr/>
          <p:nvPr/>
        </p:nvSpPr>
        <p:spPr>
          <a:xfrm>
            <a:off x="457200" y="1307592"/>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EventSemantics, OccurrenceSemantics</a:t>
            </a:r>
            <a:endParaRPr lang="en-US" sz="1000" dirty="0"/>
          </a:p>
        </p:txBody>
      </p:sp>
      <p:sp>
        <p:nvSpPr>
          <p:cNvPr id="7" name="Shape 5"/>
          <p:cNvSpPr/>
          <p:nvPr/>
        </p:nvSpPr>
        <p:spPr>
          <a:xfrm>
            <a:off x="2377440" y="1600200"/>
            <a:ext cx="54864" cy="155448"/>
          </a:xfrm>
          <a:prstGeom prst="rect">
            <a:avLst/>
          </a:prstGeom>
          <a:solidFill>
            <a:srgbClr val="8A9BB0"/>
          </a:solidFill>
          <a:ln/>
        </p:spPr>
        <p:txBody>
          <a:bodyPr/>
          <a:lstStyle/>
          <a:p>
            <a:endParaRPr lang="en-US"/>
          </a:p>
        </p:txBody>
      </p:sp>
      <p:sp>
        <p:nvSpPr>
          <p:cNvPr id="8" name="Shape 6"/>
          <p:cNvSpPr/>
          <p:nvPr/>
        </p:nvSpPr>
        <p:spPr>
          <a:xfrm>
            <a:off x="365760" y="1755648"/>
            <a:ext cx="4389120" cy="594360"/>
          </a:xfrm>
          <a:prstGeom prst="rect">
            <a:avLst/>
          </a:prstGeom>
          <a:solidFill>
            <a:srgbClr val="028090"/>
          </a:solidFill>
          <a:ln/>
        </p:spPr>
        <p:txBody>
          <a:bodyPr/>
          <a:lstStyle/>
          <a:p>
            <a:endParaRPr lang="en-US"/>
          </a:p>
        </p:txBody>
      </p:sp>
      <p:sp>
        <p:nvSpPr>
          <p:cNvPr id="9" name="Text 7"/>
          <p:cNvSpPr/>
          <p:nvPr/>
        </p:nvSpPr>
        <p:spPr>
          <a:xfrm>
            <a:off x="457200" y="1792224"/>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Validated Objects</a:t>
            </a:r>
            <a:endParaRPr lang="en-US" sz="1400" dirty="0"/>
          </a:p>
        </p:txBody>
      </p:sp>
      <p:sp>
        <p:nvSpPr>
          <p:cNvPr id="10" name="Text 8"/>
          <p:cNvSpPr/>
          <p:nvPr/>
        </p:nvSpPr>
        <p:spPr>
          <a:xfrm>
            <a:off x="457200" y="2057400"/>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Events, EventsPerEntity, Occurrences</a:t>
            </a:r>
            <a:endParaRPr lang="en-US" sz="1000" dirty="0"/>
          </a:p>
        </p:txBody>
      </p:sp>
      <p:sp>
        <p:nvSpPr>
          <p:cNvPr id="11" name="Shape 9"/>
          <p:cNvSpPr/>
          <p:nvPr/>
        </p:nvSpPr>
        <p:spPr>
          <a:xfrm>
            <a:off x="2377440" y="2350008"/>
            <a:ext cx="54864" cy="155448"/>
          </a:xfrm>
          <a:prstGeom prst="rect">
            <a:avLst/>
          </a:prstGeom>
          <a:solidFill>
            <a:srgbClr val="8A9BB0"/>
          </a:solidFill>
          <a:ln/>
        </p:spPr>
        <p:txBody>
          <a:bodyPr/>
          <a:lstStyle/>
          <a:p>
            <a:endParaRPr lang="en-US"/>
          </a:p>
        </p:txBody>
      </p:sp>
      <p:sp>
        <p:nvSpPr>
          <p:cNvPr id="12" name="Shape 10"/>
          <p:cNvSpPr/>
          <p:nvPr/>
        </p:nvSpPr>
        <p:spPr>
          <a:xfrm>
            <a:off x="365760" y="2505456"/>
            <a:ext cx="4389120" cy="594360"/>
          </a:xfrm>
          <a:prstGeom prst="rect">
            <a:avLst/>
          </a:prstGeom>
          <a:solidFill>
            <a:srgbClr val="1C7293"/>
          </a:solidFill>
          <a:ln/>
        </p:spPr>
        <p:txBody>
          <a:bodyPr/>
          <a:lstStyle/>
          <a:p>
            <a:endParaRPr lang="en-US"/>
          </a:p>
        </p:txBody>
      </p:sp>
      <p:sp>
        <p:nvSpPr>
          <p:cNvPr id="13" name="Text 11"/>
          <p:cNvSpPr/>
          <p:nvPr/>
        </p:nvSpPr>
        <p:spPr>
          <a:xfrm>
            <a:off x="457200" y="2542032"/>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Analyzers</a:t>
            </a:r>
            <a:endParaRPr lang="en-US" sz="1400" dirty="0"/>
          </a:p>
        </p:txBody>
      </p:sp>
      <p:sp>
        <p:nvSpPr>
          <p:cNvPr id="14" name="Text 12"/>
          <p:cNvSpPr/>
          <p:nvPr/>
        </p:nvSpPr>
        <p:spPr>
          <a:xfrm>
            <a:off x="457200" y="2807208"/>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EventsWithinSpansAnalyzer, OccurrencesWithinSpansAnalyzer</a:t>
            </a:r>
            <a:endParaRPr lang="en-US" sz="1000" dirty="0"/>
          </a:p>
        </p:txBody>
      </p:sp>
      <p:sp>
        <p:nvSpPr>
          <p:cNvPr id="15" name="Shape 13"/>
          <p:cNvSpPr/>
          <p:nvPr/>
        </p:nvSpPr>
        <p:spPr>
          <a:xfrm>
            <a:off x="2377440" y="3099816"/>
            <a:ext cx="54864" cy="155448"/>
          </a:xfrm>
          <a:prstGeom prst="rect">
            <a:avLst/>
          </a:prstGeom>
          <a:solidFill>
            <a:srgbClr val="8A9BB0"/>
          </a:solidFill>
          <a:ln/>
        </p:spPr>
        <p:txBody>
          <a:bodyPr/>
          <a:lstStyle/>
          <a:p>
            <a:endParaRPr lang="en-US"/>
          </a:p>
        </p:txBody>
      </p:sp>
      <p:sp>
        <p:nvSpPr>
          <p:cNvPr id="16" name="Shape 14"/>
          <p:cNvSpPr/>
          <p:nvPr/>
        </p:nvSpPr>
        <p:spPr>
          <a:xfrm>
            <a:off x="365760" y="3255264"/>
            <a:ext cx="4389120" cy="594360"/>
          </a:xfrm>
          <a:prstGeom prst="rect">
            <a:avLst/>
          </a:prstGeom>
          <a:solidFill>
            <a:srgbClr val="028090"/>
          </a:solidFill>
          <a:ln/>
        </p:spPr>
        <p:txBody>
          <a:bodyPr/>
          <a:lstStyle/>
          <a:p>
            <a:endParaRPr lang="en-US"/>
          </a:p>
        </p:txBody>
      </p:sp>
      <p:sp>
        <p:nvSpPr>
          <p:cNvPr id="17" name="Text 15"/>
          <p:cNvSpPr/>
          <p:nvPr/>
        </p:nvSpPr>
        <p:spPr>
          <a:xfrm>
            <a:off x="457200" y="3291840"/>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Intermediates</a:t>
            </a:r>
            <a:endParaRPr lang="en-US" sz="1400" dirty="0"/>
          </a:p>
        </p:txBody>
      </p:sp>
      <p:sp>
        <p:nvSpPr>
          <p:cNvPr id="18" name="Text 16"/>
          <p:cNvSpPr/>
          <p:nvPr/>
        </p:nvSpPr>
        <p:spPr>
          <a:xfrm>
            <a:off x="457200" y="3557016"/>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PipeDelimitedIntermediateEvents + Occurrences</a:t>
            </a:r>
            <a:endParaRPr lang="en-US" sz="1000" dirty="0"/>
          </a:p>
        </p:txBody>
      </p:sp>
      <p:sp>
        <p:nvSpPr>
          <p:cNvPr id="19" name="Shape 17"/>
          <p:cNvSpPr/>
          <p:nvPr/>
        </p:nvSpPr>
        <p:spPr>
          <a:xfrm>
            <a:off x="2377440" y="3849624"/>
            <a:ext cx="54864" cy="155448"/>
          </a:xfrm>
          <a:prstGeom prst="rect">
            <a:avLst/>
          </a:prstGeom>
          <a:solidFill>
            <a:srgbClr val="8A9BB0"/>
          </a:solidFill>
          <a:ln/>
        </p:spPr>
        <p:txBody>
          <a:bodyPr/>
          <a:lstStyle/>
          <a:p>
            <a:endParaRPr lang="en-US"/>
          </a:p>
        </p:txBody>
      </p:sp>
      <p:sp>
        <p:nvSpPr>
          <p:cNvPr id="20" name="Shape 18"/>
          <p:cNvSpPr/>
          <p:nvPr/>
        </p:nvSpPr>
        <p:spPr>
          <a:xfrm>
            <a:off x="365760" y="4005072"/>
            <a:ext cx="4389120" cy="594360"/>
          </a:xfrm>
          <a:prstGeom prst="rect">
            <a:avLst/>
          </a:prstGeom>
          <a:solidFill>
            <a:srgbClr val="02C39A"/>
          </a:solidFill>
          <a:ln/>
        </p:spPr>
        <p:txBody>
          <a:bodyPr/>
          <a:lstStyle/>
          <a:p>
            <a:endParaRPr lang="en-US"/>
          </a:p>
        </p:txBody>
      </p:sp>
      <p:sp>
        <p:nvSpPr>
          <p:cNvPr id="21" name="Text 19"/>
          <p:cNvSpPr/>
          <p:nvPr/>
        </p:nvSpPr>
        <p:spPr>
          <a:xfrm>
            <a:off x="457200" y="4041648"/>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Visualizers</a:t>
            </a:r>
            <a:endParaRPr lang="en-US" sz="1400" dirty="0"/>
          </a:p>
        </p:txBody>
      </p:sp>
      <p:sp>
        <p:nvSpPr>
          <p:cNvPr id="22" name="Text 20"/>
          <p:cNvSpPr/>
          <p:nvPr/>
        </p:nvSpPr>
        <p:spPr>
          <a:xfrm>
            <a:off x="457200" y="4306824"/>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StackedEventsPlotter, ActivityOverTimePlotter</a:t>
            </a:r>
            <a:endParaRPr lang="en-US" sz="1000" dirty="0"/>
          </a:p>
        </p:txBody>
      </p:sp>
      <p:sp>
        <p:nvSpPr>
          <p:cNvPr id="23" name="Shape 21"/>
          <p:cNvSpPr/>
          <p:nvPr/>
        </p:nvSpPr>
        <p:spPr>
          <a:xfrm>
            <a:off x="5120640" y="1005840"/>
            <a:ext cx="3657600" cy="594360"/>
          </a:xfrm>
          <a:prstGeom prst="rect">
            <a:avLst/>
          </a:prstGeom>
          <a:solidFill>
            <a:srgbClr val="FFFFFF"/>
          </a:solidFill>
          <a:ln w="19050">
            <a:solidFill>
              <a:srgbClr val="E8EFF5"/>
            </a:solidFill>
            <a:prstDash val="solid"/>
          </a:ln>
        </p:spPr>
        <p:txBody>
          <a:bodyPr/>
          <a:lstStyle/>
          <a:p>
            <a:endParaRPr lang="en-US"/>
          </a:p>
        </p:txBody>
      </p:sp>
      <p:sp>
        <p:nvSpPr>
          <p:cNvPr id="24" name="Text 22"/>
          <p:cNvSpPr/>
          <p:nvPr/>
        </p:nvSpPr>
        <p:spPr>
          <a:xfrm>
            <a:off x="5212080" y="1051560"/>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know what columns mean"</a:t>
            </a:r>
            <a:endParaRPr lang="en-US" sz="1200" dirty="0"/>
          </a:p>
        </p:txBody>
      </p:sp>
      <p:sp>
        <p:nvSpPr>
          <p:cNvPr id="25" name="Text 23"/>
          <p:cNvSpPr/>
          <p:nvPr/>
        </p:nvSpPr>
        <p:spPr>
          <a:xfrm>
            <a:off x="5212080" y="1307592"/>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Decouples logic from schema</a:t>
            </a:r>
            <a:endParaRPr lang="en-US" sz="1100" dirty="0"/>
          </a:p>
        </p:txBody>
      </p:sp>
      <p:sp>
        <p:nvSpPr>
          <p:cNvPr id="26" name="Shape 24"/>
          <p:cNvSpPr/>
          <p:nvPr/>
        </p:nvSpPr>
        <p:spPr>
          <a:xfrm>
            <a:off x="5120640" y="1755648"/>
            <a:ext cx="3657600" cy="594360"/>
          </a:xfrm>
          <a:prstGeom prst="rect">
            <a:avLst/>
          </a:prstGeom>
          <a:solidFill>
            <a:srgbClr val="FFFFFF"/>
          </a:solidFill>
          <a:ln w="19050">
            <a:solidFill>
              <a:srgbClr val="E8EFF5"/>
            </a:solidFill>
            <a:prstDash val="solid"/>
          </a:ln>
        </p:spPr>
        <p:txBody>
          <a:bodyPr/>
          <a:lstStyle/>
          <a:p>
            <a:endParaRPr lang="en-US"/>
          </a:p>
        </p:txBody>
      </p:sp>
      <p:sp>
        <p:nvSpPr>
          <p:cNvPr id="27" name="Text 25"/>
          <p:cNvSpPr/>
          <p:nvPr/>
        </p:nvSpPr>
        <p:spPr>
          <a:xfrm>
            <a:off x="5212080" y="1801368"/>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"My data is validated"</a:t>
            </a:r>
            <a:endParaRPr lang="en-US" sz="1200" dirty="0"/>
          </a:p>
        </p:txBody>
      </p:sp>
      <p:sp>
        <p:nvSpPr>
          <p:cNvPr id="28" name="Text 26"/>
          <p:cNvSpPr/>
          <p:nvPr/>
        </p:nvSpPr>
        <p:spPr>
          <a:xfrm>
            <a:off x="5212080" y="2057400"/>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Triage, rejected rows, audit trail</a:t>
            </a:r>
            <a:endParaRPr lang="en-US" sz="1100" dirty="0"/>
          </a:p>
        </p:txBody>
      </p:sp>
      <p:sp>
        <p:nvSpPr>
          <p:cNvPr id="29" name="Shape 27"/>
          <p:cNvSpPr/>
          <p:nvPr/>
        </p:nvSpPr>
        <p:spPr>
          <a:xfrm>
            <a:off x="5120640" y="2505456"/>
            <a:ext cx="3657600" cy="594360"/>
          </a:xfrm>
          <a:prstGeom prst="rect">
            <a:avLst/>
          </a:prstGeom>
          <a:solidFill>
            <a:srgbClr val="FFFFFF"/>
          </a:solidFill>
          <a:ln w="19050">
            <a:solidFill>
              <a:srgbClr val="E8EFF5"/>
            </a:solidFill>
            <a:prstDash val="solid"/>
          </a:ln>
        </p:spPr>
        <p:txBody>
          <a:bodyPr/>
          <a:lstStyle/>
          <a:p>
            <a:endParaRPr lang="en-US"/>
          </a:p>
        </p:txBody>
      </p:sp>
      <p:sp>
        <p:nvSpPr>
          <p:cNvPr id="30" name="Text 28"/>
          <p:cNvSpPr/>
          <p:nvPr/>
        </p:nvSpPr>
        <p:spPr>
          <a:xfrm>
            <a:off x="5212080" y="2551176"/>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compute the analysis"</a:t>
            </a:r>
            <a:endParaRPr lang="en-US" sz="1200" dirty="0"/>
          </a:p>
        </p:txBody>
      </p:sp>
      <p:sp>
        <p:nvSpPr>
          <p:cNvPr id="31" name="Text 29"/>
          <p:cNvSpPr/>
          <p:nvPr/>
        </p:nvSpPr>
        <p:spPr>
          <a:xfrm>
            <a:off x="5212080" y="2807208"/>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Single responsibility per analyzer</a:t>
            </a:r>
            <a:endParaRPr lang="en-US" sz="1100" dirty="0"/>
          </a:p>
        </p:txBody>
      </p:sp>
      <p:sp>
        <p:nvSpPr>
          <p:cNvPr id="32" name="Shape 30"/>
          <p:cNvSpPr/>
          <p:nvPr/>
        </p:nvSpPr>
        <p:spPr>
          <a:xfrm>
            <a:off x="5120640" y="3255264"/>
            <a:ext cx="3657600" cy="594360"/>
          </a:xfrm>
          <a:prstGeom prst="rect">
            <a:avLst/>
          </a:prstGeom>
          <a:solidFill>
            <a:srgbClr val="FFFFFF"/>
          </a:solidFill>
          <a:ln w="19050">
            <a:solidFill>
              <a:srgbClr val="E8EFF5"/>
            </a:solidFill>
            <a:prstDash val="solid"/>
          </a:ln>
        </p:spPr>
        <p:txBody>
          <a:bodyPr/>
          <a:lstStyle/>
          <a:p>
            <a:endParaRPr lang="en-US"/>
          </a:p>
        </p:txBody>
      </p:sp>
      <p:sp>
        <p:nvSpPr>
          <p:cNvPr id="33" name="Text 31"/>
          <p:cNvSpPr/>
          <p:nvPr/>
        </p:nvSpPr>
        <p:spPr>
          <a:xfrm>
            <a:off x="5212080" y="3300984"/>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am the handshake"</a:t>
            </a:r>
            <a:endParaRPr lang="en-US" sz="1200" dirty="0"/>
          </a:p>
        </p:txBody>
      </p:sp>
      <p:sp>
        <p:nvSpPr>
          <p:cNvPr id="34" name="Text 32"/>
          <p:cNvSpPr/>
          <p:nvPr/>
        </p:nvSpPr>
        <p:spPr>
          <a:xfrm>
            <a:off x="5212080" y="3557016"/>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Pipe-delimited columnar contract</a:t>
            </a:r>
            <a:endParaRPr lang="en-US" sz="1100" dirty="0"/>
          </a:p>
        </p:txBody>
      </p:sp>
      <p:sp>
        <p:nvSpPr>
          <p:cNvPr id="35" name="Shape 33"/>
          <p:cNvSpPr/>
          <p:nvPr/>
        </p:nvSpPr>
        <p:spPr>
          <a:xfrm>
            <a:off x="5120640" y="4005072"/>
            <a:ext cx="3657600" cy="594360"/>
          </a:xfrm>
          <a:prstGeom prst="rect">
            <a:avLst/>
          </a:prstGeom>
          <a:solidFill>
            <a:srgbClr val="FFFFFF"/>
          </a:solidFill>
          <a:ln w="19050">
            <a:solidFill>
              <a:srgbClr val="E8EFF5"/>
            </a:solidFill>
            <a:prstDash val="solid"/>
          </a:ln>
        </p:spPr>
        <p:txBody>
          <a:bodyPr/>
          <a:lstStyle/>
          <a:p>
            <a:endParaRPr lang="en-US"/>
          </a:p>
        </p:txBody>
      </p:sp>
      <p:sp>
        <p:nvSpPr>
          <p:cNvPr id="36" name="Text 34"/>
          <p:cNvSpPr/>
          <p:nvPr/>
        </p:nvSpPr>
        <p:spPr>
          <a:xfrm>
            <a:off x="5212080" y="4050792"/>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know how to draw"</a:t>
            </a:r>
            <a:endParaRPr lang="en-US" sz="1200" dirty="0"/>
          </a:p>
        </p:txBody>
      </p:sp>
      <p:sp>
        <p:nvSpPr>
          <p:cNvPr id="37" name="Text 35"/>
          <p:cNvSpPr/>
          <p:nvPr/>
        </p:nvSpPr>
        <p:spPr>
          <a:xfrm>
            <a:off x="5212080" y="4306824"/>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Pure renderers, no data transforms</a:t>
            </a:r>
            <a:endParaRPr lang="en-US" sz="1100" dirty="0"/>
          </a:p>
        </p:txBody>
      </p:sp>
      <p:sp>
        <p:nvSpPr>
          <p:cNvPr id="38" name="Shape 36"/>
          <p:cNvSpPr/>
          <p:nvPr/>
        </p:nvSpPr>
        <p:spPr>
          <a:xfrm>
            <a:off x="4754880" y="1005840"/>
            <a:ext cx="365760" cy="0"/>
          </a:xfrm>
          <a:prstGeom prst="line">
            <a:avLst/>
          </a:prstGeom>
          <a:noFill/>
          <a:ln w="12700">
            <a:solidFill>
              <a:srgbClr val="E8EFF5"/>
            </a:solidFill>
            <a:prstDash val="dash"/>
          </a:ln>
        </p:spPr>
        <p:txBody>
          <a:bodyPr/>
          <a:lstStyle/>
          <a:p>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Object Hierarchy</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143000"/>
            <a:ext cx="2011680" cy="384048"/>
          </a:xfrm>
          <a:prstGeom prst="roundRect">
            <a:avLst>
              <a:gd name="adj" fmla="val 19048"/>
            </a:avLst>
          </a:prstGeom>
          <a:solidFill>
            <a:srgbClr val="0D2B45"/>
          </a:solidFill>
          <a:ln/>
        </p:spPr>
        <p:txBody>
          <a:bodyPr/>
          <a:lstStyle/>
          <a:p>
            <a:endParaRPr lang="en-US"/>
          </a:p>
        </p:txBody>
      </p:sp>
      <p:sp>
        <p:nvSpPr>
          <p:cNvPr id="5" name="Text 3"/>
          <p:cNvSpPr/>
          <p:nvPr/>
        </p:nvSpPr>
        <p:spPr>
          <a:xfrm>
            <a:off x="365760" y="1143000"/>
            <a:ext cx="20116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EventSemantics</a:t>
            </a:r>
            <a:endParaRPr lang="en-US" sz="1100" dirty="0"/>
          </a:p>
        </p:txBody>
      </p:sp>
      <p:sp>
        <p:nvSpPr>
          <p:cNvPr id="6" name="Shape 4"/>
          <p:cNvSpPr/>
          <p:nvPr/>
        </p:nvSpPr>
        <p:spPr>
          <a:xfrm>
            <a:off x="2514600" y="1143000"/>
            <a:ext cx="2286000" cy="384048"/>
          </a:xfrm>
          <a:prstGeom prst="roundRect">
            <a:avLst>
              <a:gd name="adj" fmla="val 19048"/>
            </a:avLst>
          </a:prstGeom>
          <a:solidFill>
            <a:srgbClr val="0D2B45"/>
          </a:solidFill>
          <a:ln/>
        </p:spPr>
        <p:txBody>
          <a:bodyPr/>
          <a:lstStyle/>
          <a:p>
            <a:endParaRPr lang="en-US"/>
          </a:p>
        </p:txBody>
      </p:sp>
      <p:sp>
        <p:nvSpPr>
          <p:cNvPr id="7" name="Text 5"/>
          <p:cNvSpPr/>
          <p:nvPr/>
        </p:nvSpPr>
        <p:spPr>
          <a:xfrm>
            <a:off x="2514600" y="1143000"/>
            <a:ext cx="228600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OccurrenceSemantics</a:t>
            </a:r>
            <a:endParaRPr lang="en-US" sz="1100" dirty="0"/>
          </a:p>
        </p:txBody>
      </p:sp>
      <p:sp>
        <p:nvSpPr>
          <p:cNvPr id="8" name="Shape 6"/>
          <p:cNvSpPr/>
          <p:nvPr/>
        </p:nvSpPr>
        <p:spPr>
          <a:xfrm>
            <a:off x="1417320" y="1527048"/>
            <a:ext cx="0" cy="228600"/>
          </a:xfrm>
          <a:prstGeom prst="line">
            <a:avLst/>
          </a:prstGeom>
          <a:noFill/>
          <a:ln w="19050">
            <a:solidFill>
              <a:srgbClr val="8A9BB0"/>
            </a:solidFill>
            <a:prstDash val="solid"/>
          </a:ln>
        </p:spPr>
        <p:txBody>
          <a:bodyPr/>
          <a:lstStyle/>
          <a:p>
            <a:endParaRPr lang="en-US"/>
          </a:p>
        </p:txBody>
      </p:sp>
      <p:sp>
        <p:nvSpPr>
          <p:cNvPr id="9" name="Shape 7"/>
          <p:cNvSpPr/>
          <p:nvPr/>
        </p:nvSpPr>
        <p:spPr>
          <a:xfrm>
            <a:off x="3657600" y="1527048"/>
            <a:ext cx="0" cy="228600"/>
          </a:xfrm>
          <a:prstGeom prst="line">
            <a:avLst/>
          </a:prstGeom>
          <a:noFill/>
          <a:ln w="19050">
            <a:solidFill>
              <a:srgbClr val="8A9BB0"/>
            </a:solidFill>
            <a:prstDash val="solid"/>
          </a:ln>
        </p:spPr>
        <p:txBody>
          <a:bodyPr/>
          <a:lstStyle/>
          <a:p>
            <a:endParaRPr lang="en-US"/>
          </a:p>
        </p:txBody>
      </p:sp>
      <p:sp>
        <p:nvSpPr>
          <p:cNvPr id="10" name="Shape 8"/>
          <p:cNvSpPr/>
          <p:nvPr/>
        </p:nvSpPr>
        <p:spPr>
          <a:xfrm>
            <a:off x="365760" y="1783080"/>
            <a:ext cx="1280160" cy="384048"/>
          </a:xfrm>
          <a:prstGeom prst="roundRect">
            <a:avLst>
              <a:gd name="adj" fmla="val 19048"/>
            </a:avLst>
          </a:prstGeom>
          <a:solidFill>
            <a:srgbClr val="028090"/>
          </a:solidFill>
          <a:ln/>
        </p:spPr>
        <p:txBody>
          <a:bodyPr/>
          <a:lstStyle/>
          <a:p>
            <a:endParaRPr lang="en-US"/>
          </a:p>
        </p:txBody>
      </p:sp>
      <p:sp>
        <p:nvSpPr>
          <p:cNvPr id="11" name="Text 9"/>
          <p:cNvSpPr/>
          <p:nvPr/>
        </p:nvSpPr>
        <p:spPr>
          <a:xfrm>
            <a:off x="365760" y="1783080"/>
            <a:ext cx="128016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a:t>
            </a:r>
            <a:endParaRPr lang="en-US" sz="1100" dirty="0"/>
          </a:p>
        </p:txBody>
      </p:sp>
      <p:sp>
        <p:nvSpPr>
          <p:cNvPr id="12" name="Shape 10"/>
          <p:cNvSpPr/>
          <p:nvPr/>
        </p:nvSpPr>
        <p:spPr>
          <a:xfrm>
            <a:off x="1783080" y="1783080"/>
            <a:ext cx="1737360" cy="384048"/>
          </a:xfrm>
          <a:prstGeom prst="roundRect">
            <a:avLst>
              <a:gd name="adj" fmla="val 19048"/>
            </a:avLst>
          </a:prstGeom>
          <a:solidFill>
            <a:srgbClr val="00A896"/>
          </a:solidFill>
          <a:ln/>
        </p:spPr>
        <p:txBody>
          <a:bodyPr/>
          <a:lstStyle/>
          <a:p>
            <a:endParaRPr lang="en-US"/>
          </a:p>
        </p:txBody>
      </p:sp>
      <p:sp>
        <p:nvSpPr>
          <p:cNvPr id="13" name="Text 11"/>
          <p:cNvSpPr/>
          <p:nvPr/>
        </p:nvSpPr>
        <p:spPr>
          <a:xfrm>
            <a:off x="1783080" y="1783080"/>
            <a:ext cx="173736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EventsPerEntity</a:t>
            </a:r>
            <a:endParaRPr lang="en-US" sz="1100" dirty="0"/>
          </a:p>
        </p:txBody>
      </p:sp>
      <p:sp>
        <p:nvSpPr>
          <p:cNvPr id="14" name="Shape 12"/>
          <p:cNvSpPr/>
          <p:nvPr/>
        </p:nvSpPr>
        <p:spPr>
          <a:xfrm>
            <a:off x="3611880" y="1783080"/>
            <a:ext cx="1463040" cy="384048"/>
          </a:xfrm>
          <a:prstGeom prst="roundRect">
            <a:avLst>
              <a:gd name="adj" fmla="val 19048"/>
            </a:avLst>
          </a:prstGeom>
          <a:solidFill>
            <a:srgbClr val="028090"/>
          </a:solidFill>
          <a:ln/>
        </p:spPr>
        <p:txBody>
          <a:bodyPr/>
          <a:lstStyle/>
          <a:p>
            <a:endParaRPr lang="en-US"/>
          </a:p>
        </p:txBody>
      </p:sp>
      <p:sp>
        <p:nvSpPr>
          <p:cNvPr id="15" name="Text 13"/>
          <p:cNvSpPr/>
          <p:nvPr/>
        </p:nvSpPr>
        <p:spPr>
          <a:xfrm>
            <a:off x="3611880" y="1783080"/>
            <a:ext cx="14630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a:t>
            </a:r>
            <a:endParaRPr lang="en-US" sz="1100" dirty="0"/>
          </a:p>
        </p:txBody>
      </p:sp>
      <p:sp>
        <p:nvSpPr>
          <p:cNvPr id="16" name="Shape 14"/>
          <p:cNvSpPr/>
          <p:nvPr/>
        </p:nvSpPr>
        <p:spPr>
          <a:xfrm>
            <a:off x="5166360" y="1783080"/>
            <a:ext cx="2011680" cy="384048"/>
          </a:xfrm>
          <a:prstGeom prst="roundRect">
            <a:avLst>
              <a:gd name="adj" fmla="val 19048"/>
            </a:avLst>
          </a:prstGeom>
          <a:solidFill>
            <a:srgbClr val="00A896"/>
          </a:solidFill>
          <a:ln/>
        </p:spPr>
        <p:txBody>
          <a:bodyPr/>
          <a:lstStyle/>
          <a:p>
            <a:endParaRPr lang="en-US"/>
          </a:p>
        </p:txBody>
      </p:sp>
      <p:sp>
        <p:nvSpPr>
          <p:cNvPr id="17" name="Text 15"/>
          <p:cNvSpPr/>
          <p:nvPr/>
        </p:nvSpPr>
        <p:spPr>
          <a:xfrm>
            <a:off x="5166360" y="1783080"/>
            <a:ext cx="20116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OccurrencesPerEntity</a:t>
            </a:r>
            <a:endParaRPr lang="en-US" sz="1100" dirty="0"/>
          </a:p>
        </p:txBody>
      </p:sp>
      <p:sp>
        <p:nvSpPr>
          <p:cNvPr id="18" name="Shape 16"/>
          <p:cNvSpPr/>
          <p:nvPr/>
        </p:nvSpPr>
        <p:spPr>
          <a:xfrm>
            <a:off x="6172200" y="2167128"/>
            <a:ext cx="0" cy="228600"/>
          </a:xfrm>
          <a:prstGeom prst="line">
            <a:avLst/>
          </a:prstGeom>
          <a:noFill/>
          <a:ln w="19050">
            <a:solidFill>
              <a:srgbClr val="02C39A"/>
            </a:solidFill>
            <a:prstDash val="dash"/>
          </a:ln>
        </p:spPr>
        <p:txBody>
          <a:bodyPr/>
          <a:lstStyle/>
          <a:p>
            <a:endParaRPr lang="en-US"/>
          </a:p>
        </p:txBody>
      </p:sp>
      <p:sp>
        <p:nvSpPr>
          <p:cNvPr id="19" name="Text 17"/>
          <p:cNvSpPr/>
          <p:nvPr/>
        </p:nvSpPr>
        <p:spPr>
          <a:xfrm>
            <a:off x="6309360" y="2167128"/>
            <a:ext cx="1371600" cy="228600"/>
          </a:xfrm>
          <a:prstGeom prst="rect">
            <a:avLst/>
          </a:prstGeom>
          <a:noFill/>
          <a:ln/>
        </p:spPr>
        <p:txBody>
          <a:bodyPr wrap="square" rtlCol="0" anchor="ctr"/>
          <a:lstStyle/>
          <a:p>
            <a:pPr marL="0" indent="0">
              <a:buNone/>
            </a:pPr>
            <a:r>
              <a:rPr lang="en-US" sz="900" i="1" dirty="0">
                <a:solidFill>
                  <a:srgbClr val="02C39A"/>
                </a:solidFill>
                <a:latin typeface="Calibri" pitchFamily="34" charset="0"/>
                <a:ea typeface="Calibri" pitchFamily="34" charset="-122"/>
                <a:cs typeface="Calibri" pitchFamily="34" charset="-120"/>
              </a:rPr>
              <a:t>build_span()</a:t>
            </a:r>
            <a:endParaRPr lang="en-US" sz="900" dirty="0"/>
          </a:p>
        </p:txBody>
      </p:sp>
      <p:sp>
        <p:nvSpPr>
          <p:cNvPr id="20" name="Shape 18"/>
          <p:cNvSpPr/>
          <p:nvPr/>
        </p:nvSpPr>
        <p:spPr>
          <a:xfrm>
            <a:off x="1417320" y="2167128"/>
            <a:ext cx="0" cy="256032"/>
          </a:xfrm>
          <a:prstGeom prst="line">
            <a:avLst/>
          </a:prstGeom>
          <a:noFill/>
          <a:ln w="19050">
            <a:solidFill>
              <a:srgbClr val="8A9BB0"/>
            </a:solidFill>
            <a:prstDash val="solid"/>
          </a:ln>
        </p:spPr>
        <p:txBody>
          <a:bodyPr/>
          <a:lstStyle/>
          <a:p>
            <a:endParaRPr lang="en-US"/>
          </a:p>
        </p:txBody>
      </p:sp>
      <p:sp>
        <p:nvSpPr>
          <p:cNvPr id="21" name="Shape 19"/>
          <p:cNvSpPr/>
          <p:nvPr/>
        </p:nvSpPr>
        <p:spPr>
          <a:xfrm>
            <a:off x="4343400" y="2167128"/>
            <a:ext cx="0" cy="256032"/>
          </a:xfrm>
          <a:prstGeom prst="line">
            <a:avLst/>
          </a:prstGeom>
          <a:noFill/>
          <a:ln w="19050">
            <a:solidFill>
              <a:srgbClr val="8A9BB0"/>
            </a:solidFill>
            <a:prstDash val="solid"/>
          </a:ln>
        </p:spPr>
        <p:txBody>
          <a:bodyPr/>
          <a:lstStyle/>
          <a:p>
            <a:endParaRPr lang="en-US"/>
          </a:p>
        </p:txBody>
      </p:sp>
      <p:sp>
        <p:nvSpPr>
          <p:cNvPr id="22" name="Shape 20"/>
          <p:cNvSpPr/>
          <p:nvPr/>
        </p:nvSpPr>
        <p:spPr>
          <a:xfrm>
            <a:off x="365760" y="2450592"/>
            <a:ext cx="2834640" cy="384048"/>
          </a:xfrm>
          <a:prstGeom prst="roundRect">
            <a:avLst>
              <a:gd name="adj" fmla="val 19048"/>
            </a:avLst>
          </a:prstGeom>
          <a:solidFill>
            <a:srgbClr val="1C7293"/>
          </a:solidFill>
          <a:ln/>
        </p:spPr>
        <p:txBody>
          <a:bodyPr/>
          <a:lstStyle/>
          <a:p>
            <a:endParaRPr lang="en-US"/>
          </a:p>
        </p:txBody>
      </p:sp>
      <p:sp>
        <p:nvSpPr>
          <p:cNvPr id="23" name="Text 21"/>
          <p:cNvSpPr/>
          <p:nvPr/>
        </p:nvSpPr>
        <p:spPr>
          <a:xfrm>
            <a:off x="365760" y="2450592"/>
            <a:ext cx="28346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EventsWithinSpansAnalyzer</a:t>
            </a:r>
            <a:endParaRPr lang="en-US" sz="1100" dirty="0"/>
          </a:p>
        </p:txBody>
      </p:sp>
      <p:sp>
        <p:nvSpPr>
          <p:cNvPr id="24" name="Shape 22"/>
          <p:cNvSpPr/>
          <p:nvPr/>
        </p:nvSpPr>
        <p:spPr>
          <a:xfrm>
            <a:off x="3337560" y="2450592"/>
            <a:ext cx="2834640" cy="384048"/>
          </a:xfrm>
          <a:prstGeom prst="roundRect">
            <a:avLst>
              <a:gd name="adj" fmla="val 19048"/>
            </a:avLst>
          </a:prstGeom>
          <a:solidFill>
            <a:srgbClr val="1C7293"/>
          </a:solidFill>
          <a:ln/>
        </p:spPr>
        <p:txBody>
          <a:bodyPr/>
          <a:lstStyle/>
          <a:p>
            <a:endParaRPr lang="en-US"/>
          </a:p>
        </p:txBody>
      </p:sp>
      <p:sp>
        <p:nvSpPr>
          <p:cNvPr id="25" name="Text 23"/>
          <p:cNvSpPr/>
          <p:nvPr/>
        </p:nvSpPr>
        <p:spPr>
          <a:xfrm>
            <a:off x="3337560" y="2450592"/>
            <a:ext cx="28346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OccurrencesWithinSpansAnalyzer</a:t>
            </a:r>
            <a:endParaRPr lang="en-US" sz="1100" dirty="0"/>
          </a:p>
        </p:txBody>
      </p:sp>
      <p:sp>
        <p:nvSpPr>
          <p:cNvPr id="26" name="Shape 24"/>
          <p:cNvSpPr/>
          <p:nvPr/>
        </p:nvSpPr>
        <p:spPr>
          <a:xfrm>
            <a:off x="1783080" y="2834640"/>
            <a:ext cx="0" cy="256032"/>
          </a:xfrm>
          <a:prstGeom prst="line">
            <a:avLst/>
          </a:prstGeom>
          <a:noFill/>
          <a:ln w="19050">
            <a:solidFill>
              <a:srgbClr val="8A9BB0"/>
            </a:solidFill>
            <a:prstDash val="solid"/>
          </a:ln>
        </p:spPr>
        <p:txBody>
          <a:bodyPr/>
          <a:lstStyle/>
          <a:p>
            <a:endParaRPr lang="en-US"/>
          </a:p>
        </p:txBody>
      </p:sp>
      <p:sp>
        <p:nvSpPr>
          <p:cNvPr id="27" name="Shape 25"/>
          <p:cNvSpPr/>
          <p:nvPr/>
        </p:nvSpPr>
        <p:spPr>
          <a:xfrm>
            <a:off x="4754880" y="2834640"/>
            <a:ext cx="0" cy="256032"/>
          </a:xfrm>
          <a:prstGeom prst="line">
            <a:avLst/>
          </a:prstGeom>
          <a:noFill/>
          <a:ln w="19050">
            <a:solidFill>
              <a:srgbClr val="8A9BB0"/>
            </a:solidFill>
            <a:prstDash val="solid"/>
          </a:ln>
        </p:spPr>
        <p:txBody>
          <a:bodyPr/>
          <a:lstStyle/>
          <a:p>
            <a:endParaRPr lang="en-US"/>
          </a:p>
        </p:txBody>
      </p:sp>
      <p:sp>
        <p:nvSpPr>
          <p:cNvPr id="28" name="Shape 26"/>
          <p:cNvSpPr/>
          <p:nvPr/>
        </p:nvSpPr>
        <p:spPr>
          <a:xfrm>
            <a:off x="365760" y="3090672"/>
            <a:ext cx="8412480" cy="384048"/>
          </a:xfrm>
          <a:prstGeom prst="rect">
            <a:avLst/>
          </a:prstGeom>
          <a:solidFill>
            <a:srgbClr val="E8EFF5"/>
          </a:solidFill>
          <a:ln w="19050">
            <a:solidFill>
              <a:srgbClr val="8A9BB0"/>
            </a:solidFill>
            <a:prstDash val="solid"/>
          </a:ln>
        </p:spPr>
        <p:txBody>
          <a:bodyPr/>
          <a:lstStyle/>
          <a:p>
            <a:endParaRPr lang="en-US"/>
          </a:p>
        </p:txBody>
      </p:sp>
      <p:sp>
        <p:nvSpPr>
          <p:cNvPr id="29" name="Text 27"/>
          <p:cNvSpPr/>
          <p:nvPr/>
        </p:nvSpPr>
        <p:spPr>
          <a:xfrm>
            <a:off x="365760" y="3090672"/>
            <a:ext cx="8412480" cy="384048"/>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PipeDelimitedIntermediate  (base — columnar contract + combine())</a:t>
            </a:r>
            <a:endParaRPr lang="en-US" sz="1200" dirty="0"/>
          </a:p>
        </p:txBody>
      </p:sp>
      <p:sp>
        <p:nvSpPr>
          <p:cNvPr id="30" name="Shape 28"/>
          <p:cNvSpPr/>
          <p:nvPr/>
        </p:nvSpPr>
        <p:spPr>
          <a:xfrm>
            <a:off x="1828800" y="3474720"/>
            <a:ext cx="0" cy="256032"/>
          </a:xfrm>
          <a:prstGeom prst="line">
            <a:avLst/>
          </a:prstGeom>
          <a:noFill/>
          <a:ln w="19050">
            <a:solidFill>
              <a:srgbClr val="8A9BB0"/>
            </a:solidFill>
            <a:prstDash val="solid"/>
          </a:ln>
        </p:spPr>
        <p:txBody>
          <a:bodyPr/>
          <a:lstStyle/>
          <a:p>
            <a:endParaRPr lang="en-US"/>
          </a:p>
        </p:txBody>
      </p:sp>
      <p:sp>
        <p:nvSpPr>
          <p:cNvPr id="31" name="Shape 29"/>
          <p:cNvSpPr/>
          <p:nvPr/>
        </p:nvSpPr>
        <p:spPr>
          <a:xfrm>
            <a:off x="6400800" y="3474720"/>
            <a:ext cx="0" cy="256032"/>
          </a:xfrm>
          <a:prstGeom prst="line">
            <a:avLst/>
          </a:prstGeom>
          <a:noFill/>
          <a:ln w="19050">
            <a:solidFill>
              <a:srgbClr val="8A9BB0"/>
            </a:solidFill>
            <a:prstDash val="solid"/>
          </a:ln>
        </p:spPr>
        <p:txBody>
          <a:bodyPr/>
          <a:lstStyle/>
          <a:p>
            <a:endParaRPr lang="en-US"/>
          </a:p>
        </p:txBody>
      </p:sp>
      <p:sp>
        <p:nvSpPr>
          <p:cNvPr id="32" name="Shape 30"/>
          <p:cNvSpPr/>
          <p:nvPr/>
        </p:nvSpPr>
        <p:spPr>
          <a:xfrm>
            <a:off x="365760" y="3730752"/>
            <a:ext cx="3657600" cy="384048"/>
          </a:xfrm>
          <a:prstGeom prst="roundRect">
            <a:avLst>
              <a:gd name="adj" fmla="val 19048"/>
            </a:avLst>
          </a:prstGeom>
          <a:solidFill>
            <a:srgbClr val="028090"/>
          </a:solidFill>
          <a:ln/>
        </p:spPr>
        <p:txBody>
          <a:bodyPr/>
          <a:lstStyle/>
          <a:p>
            <a:endParaRPr lang="en-US"/>
          </a:p>
        </p:txBody>
      </p:sp>
      <p:sp>
        <p:nvSpPr>
          <p:cNvPr id="33" name="Text 31"/>
          <p:cNvSpPr/>
          <p:nvPr/>
        </p:nvSpPr>
        <p:spPr>
          <a:xfrm>
            <a:off x="365760" y="3730752"/>
            <a:ext cx="365760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PipeDelimitedIntermediateEvents</a:t>
            </a:r>
            <a:endParaRPr lang="en-US" sz="1100" dirty="0"/>
          </a:p>
        </p:txBody>
      </p:sp>
      <p:sp>
        <p:nvSpPr>
          <p:cNvPr id="34" name="Shape 32"/>
          <p:cNvSpPr/>
          <p:nvPr/>
        </p:nvSpPr>
        <p:spPr>
          <a:xfrm>
            <a:off x="4572000" y="3730752"/>
            <a:ext cx="3840480" cy="384048"/>
          </a:xfrm>
          <a:prstGeom prst="roundRect">
            <a:avLst>
              <a:gd name="adj" fmla="val 19048"/>
            </a:avLst>
          </a:prstGeom>
          <a:solidFill>
            <a:srgbClr val="028090"/>
          </a:solidFill>
          <a:ln/>
        </p:spPr>
        <p:txBody>
          <a:bodyPr/>
          <a:lstStyle/>
          <a:p>
            <a:endParaRPr lang="en-US"/>
          </a:p>
        </p:txBody>
      </p:sp>
      <p:sp>
        <p:nvSpPr>
          <p:cNvPr id="35" name="Text 33"/>
          <p:cNvSpPr/>
          <p:nvPr/>
        </p:nvSpPr>
        <p:spPr>
          <a:xfrm>
            <a:off x="4572000" y="3730752"/>
            <a:ext cx="38404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PipeDelimitedIntermediateOccurrences</a:t>
            </a:r>
            <a:endParaRPr lang="en-US" sz="1100" dirty="0"/>
          </a:p>
        </p:txBody>
      </p:sp>
      <p:sp>
        <p:nvSpPr>
          <p:cNvPr id="36" name="Shape 34"/>
          <p:cNvSpPr/>
          <p:nvPr/>
        </p:nvSpPr>
        <p:spPr>
          <a:xfrm>
            <a:off x="2194560" y="4114800"/>
            <a:ext cx="0" cy="256032"/>
          </a:xfrm>
          <a:prstGeom prst="line">
            <a:avLst/>
          </a:prstGeom>
          <a:noFill/>
          <a:ln w="19050">
            <a:solidFill>
              <a:srgbClr val="02C39A"/>
            </a:solidFill>
            <a:prstDash val="solid"/>
          </a:ln>
        </p:spPr>
        <p:txBody>
          <a:bodyPr/>
          <a:lstStyle/>
          <a:p>
            <a:endParaRPr lang="en-US"/>
          </a:p>
        </p:txBody>
      </p:sp>
      <p:sp>
        <p:nvSpPr>
          <p:cNvPr id="37" name="Shape 35"/>
          <p:cNvSpPr/>
          <p:nvPr/>
        </p:nvSpPr>
        <p:spPr>
          <a:xfrm>
            <a:off x="6400800" y="4114800"/>
            <a:ext cx="0" cy="256032"/>
          </a:xfrm>
          <a:prstGeom prst="line">
            <a:avLst/>
          </a:prstGeom>
          <a:noFill/>
          <a:ln w="19050">
            <a:solidFill>
              <a:srgbClr val="02C39A"/>
            </a:solidFill>
            <a:prstDash val="solid"/>
          </a:ln>
        </p:spPr>
        <p:txBody>
          <a:bodyPr/>
          <a:lstStyle/>
          <a:p>
            <a:endParaRPr lang="en-US"/>
          </a:p>
        </p:txBody>
      </p:sp>
      <p:sp>
        <p:nvSpPr>
          <p:cNvPr id="38" name="Shape 36"/>
          <p:cNvSpPr/>
          <p:nvPr/>
        </p:nvSpPr>
        <p:spPr>
          <a:xfrm>
            <a:off x="365760" y="4370832"/>
            <a:ext cx="2560320" cy="384048"/>
          </a:xfrm>
          <a:prstGeom prst="roundRect">
            <a:avLst>
              <a:gd name="adj" fmla="val 19048"/>
            </a:avLst>
          </a:prstGeom>
          <a:solidFill>
            <a:srgbClr val="02C39A"/>
          </a:solidFill>
          <a:ln/>
        </p:spPr>
        <p:txBody>
          <a:bodyPr/>
          <a:lstStyle/>
          <a:p>
            <a:endParaRPr lang="en-US"/>
          </a:p>
        </p:txBody>
      </p:sp>
      <p:sp>
        <p:nvSpPr>
          <p:cNvPr id="39" name="Text 37"/>
          <p:cNvSpPr/>
          <p:nvPr/>
        </p:nvSpPr>
        <p:spPr>
          <a:xfrm>
            <a:off x="365760" y="4370832"/>
            <a:ext cx="2560320" cy="384048"/>
          </a:xfrm>
          <a:prstGeom prst="rect">
            <a:avLst/>
          </a:prstGeom>
          <a:noFill/>
          <a:ln/>
        </p:spPr>
        <p:txBody>
          <a:bodyPr wrap="square" lIns="0" tIns="0" rIns="0" bIns="0" rtlCol="0" anchor="ctr"/>
          <a:lstStyle/>
          <a:p>
            <a:pPr marL="0" indent="0" algn="ctr">
              <a:buNone/>
            </a:pPr>
            <a:r>
              <a:rPr lang="en-US" sz="1100" b="1" dirty="0">
                <a:solidFill>
                  <a:srgbClr val="0D2B45"/>
                </a:solidFill>
                <a:latin typeface="Calibri" pitchFamily="34" charset="0"/>
                <a:ea typeface="Calibri" pitchFamily="34" charset="-122"/>
                <a:cs typeface="Calibri" pitchFamily="34" charset="-120"/>
              </a:rPr>
              <a:t>StackedEventsPlotter</a:t>
            </a:r>
            <a:endParaRPr lang="en-US" sz="1100" dirty="0"/>
          </a:p>
        </p:txBody>
      </p:sp>
      <p:sp>
        <p:nvSpPr>
          <p:cNvPr id="40" name="Shape 38"/>
          <p:cNvSpPr/>
          <p:nvPr/>
        </p:nvSpPr>
        <p:spPr>
          <a:xfrm>
            <a:off x="3017520" y="4370832"/>
            <a:ext cx="2468880" cy="384048"/>
          </a:xfrm>
          <a:prstGeom prst="roundRect">
            <a:avLst>
              <a:gd name="adj" fmla="val 19048"/>
            </a:avLst>
          </a:prstGeom>
          <a:solidFill>
            <a:srgbClr val="02C39A"/>
          </a:solidFill>
          <a:ln/>
        </p:spPr>
        <p:txBody>
          <a:bodyPr/>
          <a:lstStyle/>
          <a:p>
            <a:endParaRPr lang="en-US"/>
          </a:p>
        </p:txBody>
      </p:sp>
      <p:sp>
        <p:nvSpPr>
          <p:cNvPr id="41" name="Text 39"/>
          <p:cNvSpPr/>
          <p:nvPr/>
        </p:nvSpPr>
        <p:spPr>
          <a:xfrm>
            <a:off x="3017520" y="4370832"/>
            <a:ext cx="2468880" cy="384048"/>
          </a:xfrm>
          <a:prstGeom prst="rect">
            <a:avLst/>
          </a:prstGeom>
          <a:noFill/>
          <a:ln/>
        </p:spPr>
        <p:txBody>
          <a:bodyPr wrap="square" lIns="0" tIns="0" rIns="0" bIns="0" rtlCol="0" anchor="ctr"/>
          <a:lstStyle/>
          <a:p>
            <a:pPr marL="0" indent="0" algn="ctr">
              <a:buNone/>
            </a:pPr>
            <a:r>
              <a:rPr lang="en-US" sz="1100" b="1" dirty="0">
                <a:solidFill>
                  <a:srgbClr val="0D2B45"/>
                </a:solidFill>
                <a:latin typeface="Calibri" pitchFamily="34" charset="0"/>
                <a:ea typeface="Calibri" pitchFamily="34" charset="-122"/>
                <a:cs typeface="Calibri" pitchFamily="34" charset="-120"/>
              </a:rPr>
              <a:t>ActivityOverTimePlotter</a:t>
            </a:r>
            <a:endParaRPr lang="en-US" sz="1100" dirty="0"/>
          </a:p>
        </p:txBody>
      </p:sp>
      <p:sp>
        <p:nvSpPr>
          <p:cNvPr id="42" name="Shape 40"/>
          <p:cNvSpPr/>
          <p:nvPr/>
        </p:nvSpPr>
        <p:spPr>
          <a:xfrm>
            <a:off x="5577840" y="4370832"/>
            <a:ext cx="2926080" cy="384048"/>
          </a:xfrm>
          <a:prstGeom prst="roundRect">
            <a:avLst>
              <a:gd name="adj" fmla="val 19048"/>
            </a:avLst>
          </a:prstGeom>
          <a:solidFill>
            <a:srgbClr val="02C39A"/>
          </a:solidFill>
          <a:ln/>
        </p:spPr>
        <p:txBody>
          <a:bodyPr/>
          <a:lstStyle/>
          <a:p>
            <a:endParaRPr lang="en-US"/>
          </a:p>
        </p:txBody>
      </p:sp>
      <p:sp>
        <p:nvSpPr>
          <p:cNvPr id="43" name="Text 41"/>
          <p:cNvSpPr/>
          <p:nvPr/>
        </p:nvSpPr>
        <p:spPr>
          <a:xfrm>
            <a:off x="5577840" y="4370832"/>
            <a:ext cx="2926080" cy="384048"/>
          </a:xfrm>
          <a:prstGeom prst="rect">
            <a:avLst/>
          </a:prstGeom>
          <a:noFill/>
          <a:ln/>
        </p:spPr>
        <p:txBody>
          <a:bodyPr wrap="square" lIns="0" tIns="0" rIns="0" bIns="0" rtlCol="0" anchor="ctr"/>
          <a:lstStyle/>
          <a:p>
            <a:pPr marL="0" indent="0" algn="ctr">
              <a:buNone/>
            </a:pPr>
            <a:r>
              <a:rPr lang="en-US" sz="1100" b="1" dirty="0">
                <a:solidFill>
                  <a:srgbClr val="0D2B45"/>
                </a:solidFill>
                <a:latin typeface="Calibri" pitchFamily="34" charset="0"/>
                <a:ea typeface="Calibri" pitchFamily="34" charset="-122"/>
                <a:cs typeface="Calibri" pitchFamily="34" charset="-120"/>
              </a:rPr>
              <a:t>EventAnalysisHistogramPlotter</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5">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The Pipe-Delimited Intermediate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Text 2"/>
          <p:cNvSpPr/>
          <p:nvPr/>
        </p:nvSpPr>
        <p:spPr>
          <a:xfrm>
            <a:off x="365760" y="1051560"/>
            <a:ext cx="5029200" cy="320040"/>
          </a:xfrm>
          <a:prstGeom prst="rect">
            <a:avLst/>
          </a:prstGeom>
          <a:noFill/>
          <a:ln/>
        </p:spPr>
        <p:txBody>
          <a:bodyPr wrap="square" rtlCol="0" anchor="ctr"/>
          <a:lstStyle/>
          <a:p>
            <a:pPr marL="0" indent="0">
              <a:buNone/>
            </a:pPr>
            <a:r>
              <a:rPr lang="en-US" sz="1200" i="1" dirty="0">
                <a:solidFill>
                  <a:srgbClr val="8A9BB0"/>
                </a:solidFill>
                <a:latin typeface="Calibri" pitchFamily="34" charset="0"/>
                <a:ea typeface="Calibri" pitchFamily="34" charset="-122"/>
                <a:cs typeface="Calibri" pitchFamily="34" charset="-120"/>
              </a:rPr>
              <a:t>One row per entity. Columns follow strict naming conventions.</a:t>
            </a:r>
            <a:endParaRPr lang="en-US" sz="1200" dirty="0"/>
          </a:p>
        </p:txBody>
      </p:sp>
      <p:sp>
        <p:nvSpPr>
          <p:cNvPr id="5" name="Shape 3"/>
          <p:cNvSpPr/>
          <p:nvPr/>
        </p:nvSpPr>
        <p:spPr>
          <a:xfrm>
            <a:off x="365760" y="1417320"/>
            <a:ext cx="4937760" cy="475488"/>
          </a:xfrm>
          <a:prstGeom prst="rect">
            <a:avLst/>
          </a:prstGeom>
          <a:solidFill>
            <a:srgbClr val="0D2B45"/>
          </a:solidFill>
          <a:ln/>
        </p:spPr>
        <p:txBody>
          <a:bodyPr/>
          <a:lstStyle/>
          <a:p>
            <a:endParaRPr lang="en-US"/>
          </a:p>
        </p:txBody>
      </p:sp>
      <p:sp>
        <p:nvSpPr>
          <p:cNvPr id="6" name="Text 4"/>
          <p:cNvSpPr/>
          <p:nvPr/>
        </p:nvSpPr>
        <p:spPr>
          <a:xfrm>
            <a:off x="457200" y="145389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entity_id</a:t>
            </a:r>
            <a:endParaRPr lang="en-US" sz="1200" dirty="0"/>
          </a:p>
        </p:txBody>
      </p:sp>
      <p:sp>
        <p:nvSpPr>
          <p:cNvPr id="7" name="Text 5"/>
          <p:cNvSpPr/>
          <p:nvPr/>
        </p:nvSpPr>
        <p:spPr>
          <a:xfrm>
            <a:off x="457200" y="166420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Required</a:t>
            </a:r>
            <a:endParaRPr lang="en-US" sz="1000" dirty="0"/>
          </a:p>
        </p:txBody>
      </p:sp>
      <p:sp>
        <p:nvSpPr>
          <p:cNvPr id="8" name="Shape 6"/>
          <p:cNvSpPr/>
          <p:nvPr/>
        </p:nvSpPr>
        <p:spPr>
          <a:xfrm>
            <a:off x="365760" y="2011680"/>
            <a:ext cx="4937760" cy="475488"/>
          </a:xfrm>
          <a:prstGeom prst="rect">
            <a:avLst/>
          </a:prstGeom>
          <a:solidFill>
            <a:srgbClr val="028090"/>
          </a:solidFill>
          <a:ln/>
        </p:spPr>
        <p:txBody>
          <a:bodyPr/>
          <a:lstStyle/>
          <a:p>
            <a:endParaRPr lang="en-US"/>
          </a:p>
        </p:txBody>
      </p:sp>
      <p:sp>
        <p:nvSpPr>
          <p:cNvPr id="9" name="Text 7"/>
          <p:cNvSpPr/>
          <p:nvPr/>
        </p:nvSpPr>
        <p:spPr>
          <a:xfrm>
            <a:off x="457200" y="204825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span_start / span_end</a:t>
            </a:r>
            <a:endParaRPr lang="en-US" sz="1200" dirty="0"/>
          </a:p>
        </p:txBody>
      </p:sp>
      <p:sp>
        <p:nvSpPr>
          <p:cNvPr id="10" name="Text 8"/>
          <p:cNvSpPr/>
          <p:nvPr/>
        </p:nvSpPr>
        <p:spPr>
          <a:xfrm>
            <a:off x="457200" y="225856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Optional pair</a:t>
            </a:r>
            <a:endParaRPr lang="en-US" sz="1000" dirty="0"/>
          </a:p>
        </p:txBody>
      </p:sp>
      <p:sp>
        <p:nvSpPr>
          <p:cNvPr id="11" name="Shape 9"/>
          <p:cNvSpPr/>
          <p:nvPr/>
        </p:nvSpPr>
        <p:spPr>
          <a:xfrm>
            <a:off x="365760" y="2606040"/>
            <a:ext cx="4937760" cy="475488"/>
          </a:xfrm>
          <a:prstGeom prst="rect">
            <a:avLst/>
          </a:prstGeom>
          <a:solidFill>
            <a:srgbClr val="1C7293"/>
          </a:solidFill>
          <a:ln/>
        </p:spPr>
        <p:txBody>
          <a:bodyPr/>
          <a:lstStyle/>
          <a:p>
            <a:endParaRPr lang="en-US"/>
          </a:p>
        </p:txBody>
      </p:sp>
      <p:sp>
        <p:nvSpPr>
          <p:cNvPr id="12" name="Text 10"/>
          <p:cNvSpPr/>
          <p:nvPr/>
        </p:nvSpPr>
        <p:spPr>
          <a:xfrm>
            <a:off x="457200" y="264261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event_starts / event_ends</a:t>
            </a:r>
            <a:endParaRPr lang="en-US" sz="1200" dirty="0"/>
          </a:p>
        </p:txBody>
      </p:sp>
      <p:sp>
        <p:nvSpPr>
          <p:cNvPr id="13" name="Text 11"/>
          <p:cNvSpPr/>
          <p:nvPr/>
        </p:nvSpPr>
        <p:spPr>
          <a:xfrm>
            <a:off x="457200" y="285292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Optional pair (pipe-delimited)</a:t>
            </a:r>
            <a:endParaRPr lang="en-US" sz="1000" dirty="0"/>
          </a:p>
        </p:txBody>
      </p:sp>
      <p:sp>
        <p:nvSpPr>
          <p:cNvPr id="14" name="Shape 12"/>
          <p:cNvSpPr/>
          <p:nvPr/>
        </p:nvSpPr>
        <p:spPr>
          <a:xfrm>
            <a:off x="365760" y="3200400"/>
            <a:ext cx="4937760" cy="475488"/>
          </a:xfrm>
          <a:prstGeom prst="rect">
            <a:avLst/>
          </a:prstGeom>
          <a:solidFill>
            <a:srgbClr val="00A896"/>
          </a:solidFill>
          <a:ln/>
        </p:spPr>
        <p:txBody>
          <a:bodyPr/>
          <a:lstStyle/>
          <a:p>
            <a:endParaRPr lang="en-US"/>
          </a:p>
        </p:txBody>
      </p:sp>
      <p:sp>
        <p:nvSpPr>
          <p:cNvPr id="15" name="Text 13"/>
          <p:cNvSpPr/>
          <p:nvPr/>
        </p:nvSpPr>
        <p:spPr>
          <a:xfrm>
            <a:off x="457200" y="323697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occ_{identity}</a:t>
            </a:r>
            <a:endParaRPr lang="en-US" sz="1200" dirty="0"/>
          </a:p>
        </p:txBody>
      </p:sp>
      <p:sp>
        <p:nvSpPr>
          <p:cNvPr id="16" name="Text 14"/>
          <p:cNvSpPr/>
          <p:nvPr/>
        </p:nvSpPr>
        <p:spPr>
          <a:xfrm>
            <a:off x="457200" y="344728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One column per occurrence type</a:t>
            </a:r>
            <a:endParaRPr lang="en-US" sz="1000" dirty="0"/>
          </a:p>
        </p:txBody>
      </p:sp>
      <p:sp>
        <p:nvSpPr>
          <p:cNvPr id="17" name="Shape 15"/>
          <p:cNvSpPr/>
          <p:nvPr/>
        </p:nvSpPr>
        <p:spPr>
          <a:xfrm>
            <a:off x="5577840" y="1051560"/>
            <a:ext cx="3200400" cy="320040"/>
          </a:xfrm>
          <a:prstGeom prst="rect">
            <a:avLst/>
          </a:prstGeom>
          <a:solidFill>
            <a:srgbClr val="0D2B45"/>
          </a:solidFill>
          <a:ln/>
        </p:spPr>
        <p:txBody>
          <a:bodyPr/>
          <a:lstStyle/>
          <a:p>
            <a:endParaRPr lang="en-US"/>
          </a:p>
        </p:txBody>
      </p:sp>
      <p:sp>
        <p:nvSpPr>
          <p:cNvPr id="18" name="Text 16"/>
          <p:cNvSpPr/>
          <p:nvPr/>
        </p:nvSpPr>
        <p:spPr>
          <a:xfrm>
            <a:off x="5577840" y="1051560"/>
            <a:ext cx="32004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Example row</a:t>
            </a:r>
            <a:endParaRPr lang="en-US" sz="1200" dirty="0"/>
          </a:p>
        </p:txBody>
      </p:sp>
      <p:sp>
        <p:nvSpPr>
          <p:cNvPr id="19" name="Shape 17"/>
          <p:cNvSpPr/>
          <p:nvPr/>
        </p:nvSpPr>
        <p:spPr>
          <a:xfrm>
            <a:off x="5577840" y="1417320"/>
            <a:ext cx="3200400" cy="438912"/>
          </a:xfrm>
          <a:prstGeom prst="rect">
            <a:avLst/>
          </a:prstGeom>
          <a:solidFill>
            <a:srgbClr val="FFFFFF"/>
          </a:solidFill>
          <a:ln w="19050">
            <a:solidFill>
              <a:srgbClr val="E8EFF5"/>
            </a:solidFill>
            <a:prstDash val="solid"/>
          </a:ln>
        </p:spPr>
        <p:txBody>
          <a:bodyPr/>
          <a:lstStyle/>
          <a:p>
            <a:endParaRPr lang="en-US"/>
          </a:p>
        </p:txBody>
      </p:sp>
      <p:sp>
        <p:nvSpPr>
          <p:cNvPr id="20" name="Text 18"/>
          <p:cNvSpPr/>
          <p:nvPr/>
        </p:nvSpPr>
        <p:spPr>
          <a:xfrm>
            <a:off x="5623560" y="1453896"/>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entity_id</a:t>
            </a:r>
            <a:endParaRPr lang="en-US" sz="900" dirty="0"/>
          </a:p>
        </p:txBody>
      </p:sp>
      <p:sp>
        <p:nvSpPr>
          <p:cNvPr id="21" name="Text 19"/>
          <p:cNvSpPr/>
          <p:nvPr/>
        </p:nvSpPr>
        <p:spPr>
          <a:xfrm>
            <a:off x="7040880" y="1453896"/>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M001</a:t>
            </a:r>
            <a:endParaRPr lang="en-US" sz="900" dirty="0"/>
          </a:p>
        </p:txBody>
      </p:sp>
      <p:sp>
        <p:nvSpPr>
          <p:cNvPr id="22" name="Shape 20"/>
          <p:cNvSpPr/>
          <p:nvPr/>
        </p:nvSpPr>
        <p:spPr>
          <a:xfrm>
            <a:off x="5577840" y="1892808"/>
            <a:ext cx="3200400" cy="438912"/>
          </a:xfrm>
          <a:prstGeom prst="rect">
            <a:avLst/>
          </a:prstGeom>
          <a:solidFill>
            <a:srgbClr val="E8EFF5"/>
          </a:solidFill>
          <a:ln w="19050">
            <a:solidFill>
              <a:srgbClr val="E8EFF5"/>
            </a:solidFill>
            <a:prstDash val="solid"/>
          </a:ln>
        </p:spPr>
        <p:txBody>
          <a:bodyPr/>
          <a:lstStyle/>
          <a:p>
            <a:endParaRPr lang="en-US"/>
          </a:p>
        </p:txBody>
      </p:sp>
      <p:sp>
        <p:nvSpPr>
          <p:cNvPr id="23" name="Text 21"/>
          <p:cNvSpPr/>
          <p:nvPr/>
        </p:nvSpPr>
        <p:spPr>
          <a:xfrm>
            <a:off x="5623560" y="1929384"/>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span_start</a:t>
            </a:r>
            <a:endParaRPr lang="en-US" sz="900" dirty="0"/>
          </a:p>
        </p:txBody>
      </p:sp>
      <p:sp>
        <p:nvSpPr>
          <p:cNvPr id="24" name="Text 22"/>
          <p:cNvSpPr/>
          <p:nvPr/>
        </p:nvSpPr>
        <p:spPr>
          <a:xfrm>
            <a:off x="7040880" y="1929384"/>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2024-01-01</a:t>
            </a:r>
            <a:endParaRPr lang="en-US" sz="900" dirty="0"/>
          </a:p>
        </p:txBody>
      </p:sp>
      <p:sp>
        <p:nvSpPr>
          <p:cNvPr id="25" name="Shape 23"/>
          <p:cNvSpPr/>
          <p:nvPr/>
        </p:nvSpPr>
        <p:spPr>
          <a:xfrm>
            <a:off x="5577840" y="2368296"/>
            <a:ext cx="3200400" cy="438912"/>
          </a:xfrm>
          <a:prstGeom prst="rect">
            <a:avLst/>
          </a:prstGeom>
          <a:solidFill>
            <a:srgbClr val="FFFFFF"/>
          </a:solidFill>
          <a:ln w="19050">
            <a:solidFill>
              <a:srgbClr val="E8EFF5"/>
            </a:solidFill>
            <a:prstDash val="solid"/>
          </a:ln>
        </p:spPr>
        <p:txBody>
          <a:bodyPr/>
          <a:lstStyle/>
          <a:p>
            <a:endParaRPr lang="en-US"/>
          </a:p>
        </p:txBody>
      </p:sp>
      <p:sp>
        <p:nvSpPr>
          <p:cNvPr id="26" name="Text 24"/>
          <p:cNvSpPr/>
          <p:nvPr/>
        </p:nvSpPr>
        <p:spPr>
          <a:xfrm>
            <a:off x="5623560" y="2404872"/>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span_end</a:t>
            </a:r>
            <a:endParaRPr lang="en-US" sz="900" dirty="0"/>
          </a:p>
        </p:txBody>
      </p:sp>
      <p:sp>
        <p:nvSpPr>
          <p:cNvPr id="27" name="Text 25"/>
          <p:cNvSpPr/>
          <p:nvPr/>
        </p:nvSpPr>
        <p:spPr>
          <a:xfrm>
            <a:off x="7040880" y="2404872"/>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2024-12-31</a:t>
            </a:r>
            <a:endParaRPr lang="en-US" sz="900" dirty="0"/>
          </a:p>
        </p:txBody>
      </p:sp>
      <p:sp>
        <p:nvSpPr>
          <p:cNvPr id="28" name="Shape 26"/>
          <p:cNvSpPr/>
          <p:nvPr/>
        </p:nvSpPr>
        <p:spPr>
          <a:xfrm>
            <a:off x="5577840" y="2843784"/>
            <a:ext cx="3200400" cy="438912"/>
          </a:xfrm>
          <a:prstGeom prst="rect">
            <a:avLst/>
          </a:prstGeom>
          <a:solidFill>
            <a:srgbClr val="E8EFF5"/>
          </a:solidFill>
          <a:ln w="19050">
            <a:solidFill>
              <a:srgbClr val="E8EFF5"/>
            </a:solidFill>
            <a:prstDash val="solid"/>
          </a:ln>
        </p:spPr>
        <p:txBody>
          <a:bodyPr/>
          <a:lstStyle/>
          <a:p>
            <a:endParaRPr lang="en-US"/>
          </a:p>
        </p:txBody>
      </p:sp>
      <p:sp>
        <p:nvSpPr>
          <p:cNvPr id="29" name="Text 27"/>
          <p:cNvSpPr/>
          <p:nvPr/>
        </p:nvSpPr>
        <p:spPr>
          <a:xfrm>
            <a:off x="5623560" y="2880360"/>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event_starts</a:t>
            </a:r>
            <a:endParaRPr lang="en-US" sz="900" dirty="0"/>
          </a:p>
        </p:txBody>
      </p:sp>
      <p:sp>
        <p:nvSpPr>
          <p:cNvPr id="30" name="Text 28"/>
          <p:cNvSpPr/>
          <p:nvPr/>
        </p:nvSpPr>
        <p:spPr>
          <a:xfrm>
            <a:off x="7040880" y="2880360"/>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2024-03-01 | 2024-07-01</a:t>
            </a:r>
            <a:endParaRPr lang="en-US" sz="900" dirty="0"/>
          </a:p>
        </p:txBody>
      </p:sp>
      <p:sp>
        <p:nvSpPr>
          <p:cNvPr id="31" name="Shape 29"/>
          <p:cNvSpPr/>
          <p:nvPr/>
        </p:nvSpPr>
        <p:spPr>
          <a:xfrm>
            <a:off x="5577840" y="3319272"/>
            <a:ext cx="3200400" cy="438912"/>
          </a:xfrm>
          <a:prstGeom prst="rect">
            <a:avLst/>
          </a:prstGeom>
          <a:solidFill>
            <a:srgbClr val="FFFFFF"/>
          </a:solidFill>
          <a:ln w="19050">
            <a:solidFill>
              <a:srgbClr val="E8EFF5"/>
            </a:solidFill>
            <a:prstDash val="solid"/>
          </a:ln>
        </p:spPr>
        <p:txBody>
          <a:bodyPr/>
          <a:lstStyle/>
          <a:p>
            <a:endParaRPr lang="en-US"/>
          </a:p>
        </p:txBody>
      </p:sp>
      <p:sp>
        <p:nvSpPr>
          <p:cNvPr id="32" name="Text 30"/>
          <p:cNvSpPr/>
          <p:nvPr/>
        </p:nvSpPr>
        <p:spPr>
          <a:xfrm>
            <a:off x="5623560" y="3355848"/>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event_ends</a:t>
            </a:r>
            <a:endParaRPr lang="en-US" sz="900" dirty="0"/>
          </a:p>
        </p:txBody>
      </p:sp>
      <p:sp>
        <p:nvSpPr>
          <p:cNvPr id="33" name="Text 31"/>
          <p:cNvSpPr/>
          <p:nvPr/>
        </p:nvSpPr>
        <p:spPr>
          <a:xfrm>
            <a:off x="7040880" y="3355848"/>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2024-05-31 | 2024-10-01</a:t>
            </a:r>
            <a:endParaRPr lang="en-US" sz="900" dirty="0"/>
          </a:p>
        </p:txBody>
      </p:sp>
      <p:sp>
        <p:nvSpPr>
          <p:cNvPr id="34" name="Shape 32"/>
          <p:cNvSpPr/>
          <p:nvPr/>
        </p:nvSpPr>
        <p:spPr>
          <a:xfrm>
            <a:off x="5577840" y="3794760"/>
            <a:ext cx="3200400" cy="438912"/>
          </a:xfrm>
          <a:prstGeom prst="rect">
            <a:avLst/>
          </a:prstGeom>
          <a:solidFill>
            <a:srgbClr val="E8EFF5"/>
          </a:solidFill>
          <a:ln w="19050">
            <a:solidFill>
              <a:srgbClr val="E8EFF5"/>
            </a:solidFill>
            <a:prstDash val="solid"/>
          </a:ln>
        </p:spPr>
        <p:txBody>
          <a:bodyPr/>
          <a:lstStyle/>
          <a:p>
            <a:endParaRPr lang="en-US"/>
          </a:p>
        </p:txBody>
      </p:sp>
      <p:sp>
        <p:nvSpPr>
          <p:cNvPr id="35" name="Text 33"/>
          <p:cNvSpPr/>
          <p:nvPr/>
        </p:nvSpPr>
        <p:spPr>
          <a:xfrm>
            <a:off x="5623560" y="3831336"/>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active_days</a:t>
            </a:r>
            <a:endParaRPr lang="en-US" sz="900" dirty="0"/>
          </a:p>
        </p:txBody>
      </p:sp>
      <p:sp>
        <p:nvSpPr>
          <p:cNvPr id="36" name="Text 34"/>
          <p:cNvSpPr/>
          <p:nvPr/>
        </p:nvSpPr>
        <p:spPr>
          <a:xfrm>
            <a:off x="7040880" y="3831336"/>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214</a:t>
            </a:r>
            <a:endParaRPr lang="en-US" sz="900" dirty="0"/>
          </a:p>
        </p:txBody>
      </p:sp>
      <p:sp>
        <p:nvSpPr>
          <p:cNvPr id="37" name="Shape 35"/>
          <p:cNvSpPr/>
          <p:nvPr/>
        </p:nvSpPr>
        <p:spPr>
          <a:xfrm>
            <a:off x="5577840" y="4270248"/>
            <a:ext cx="3200400" cy="438912"/>
          </a:xfrm>
          <a:prstGeom prst="rect">
            <a:avLst/>
          </a:prstGeom>
          <a:solidFill>
            <a:srgbClr val="FFFFFF"/>
          </a:solidFill>
          <a:ln w="19050">
            <a:solidFill>
              <a:srgbClr val="E8EFF5"/>
            </a:solidFill>
            <a:prstDash val="solid"/>
          </a:ln>
        </p:spPr>
        <p:txBody>
          <a:bodyPr/>
          <a:lstStyle/>
          <a:p>
            <a:endParaRPr lang="en-US"/>
          </a:p>
        </p:txBody>
      </p:sp>
      <p:sp>
        <p:nvSpPr>
          <p:cNvPr id="38" name="Text 36"/>
          <p:cNvSpPr/>
          <p:nvPr/>
        </p:nvSpPr>
        <p:spPr>
          <a:xfrm>
            <a:off x="5623560" y="4306824"/>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occ_hepb</a:t>
            </a:r>
            <a:endParaRPr lang="en-US" sz="900" dirty="0"/>
          </a:p>
        </p:txBody>
      </p:sp>
      <p:sp>
        <p:nvSpPr>
          <p:cNvPr id="39" name="Text 37"/>
          <p:cNvSpPr/>
          <p:nvPr/>
        </p:nvSpPr>
        <p:spPr>
          <a:xfrm>
            <a:off x="7040880" y="4306824"/>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2024-04-15</a:t>
            </a:r>
            <a:endParaRPr lang="en-US" sz="900" dirty="0"/>
          </a:p>
        </p:txBody>
      </p:sp>
      <p:sp>
        <p:nvSpPr>
          <p:cNvPr id="40" name="Text 38"/>
          <p:cNvSpPr/>
          <p:nvPr/>
        </p:nvSpPr>
        <p:spPr>
          <a:xfrm>
            <a:off x="365760" y="4663440"/>
            <a:ext cx="8412480" cy="320040"/>
          </a:xfrm>
          <a:prstGeom prst="rect">
            <a:avLst/>
          </a:prstGeom>
          <a:noFill/>
          <a:ln/>
        </p:spPr>
        <p:txBody>
          <a:bodyPr wrap="square" rtlCol="0" anchor="ctr"/>
          <a:lstStyle/>
          <a:p>
            <a:pPr marL="0" indent="0" algn="ctr">
              <a:buNone/>
            </a:pPr>
            <a:r>
              <a:rPr lang="en-US" sz="1200" i="1" dirty="0">
                <a:solidFill>
                  <a:srgbClr val="028090"/>
                </a:solidFill>
                <a:latin typeface="Calibri" pitchFamily="34" charset="0"/>
                <a:ea typeface="Calibri" pitchFamily="34" charset="-122"/>
                <a:cs typeface="Calibri" pitchFamily="34" charset="-120"/>
              </a:rPr>
              <a:t>combine() merges intermediates for joint visualization →</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6">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a:solidFill>
                  <a:srgbClr val="0D2B45"/>
                </a:solidFill>
                <a:latin typeface="Calibri" pitchFamily="34" charset="0"/>
                <a:ea typeface="Calibri" pitchFamily="34" charset="-122"/>
                <a:cs typeface="Calibri" pitchFamily="34" charset="-120"/>
              </a:rPr>
              <a:t>eventi </a:t>
            </a:r>
            <a:r>
              <a:rPr lang="en-US" sz="3200" b="1" dirty="0">
                <a:solidFill>
                  <a:srgbClr val="0D2B45"/>
                </a:solidFill>
                <a:latin typeface="Calibri" pitchFamily="34" charset="0"/>
                <a:ea typeface="Calibri" pitchFamily="34" charset="-122"/>
                <a:cs typeface="Calibri" pitchFamily="34" charset="-120"/>
              </a:rPr>
              <a:t>as a Framework, Not Just a Package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Text 2"/>
          <p:cNvSpPr/>
          <p:nvPr/>
        </p:nvSpPr>
        <p:spPr>
          <a:xfrm>
            <a:off x="365760" y="1005840"/>
            <a:ext cx="8412480" cy="365760"/>
          </a:xfrm>
          <a:prstGeom prst="rect">
            <a:avLst/>
          </a:prstGeom>
          <a:noFill/>
          <a:ln/>
        </p:spPr>
        <p:txBody>
          <a:bodyPr wrap="square" rtlCol="0" anchor="ctr"/>
          <a:lstStyle/>
          <a:p>
            <a:pPr marL="0" indent="0">
              <a:buNone/>
            </a:pPr>
            <a:r>
              <a:rPr lang="en-US" sz="1400" i="1">
                <a:solidFill>
                  <a:srgbClr val="8A9BB0"/>
                </a:solidFill>
                <a:latin typeface="Calibri" pitchFamily="34" charset="0"/>
                <a:ea typeface="Calibri" pitchFamily="34" charset="-122"/>
                <a:cs typeface="Calibri" pitchFamily="34" charset="-120"/>
              </a:rPr>
              <a:t>eventi </a:t>
            </a:r>
            <a:r>
              <a:rPr lang="en-US" sz="1400" i="1" dirty="0">
                <a:solidFill>
                  <a:srgbClr val="8A9BB0"/>
                </a:solidFill>
                <a:latin typeface="Calibri" pitchFamily="34" charset="0"/>
                <a:ea typeface="Calibri" pitchFamily="34" charset="-122"/>
                <a:cs typeface="Calibri" pitchFamily="34" charset="-120"/>
              </a:rPr>
              <a:t>organizes and connects existing analytical tools rather than duplicating them.</a:t>
            </a:r>
            <a:endParaRPr lang="en-US" sz="1400" dirty="0"/>
          </a:p>
        </p:txBody>
      </p:sp>
      <p:sp>
        <p:nvSpPr>
          <p:cNvPr id="5" name="Shape 3"/>
          <p:cNvSpPr/>
          <p:nvPr/>
        </p:nvSpPr>
        <p:spPr>
          <a:xfrm>
            <a:off x="365760" y="1463040"/>
            <a:ext cx="1645920" cy="475488"/>
          </a:xfrm>
          <a:prstGeom prst="rect">
            <a:avLst/>
          </a:prstGeom>
          <a:solidFill>
            <a:srgbClr val="0D2B45"/>
          </a:solidFill>
          <a:ln/>
        </p:spPr>
        <p:txBody>
          <a:bodyPr/>
          <a:lstStyle/>
          <a:p>
            <a:endParaRPr lang="en-US"/>
          </a:p>
        </p:txBody>
      </p:sp>
      <p:sp>
        <p:nvSpPr>
          <p:cNvPr id="6" name="Text 4"/>
          <p:cNvSpPr/>
          <p:nvPr/>
        </p:nvSpPr>
        <p:spPr>
          <a:xfrm>
            <a:off x="365760" y="146304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lifelines</a:t>
            </a:r>
            <a:endParaRPr lang="en-US" sz="1300" dirty="0"/>
          </a:p>
        </p:txBody>
      </p:sp>
      <p:sp>
        <p:nvSpPr>
          <p:cNvPr id="7" name="Shape 5"/>
          <p:cNvSpPr/>
          <p:nvPr/>
        </p:nvSpPr>
        <p:spPr>
          <a:xfrm>
            <a:off x="2057400" y="1700784"/>
            <a:ext cx="365760" cy="0"/>
          </a:xfrm>
          <a:prstGeom prst="line">
            <a:avLst/>
          </a:prstGeom>
          <a:noFill/>
          <a:ln w="25400">
            <a:solidFill>
              <a:srgbClr val="028090"/>
            </a:solidFill>
            <a:prstDash val="solid"/>
          </a:ln>
        </p:spPr>
        <p:txBody>
          <a:bodyPr/>
          <a:lstStyle/>
          <a:p>
            <a:endParaRPr lang="en-US"/>
          </a:p>
        </p:txBody>
      </p:sp>
      <p:sp>
        <p:nvSpPr>
          <p:cNvPr id="8" name="Text 6"/>
          <p:cNvSpPr/>
          <p:nvPr/>
        </p:nvSpPr>
        <p:spPr>
          <a:xfrm>
            <a:off x="2468880" y="148132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Survival analysis outputs map onto span-event structure</a:t>
            </a:r>
            <a:endParaRPr lang="en-US" sz="1200" dirty="0"/>
          </a:p>
        </p:txBody>
      </p:sp>
      <p:sp>
        <p:nvSpPr>
          <p:cNvPr id="9" name="Text 7"/>
          <p:cNvSpPr/>
          <p:nvPr/>
        </p:nvSpPr>
        <p:spPr>
          <a:xfrm>
            <a:off x="2468880" y="170992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PipeDelimitedIntermediateEvents</a:t>
            </a:r>
            <a:endParaRPr lang="en-US" sz="1000" dirty="0"/>
          </a:p>
        </p:txBody>
      </p:sp>
      <p:sp>
        <p:nvSpPr>
          <p:cNvPr id="10" name="Shape 8"/>
          <p:cNvSpPr/>
          <p:nvPr/>
        </p:nvSpPr>
        <p:spPr>
          <a:xfrm>
            <a:off x="365760" y="2240280"/>
            <a:ext cx="1645920" cy="475488"/>
          </a:xfrm>
          <a:prstGeom prst="rect">
            <a:avLst/>
          </a:prstGeom>
          <a:solidFill>
            <a:srgbClr val="0D2B45"/>
          </a:solidFill>
          <a:ln/>
        </p:spPr>
        <p:txBody>
          <a:bodyPr/>
          <a:lstStyle/>
          <a:p>
            <a:endParaRPr lang="en-US"/>
          </a:p>
        </p:txBody>
      </p:sp>
      <p:sp>
        <p:nvSpPr>
          <p:cNvPr id="11" name="Text 9"/>
          <p:cNvSpPr/>
          <p:nvPr/>
        </p:nvSpPr>
        <p:spPr>
          <a:xfrm>
            <a:off x="365760" y="224028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tick</a:t>
            </a:r>
            <a:endParaRPr lang="en-US" sz="1300" dirty="0"/>
          </a:p>
        </p:txBody>
      </p:sp>
      <p:sp>
        <p:nvSpPr>
          <p:cNvPr id="12" name="Shape 10"/>
          <p:cNvSpPr/>
          <p:nvPr/>
        </p:nvSpPr>
        <p:spPr>
          <a:xfrm>
            <a:off x="2057400" y="2478024"/>
            <a:ext cx="365760" cy="0"/>
          </a:xfrm>
          <a:prstGeom prst="line">
            <a:avLst/>
          </a:prstGeom>
          <a:noFill/>
          <a:ln w="25400">
            <a:solidFill>
              <a:srgbClr val="028090"/>
            </a:solidFill>
            <a:prstDash val="solid"/>
          </a:ln>
        </p:spPr>
        <p:txBody>
          <a:bodyPr/>
          <a:lstStyle/>
          <a:p>
            <a:endParaRPr lang="en-US"/>
          </a:p>
        </p:txBody>
      </p:sp>
      <p:sp>
        <p:nvSpPr>
          <p:cNvPr id="13" name="Text 11"/>
          <p:cNvSpPr/>
          <p:nvPr/>
        </p:nvSpPr>
        <p:spPr>
          <a:xfrm>
            <a:off x="2468880" y="225856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Hawkes process models fit on occurrence inter-event times</a:t>
            </a:r>
            <a:endParaRPr lang="en-US" sz="1200" dirty="0"/>
          </a:p>
        </p:txBody>
      </p:sp>
      <p:sp>
        <p:nvSpPr>
          <p:cNvPr id="14" name="Text 12"/>
          <p:cNvSpPr/>
          <p:nvPr/>
        </p:nvSpPr>
        <p:spPr>
          <a:xfrm>
            <a:off x="2468880" y="248716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PipeDelimitedIntermediateOccurrences</a:t>
            </a:r>
            <a:endParaRPr lang="en-US" sz="1000" dirty="0"/>
          </a:p>
        </p:txBody>
      </p:sp>
      <p:sp>
        <p:nvSpPr>
          <p:cNvPr id="15" name="Shape 13"/>
          <p:cNvSpPr/>
          <p:nvPr/>
        </p:nvSpPr>
        <p:spPr>
          <a:xfrm>
            <a:off x="365760" y="3017520"/>
            <a:ext cx="1645920" cy="475488"/>
          </a:xfrm>
          <a:prstGeom prst="rect">
            <a:avLst/>
          </a:prstGeom>
          <a:solidFill>
            <a:srgbClr val="0D2B45"/>
          </a:solidFill>
          <a:ln/>
        </p:spPr>
        <p:txBody>
          <a:bodyPr/>
          <a:lstStyle/>
          <a:p>
            <a:endParaRPr lang="en-US"/>
          </a:p>
        </p:txBody>
      </p:sp>
      <p:sp>
        <p:nvSpPr>
          <p:cNvPr id="16" name="Text 14"/>
          <p:cNvSpPr/>
          <p:nvPr/>
        </p:nvSpPr>
        <p:spPr>
          <a:xfrm>
            <a:off x="365760" y="301752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scikit-learn</a:t>
            </a:r>
            <a:endParaRPr lang="en-US" sz="1300" dirty="0"/>
          </a:p>
        </p:txBody>
      </p:sp>
      <p:sp>
        <p:nvSpPr>
          <p:cNvPr id="17" name="Shape 15"/>
          <p:cNvSpPr/>
          <p:nvPr/>
        </p:nvSpPr>
        <p:spPr>
          <a:xfrm>
            <a:off x="2057400" y="3255264"/>
            <a:ext cx="365760" cy="0"/>
          </a:xfrm>
          <a:prstGeom prst="line">
            <a:avLst/>
          </a:prstGeom>
          <a:noFill/>
          <a:ln w="25400">
            <a:solidFill>
              <a:srgbClr val="028090"/>
            </a:solidFill>
            <a:prstDash val="solid"/>
          </a:ln>
        </p:spPr>
        <p:txBody>
          <a:bodyPr/>
          <a:lstStyle/>
          <a:p>
            <a:endParaRPr lang="en-US"/>
          </a:p>
        </p:txBody>
      </p:sp>
      <p:sp>
        <p:nvSpPr>
          <p:cNvPr id="18" name="Text 16"/>
          <p:cNvSpPr/>
          <p:nvPr/>
        </p:nvSpPr>
        <p:spPr>
          <a:xfrm>
            <a:off x="2468880" y="303580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Feature matrices built from intermediate columns</a:t>
            </a:r>
            <a:endParaRPr lang="en-US" sz="1200" dirty="0"/>
          </a:p>
        </p:txBody>
      </p:sp>
      <p:sp>
        <p:nvSpPr>
          <p:cNvPr id="19" name="Text 17"/>
          <p:cNvSpPr/>
          <p:nvPr/>
        </p:nvSpPr>
        <p:spPr>
          <a:xfrm>
            <a:off x="2468880" y="326440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Any ML pipeline</a:t>
            </a:r>
            <a:endParaRPr lang="en-US" sz="1000" dirty="0"/>
          </a:p>
        </p:txBody>
      </p:sp>
      <p:sp>
        <p:nvSpPr>
          <p:cNvPr id="20" name="Shape 18"/>
          <p:cNvSpPr/>
          <p:nvPr/>
        </p:nvSpPr>
        <p:spPr>
          <a:xfrm>
            <a:off x="365760" y="3794760"/>
            <a:ext cx="1645920" cy="475488"/>
          </a:xfrm>
          <a:prstGeom prst="rect">
            <a:avLst/>
          </a:prstGeom>
          <a:solidFill>
            <a:srgbClr val="0D2B45"/>
          </a:solidFill>
          <a:ln/>
        </p:spPr>
        <p:txBody>
          <a:bodyPr/>
          <a:lstStyle/>
          <a:p>
            <a:endParaRPr lang="en-US"/>
          </a:p>
        </p:txBody>
      </p:sp>
      <p:sp>
        <p:nvSpPr>
          <p:cNvPr id="21" name="Text 19"/>
          <p:cNvSpPr/>
          <p:nvPr/>
        </p:nvSpPr>
        <p:spPr>
          <a:xfrm>
            <a:off x="365760" y="379476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statsmodels</a:t>
            </a:r>
            <a:endParaRPr lang="en-US" sz="1300" dirty="0"/>
          </a:p>
        </p:txBody>
      </p:sp>
      <p:sp>
        <p:nvSpPr>
          <p:cNvPr id="22" name="Shape 20"/>
          <p:cNvSpPr/>
          <p:nvPr/>
        </p:nvSpPr>
        <p:spPr>
          <a:xfrm>
            <a:off x="2057400" y="4032504"/>
            <a:ext cx="365760" cy="0"/>
          </a:xfrm>
          <a:prstGeom prst="line">
            <a:avLst/>
          </a:prstGeom>
          <a:noFill/>
          <a:ln w="25400">
            <a:solidFill>
              <a:srgbClr val="028090"/>
            </a:solidFill>
            <a:prstDash val="solid"/>
          </a:ln>
        </p:spPr>
        <p:txBody>
          <a:bodyPr/>
          <a:lstStyle/>
          <a:p>
            <a:endParaRPr lang="en-US"/>
          </a:p>
        </p:txBody>
      </p:sp>
      <p:sp>
        <p:nvSpPr>
          <p:cNvPr id="23" name="Text 21"/>
          <p:cNvSpPr/>
          <p:nvPr/>
        </p:nvSpPr>
        <p:spPr>
          <a:xfrm>
            <a:off x="2468880" y="381304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Regression on active_days, gap statistics, density</a:t>
            </a:r>
            <a:endParaRPr lang="en-US" sz="1200" dirty="0"/>
          </a:p>
        </p:txBody>
      </p:sp>
      <p:sp>
        <p:nvSpPr>
          <p:cNvPr id="24" name="Text 22"/>
          <p:cNvSpPr/>
          <p:nvPr/>
        </p:nvSpPr>
        <p:spPr>
          <a:xfrm>
            <a:off x="2468880" y="404164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Any analyzer output</a:t>
            </a:r>
            <a:endParaRPr lang="en-US" sz="1000" dirty="0"/>
          </a:p>
        </p:txBody>
      </p:sp>
      <p:sp>
        <p:nvSpPr>
          <p:cNvPr id="25" name="Shape 23"/>
          <p:cNvSpPr/>
          <p:nvPr/>
        </p:nvSpPr>
        <p:spPr>
          <a:xfrm>
            <a:off x="365760" y="4572000"/>
            <a:ext cx="8412480" cy="384048"/>
          </a:xfrm>
          <a:prstGeom prst="rect">
            <a:avLst/>
          </a:prstGeom>
          <a:solidFill>
            <a:srgbClr val="028090"/>
          </a:solidFill>
          <a:ln/>
        </p:spPr>
        <p:txBody>
          <a:bodyPr/>
          <a:lstStyle/>
          <a:p>
            <a:endParaRPr lang="en-US"/>
          </a:p>
        </p:txBody>
      </p:sp>
      <p:sp>
        <p:nvSpPr>
          <p:cNvPr id="26" name="Text 24"/>
          <p:cNvSpPr/>
          <p:nvPr/>
        </p:nvSpPr>
        <p:spPr>
          <a:xfrm>
            <a:off x="457200" y="4572000"/>
            <a:ext cx="8229600" cy="384048"/>
          </a:xfrm>
          <a:prstGeom prst="rect">
            <a:avLst/>
          </a:prstGeom>
          <a:noFill/>
          <a:ln/>
        </p:spPr>
        <p:txBody>
          <a:bodyPr wrap="square" lIns="0" tIns="0" rIns="0" bIns="0"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Any analyzer producing a PipeDelimitedIntermediate-compliant DataFrame participates in </a:t>
            </a:r>
            <a:r>
              <a:rPr lang="en-US" sz="1200" i="1">
                <a:solidFill>
                  <a:srgbClr val="FFFFFF"/>
                </a:solidFill>
                <a:latin typeface="Calibri" pitchFamily="34" charset="0"/>
                <a:ea typeface="Calibri" pitchFamily="34" charset="-122"/>
                <a:cs typeface="Calibri" pitchFamily="34" charset="-120"/>
              </a:rPr>
              <a:t>the eventi </a:t>
            </a:r>
            <a:r>
              <a:rPr lang="en-US" sz="1200" i="1" dirty="0">
                <a:solidFill>
                  <a:srgbClr val="FFFFFF"/>
                </a:solidFill>
                <a:latin typeface="Calibri" pitchFamily="34" charset="0"/>
                <a:ea typeface="Calibri" pitchFamily="34" charset="-122"/>
                <a:cs typeface="Calibri" pitchFamily="34" charset="-120"/>
              </a:rPr>
              <a:t>pipeline.</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7">
    <p:bg>
      <p:bgPr>
        <a:solidFill>
          <a:srgbClr val="0D2B45"/>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Structured APIs and LLMs are Complementary</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05840"/>
            <a:ext cx="3840480" cy="3474720"/>
          </a:xfrm>
          <a:prstGeom prst="rect">
            <a:avLst/>
          </a:prstGeom>
          <a:solidFill>
            <a:srgbClr val="1A1A2E"/>
          </a:solidFill>
          <a:ln w="19050">
            <a:solidFill>
              <a:srgbClr val="8A9BB0"/>
            </a:solidFill>
            <a:prstDash val="solid"/>
          </a:ln>
        </p:spPr>
        <p:txBody>
          <a:bodyPr/>
          <a:lstStyle/>
          <a:p>
            <a:endParaRPr lang="en-US"/>
          </a:p>
        </p:txBody>
      </p:sp>
      <p:sp>
        <p:nvSpPr>
          <p:cNvPr id="5" name="Text 3"/>
          <p:cNvSpPr/>
          <p:nvPr/>
        </p:nvSpPr>
        <p:spPr>
          <a:xfrm>
            <a:off x="365760" y="1005840"/>
            <a:ext cx="3840480" cy="411480"/>
          </a:xfrm>
          <a:prstGeom prst="rect">
            <a:avLst/>
          </a:prstGeom>
          <a:noFill/>
          <a:ln/>
        </p:spPr>
        <p:txBody>
          <a:bodyPr wrap="square" lIns="0" tIns="0" rIns="0" bIns="0" rtlCol="0" anchor="ctr"/>
          <a:lstStyle/>
          <a:p>
            <a:pPr marL="0" indent="0" algn="ctr">
              <a:buNone/>
            </a:pPr>
            <a:r>
              <a:rPr lang="en-US" sz="1400" b="1">
                <a:solidFill>
                  <a:srgbClr val="8A9BB0"/>
                </a:solidFill>
                <a:latin typeface="Calibri" pitchFamily="34" charset="0"/>
                <a:ea typeface="Calibri" pitchFamily="34" charset="-122"/>
                <a:cs typeface="Calibri" pitchFamily="34" charset="-120"/>
              </a:rPr>
              <a:t>Without eventi</a:t>
            </a:r>
            <a:endParaRPr lang="en-US" sz="1400" dirty="0"/>
          </a:p>
        </p:txBody>
      </p:sp>
      <p:sp>
        <p:nvSpPr>
          <p:cNvPr id="6" name="Text 4"/>
          <p:cNvSpPr/>
          <p:nvPr/>
        </p:nvSpPr>
        <p:spPr>
          <a:xfrm>
            <a:off x="502920" y="1508760"/>
            <a:ext cx="3566160" cy="2560320"/>
          </a:xfrm>
          <a:prstGeom prst="rect">
            <a:avLst/>
          </a:prstGeom>
          <a:noFill/>
          <a:ln/>
        </p:spPr>
        <p:txBody>
          <a:bodyPr wrap="square" lIns="0" tIns="0" rIns="0" bIns="0" rtlCol="0" anchor="t"/>
          <a:lstStyle/>
          <a:p>
            <a:pPr marL="0" indent="0" algn="l">
              <a:buNone/>
            </a:pPr>
            <a:r>
              <a:rPr lang="en-US" sz="1000" dirty="0">
                <a:solidFill>
                  <a:srgbClr val="8A9BB0"/>
                </a:solidFill>
                <a:latin typeface="Consolas" pitchFamily="34" charset="0"/>
                <a:ea typeface="Consolas" pitchFamily="34" charset="-122"/>
                <a:cs typeface="Consolas" pitchFamily="34" charset="-120"/>
              </a:rPr>
              <a:t>df['cov'] = (df['end'] - df['start']).dt.days
mask = df['cov'] &gt; 0
df2 = df[mask].groupby('id')...
# LLM must reverse-engineer intent
# from 200 lines of mutations</a:t>
            </a:r>
            <a:endParaRPr lang="en-US" sz="1000" dirty="0"/>
          </a:p>
        </p:txBody>
      </p:sp>
      <p:sp>
        <p:nvSpPr>
          <p:cNvPr id="7" name="Text 5"/>
          <p:cNvSpPr/>
          <p:nvPr/>
        </p:nvSpPr>
        <p:spPr>
          <a:xfrm>
            <a:off x="365760" y="4251960"/>
            <a:ext cx="3840480" cy="320040"/>
          </a:xfrm>
          <a:prstGeom prst="rect">
            <a:avLst/>
          </a:prstGeom>
          <a:noFill/>
          <a:ln/>
        </p:spPr>
        <p:txBody>
          <a:bodyPr wrap="square" lIns="0" tIns="0" rIns="0" bIns="0" rtlCol="0" anchor="ctr"/>
          <a:lstStyle/>
          <a:p>
            <a:pPr marL="0" indent="0" algn="ctr">
              <a:buNone/>
            </a:pPr>
            <a:r>
              <a:rPr lang="en-US" sz="1200" b="1" dirty="0">
                <a:solidFill>
                  <a:srgbClr val="FF6B6B"/>
                </a:solidFill>
                <a:latin typeface="Calibri" pitchFamily="34" charset="0"/>
                <a:ea typeface="Calibri" pitchFamily="34" charset="-122"/>
                <a:cs typeface="Calibri" pitchFamily="34" charset="-120"/>
              </a:rPr>
              <a:t>❌  Hard to reason about</a:t>
            </a:r>
            <a:endParaRPr lang="en-US" sz="1200" dirty="0"/>
          </a:p>
        </p:txBody>
      </p:sp>
      <p:sp>
        <p:nvSpPr>
          <p:cNvPr id="8" name="Shape 6"/>
          <p:cNvSpPr/>
          <p:nvPr/>
        </p:nvSpPr>
        <p:spPr>
          <a:xfrm>
            <a:off x="4343400" y="2651760"/>
            <a:ext cx="548640" cy="0"/>
          </a:xfrm>
          <a:prstGeom prst="line">
            <a:avLst/>
          </a:prstGeom>
          <a:noFill/>
          <a:ln w="25400">
            <a:solidFill>
              <a:srgbClr val="028090"/>
            </a:solidFill>
            <a:prstDash val="solid"/>
          </a:ln>
        </p:spPr>
        <p:txBody>
          <a:bodyPr/>
          <a:lstStyle/>
          <a:p>
            <a:endParaRPr lang="en-US"/>
          </a:p>
        </p:txBody>
      </p:sp>
      <p:sp>
        <p:nvSpPr>
          <p:cNvPr id="9" name="Shape 7"/>
          <p:cNvSpPr/>
          <p:nvPr/>
        </p:nvSpPr>
        <p:spPr>
          <a:xfrm>
            <a:off x="4983480" y="1005840"/>
            <a:ext cx="3840480" cy="3474720"/>
          </a:xfrm>
          <a:prstGeom prst="rect">
            <a:avLst/>
          </a:prstGeom>
          <a:solidFill>
            <a:srgbClr val="0D3040"/>
          </a:solidFill>
          <a:ln w="19050">
            <a:solidFill>
              <a:srgbClr val="028090"/>
            </a:solidFill>
            <a:prstDash val="solid"/>
          </a:ln>
        </p:spPr>
        <p:txBody>
          <a:bodyPr/>
          <a:lstStyle/>
          <a:p>
            <a:endParaRPr lang="en-US"/>
          </a:p>
        </p:txBody>
      </p:sp>
      <p:sp>
        <p:nvSpPr>
          <p:cNvPr id="10" name="Text 8"/>
          <p:cNvSpPr/>
          <p:nvPr/>
        </p:nvSpPr>
        <p:spPr>
          <a:xfrm>
            <a:off x="4983480" y="1005840"/>
            <a:ext cx="3840480" cy="411480"/>
          </a:xfrm>
          <a:prstGeom prst="rect">
            <a:avLst/>
          </a:prstGeom>
          <a:noFill/>
          <a:ln/>
        </p:spPr>
        <p:txBody>
          <a:bodyPr wrap="square" lIns="0" tIns="0" rIns="0" bIns="0" rtlCol="0" anchor="ctr"/>
          <a:lstStyle/>
          <a:p>
            <a:pPr marL="0" indent="0" algn="ctr">
              <a:buNone/>
            </a:pPr>
            <a:r>
              <a:rPr lang="en-US" sz="1400" b="1">
                <a:solidFill>
                  <a:srgbClr val="02C39A"/>
                </a:solidFill>
                <a:latin typeface="Calibri" pitchFamily="34" charset="0"/>
                <a:ea typeface="Calibri" pitchFamily="34" charset="-122"/>
                <a:cs typeface="Calibri" pitchFamily="34" charset="-120"/>
              </a:rPr>
              <a:t>With eventi</a:t>
            </a:r>
            <a:endParaRPr lang="en-US" sz="1400" dirty="0"/>
          </a:p>
        </p:txBody>
      </p:sp>
      <p:sp>
        <p:nvSpPr>
          <p:cNvPr id="11" name="Text 9"/>
          <p:cNvSpPr/>
          <p:nvPr/>
        </p:nvSpPr>
        <p:spPr>
          <a:xfrm>
            <a:off x="5120640" y="1508760"/>
            <a:ext cx="3566160" cy="2560320"/>
          </a:xfrm>
          <a:prstGeom prst="rect">
            <a:avLst/>
          </a:prstGeom>
          <a:noFill/>
          <a:ln/>
        </p:spPr>
        <p:txBody>
          <a:bodyPr wrap="square" lIns="0" tIns="0" rIns="0" bIns="0" rtlCol="0" anchor="t"/>
          <a:lstStyle/>
          <a:p>
            <a:pPr marL="0" indent="0" algn="l">
              <a:buNone/>
            </a:pPr>
            <a:r>
              <a:rPr lang="en-US" sz="1000" dirty="0">
                <a:solidFill>
                  <a:srgbClr val="02C39A"/>
                </a:solidFill>
                <a:latin typeface="Consolas" pitchFamily="34" charset="0"/>
                <a:ea typeface="Consolas" pitchFamily="34" charset="-122"/>
                <a:cs typeface="Consolas" pitchFamily="34" charset="-120"/>
              </a:rPr>
              <a:t>events = Events(df, sem)
result = analyzer
  .calc_active_vs_inactive()
# LLM reasons at object level:
# which class? which analyzer?
# which intermediate?</a:t>
            </a:r>
            <a:endParaRPr lang="en-US" sz="1000" dirty="0"/>
          </a:p>
        </p:txBody>
      </p:sp>
      <p:sp>
        <p:nvSpPr>
          <p:cNvPr id="12" name="Text 10"/>
          <p:cNvSpPr/>
          <p:nvPr/>
        </p:nvSpPr>
        <p:spPr>
          <a:xfrm>
            <a:off x="4983480" y="4114800"/>
            <a:ext cx="3840480" cy="320040"/>
          </a:xfrm>
          <a:prstGeom prst="rect">
            <a:avLst/>
          </a:prstGeom>
          <a:noFill/>
          <a:ln/>
        </p:spPr>
        <p:txBody>
          <a:bodyPr wrap="square" lIns="0" tIns="0" rIns="0" bIns="0" rtlCol="0" anchor="ctr"/>
          <a:lstStyle/>
          <a:p>
            <a:pPr algn="ctr"/>
            <a:r>
              <a:rPr lang="en-US" sz="1200" b="1">
                <a:solidFill>
                  <a:srgbClr val="02C39A"/>
                </a:solidFill>
                <a:latin typeface="Calibri" pitchFamily="34" charset="0"/>
                <a:ea typeface="Calibri" pitchFamily="34" charset="-122"/>
                <a:cs typeface="Calibri" pitchFamily="34" charset="-120"/>
              </a:rPr>
              <a:t>✓  Readable concepts</a:t>
            </a:r>
            <a:endParaRPr lang="en-US" sz="1200"/>
          </a:p>
          <a:p>
            <a:pPr marL="0" indent="0" algn="ctr">
              <a:buNone/>
            </a:pPr>
            <a:r>
              <a:rPr lang="en-US" sz="1200" b="1">
                <a:solidFill>
                  <a:srgbClr val="02C39A"/>
                </a:solidFill>
                <a:latin typeface="Calibri" pitchFamily="34" charset="0"/>
                <a:ea typeface="Calibri" pitchFamily="34" charset="-122"/>
                <a:cs typeface="Calibri" pitchFamily="34" charset="-120"/>
              </a:rPr>
              <a:t>✓  </a:t>
            </a:r>
            <a:r>
              <a:rPr lang="en-US" sz="1200" b="1" dirty="0">
                <a:solidFill>
                  <a:srgbClr val="02C39A"/>
                </a:solidFill>
                <a:latin typeface="Calibri" pitchFamily="34" charset="0"/>
                <a:ea typeface="Calibri" pitchFamily="34" charset="-122"/>
                <a:cs typeface="Calibri" pitchFamily="34" charset="-120"/>
              </a:rPr>
              <a:t>Navigable by LLMs</a:t>
            </a:r>
            <a:endParaRPr lang="en-US" sz="1200" dirty="0"/>
          </a:p>
        </p:txBody>
      </p:sp>
      <p:sp>
        <p:nvSpPr>
          <p:cNvPr id="13" name="Text 11"/>
          <p:cNvSpPr/>
          <p:nvPr/>
        </p:nvSpPr>
        <p:spPr>
          <a:xfrm>
            <a:off x="365760" y="4663440"/>
            <a:ext cx="8412480" cy="347472"/>
          </a:xfrm>
          <a:prstGeom prst="rect">
            <a:avLst/>
          </a:prstGeom>
          <a:noFill/>
          <a:ln/>
        </p:spPr>
        <p:txBody>
          <a:bodyPr wrap="square" lIns="0" tIns="0" rIns="0" bIns="0" rtlCol="0" anchor="ctr"/>
          <a:lstStyle/>
          <a:p>
            <a:pPr marL="0" indent="0" algn="ctr">
              <a:buNone/>
            </a:pPr>
            <a:r>
              <a:rPr lang="en-US" sz="1400" b="1" i="1" dirty="0">
                <a:solidFill>
                  <a:srgbClr val="028090"/>
                </a:solidFill>
                <a:latin typeface="Calibri" pitchFamily="34" charset="0"/>
                <a:ea typeface="Calibri" pitchFamily="34" charset="-122"/>
                <a:cs typeface="Calibri" pitchFamily="34" charset="-120"/>
              </a:rPr>
              <a:t>"Packages provide the infrastructure. LLMs navigate it."</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8">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From Pipeline to Insight</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51560"/>
            <a:ext cx="4023360" cy="1783080"/>
          </a:xfrm>
          <a:prstGeom prst="rect">
            <a:avLst/>
          </a:prstGeom>
          <a:solidFill>
            <a:srgbClr val="FFFFFF"/>
          </a:solidFill>
          <a:ln w="19050">
            <a:solidFill>
              <a:srgbClr val="E8EFF5"/>
            </a:solidFill>
            <a:prstDash val="solid"/>
          </a:ln>
        </p:spPr>
        <p:txBody>
          <a:bodyPr/>
          <a:lstStyle/>
          <a:p>
            <a:endParaRPr lang="en-US"/>
          </a:p>
        </p:txBody>
      </p:sp>
      <p:sp>
        <p:nvSpPr>
          <p:cNvPr id="5" name="Shape 3"/>
          <p:cNvSpPr/>
          <p:nvPr/>
        </p:nvSpPr>
        <p:spPr>
          <a:xfrm>
            <a:off x="365760" y="1051560"/>
            <a:ext cx="4023360" cy="320040"/>
          </a:xfrm>
          <a:prstGeom prst="rect">
            <a:avLst/>
          </a:prstGeom>
          <a:solidFill>
            <a:srgbClr val="028090"/>
          </a:solidFill>
          <a:ln/>
        </p:spPr>
        <p:txBody>
          <a:bodyPr/>
          <a:lstStyle/>
          <a:p>
            <a:endParaRPr lang="en-US"/>
          </a:p>
        </p:txBody>
      </p:sp>
      <p:sp>
        <p:nvSpPr>
          <p:cNvPr id="6" name="Text 4"/>
          <p:cNvSpPr/>
          <p:nvPr/>
        </p:nvSpPr>
        <p:spPr>
          <a:xfrm>
            <a:off x="457200" y="108813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Stacked Events Bar</a:t>
            </a:r>
            <a:endParaRPr lang="en-US" sz="1200" dirty="0"/>
          </a:p>
        </p:txBody>
      </p:sp>
      <p:sp>
        <p:nvSpPr>
          <p:cNvPr id="7" name="Text 5"/>
          <p:cNvSpPr/>
          <p:nvPr/>
        </p:nvSpPr>
        <p:spPr>
          <a:xfrm>
            <a:off x="457200" y="143560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One bar per entity. Active (green), inactive (gray), gaps (red). Occurrence markers overlaid as lines or circles.</a:t>
            </a:r>
            <a:endParaRPr lang="en-US" sz="1100" dirty="0"/>
          </a:p>
        </p:txBody>
      </p:sp>
      <p:sp>
        <p:nvSpPr>
          <p:cNvPr id="8" name="Shape 6"/>
          <p:cNvSpPr/>
          <p:nvPr/>
        </p:nvSpPr>
        <p:spPr>
          <a:xfrm>
            <a:off x="4754880" y="1051560"/>
            <a:ext cx="4023360" cy="1783080"/>
          </a:xfrm>
          <a:prstGeom prst="rect">
            <a:avLst/>
          </a:prstGeom>
          <a:solidFill>
            <a:srgbClr val="FFFFFF"/>
          </a:solidFill>
          <a:ln w="19050">
            <a:solidFill>
              <a:srgbClr val="E8EFF5"/>
            </a:solidFill>
            <a:prstDash val="solid"/>
          </a:ln>
        </p:spPr>
        <p:txBody>
          <a:bodyPr/>
          <a:lstStyle/>
          <a:p>
            <a:endParaRPr lang="en-US"/>
          </a:p>
        </p:txBody>
      </p:sp>
      <p:sp>
        <p:nvSpPr>
          <p:cNvPr id="9" name="Shape 7"/>
          <p:cNvSpPr/>
          <p:nvPr/>
        </p:nvSpPr>
        <p:spPr>
          <a:xfrm>
            <a:off x="4754880" y="1051560"/>
            <a:ext cx="4023360" cy="320040"/>
          </a:xfrm>
          <a:prstGeom prst="rect">
            <a:avLst/>
          </a:prstGeom>
          <a:solidFill>
            <a:srgbClr val="028090"/>
          </a:solidFill>
          <a:ln/>
        </p:spPr>
        <p:txBody>
          <a:bodyPr/>
          <a:lstStyle/>
          <a:p>
            <a:endParaRPr lang="en-US"/>
          </a:p>
        </p:txBody>
      </p:sp>
      <p:sp>
        <p:nvSpPr>
          <p:cNvPr id="10" name="Text 8"/>
          <p:cNvSpPr/>
          <p:nvPr/>
        </p:nvSpPr>
        <p:spPr>
          <a:xfrm>
            <a:off x="4846320" y="108813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Activity Over Time</a:t>
            </a:r>
            <a:endParaRPr lang="en-US" sz="1200" dirty="0"/>
          </a:p>
        </p:txBody>
      </p:sp>
      <p:sp>
        <p:nvSpPr>
          <p:cNvPr id="11" name="Text 9"/>
          <p:cNvSpPr/>
          <p:nvPr/>
        </p:nvSpPr>
        <p:spPr>
          <a:xfrm>
            <a:off x="4846320" y="143560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Fraction of entities active at each relative day from span start. Up/down arrows show entries and exits.</a:t>
            </a:r>
            <a:endParaRPr lang="en-US" sz="1100" dirty="0"/>
          </a:p>
        </p:txBody>
      </p:sp>
      <p:sp>
        <p:nvSpPr>
          <p:cNvPr id="12" name="Shape 10"/>
          <p:cNvSpPr/>
          <p:nvPr/>
        </p:nvSpPr>
        <p:spPr>
          <a:xfrm>
            <a:off x="365760" y="3017520"/>
            <a:ext cx="4023360" cy="1783080"/>
          </a:xfrm>
          <a:prstGeom prst="rect">
            <a:avLst/>
          </a:prstGeom>
          <a:solidFill>
            <a:srgbClr val="FFFFFF"/>
          </a:solidFill>
          <a:ln w="19050">
            <a:solidFill>
              <a:srgbClr val="E8EFF5"/>
            </a:solidFill>
            <a:prstDash val="solid"/>
          </a:ln>
        </p:spPr>
        <p:txBody>
          <a:bodyPr/>
          <a:lstStyle/>
          <a:p>
            <a:endParaRPr lang="en-US"/>
          </a:p>
        </p:txBody>
      </p:sp>
      <p:sp>
        <p:nvSpPr>
          <p:cNvPr id="13" name="Shape 11"/>
          <p:cNvSpPr/>
          <p:nvPr/>
        </p:nvSpPr>
        <p:spPr>
          <a:xfrm>
            <a:off x="365760" y="3017520"/>
            <a:ext cx="4023360" cy="320040"/>
          </a:xfrm>
          <a:prstGeom prst="rect">
            <a:avLst/>
          </a:prstGeom>
          <a:solidFill>
            <a:srgbClr val="0D2B45"/>
          </a:solidFill>
          <a:ln/>
        </p:spPr>
        <p:txBody>
          <a:bodyPr/>
          <a:lstStyle/>
          <a:p>
            <a:endParaRPr lang="en-US"/>
          </a:p>
        </p:txBody>
      </p:sp>
      <p:sp>
        <p:nvSpPr>
          <p:cNvPr id="14" name="Text 12"/>
          <p:cNvSpPr/>
          <p:nvPr/>
        </p:nvSpPr>
        <p:spPr>
          <a:xfrm>
            <a:off x="457200" y="305409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Active Days Histogram</a:t>
            </a:r>
            <a:endParaRPr lang="en-US" sz="1200" dirty="0"/>
          </a:p>
        </p:txBody>
      </p:sp>
      <p:sp>
        <p:nvSpPr>
          <p:cNvPr id="15" name="Text 13"/>
          <p:cNvSpPr/>
          <p:nvPr/>
        </p:nvSpPr>
        <p:spPr>
          <a:xfrm>
            <a:off x="457200" y="340156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Distribution of active days across entities. Percentile lines at p25/p50/p75.</a:t>
            </a:r>
            <a:endParaRPr lang="en-US" sz="1100" dirty="0"/>
          </a:p>
        </p:txBody>
      </p:sp>
      <p:sp>
        <p:nvSpPr>
          <p:cNvPr id="16" name="Shape 14"/>
          <p:cNvSpPr/>
          <p:nvPr/>
        </p:nvSpPr>
        <p:spPr>
          <a:xfrm>
            <a:off x="4754880" y="3017520"/>
            <a:ext cx="4023360" cy="1783080"/>
          </a:xfrm>
          <a:prstGeom prst="rect">
            <a:avLst/>
          </a:prstGeom>
          <a:solidFill>
            <a:srgbClr val="FFFFFF"/>
          </a:solidFill>
          <a:ln w="19050">
            <a:solidFill>
              <a:srgbClr val="E8EFF5"/>
            </a:solidFill>
            <a:prstDash val="solid"/>
          </a:ln>
        </p:spPr>
        <p:txBody>
          <a:bodyPr/>
          <a:lstStyle/>
          <a:p>
            <a:endParaRPr lang="en-US"/>
          </a:p>
        </p:txBody>
      </p:sp>
      <p:sp>
        <p:nvSpPr>
          <p:cNvPr id="17" name="Shape 15"/>
          <p:cNvSpPr/>
          <p:nvPr/>
        </p:nvSpPr>
        <p:spPr>
          <a:xfrm>
            <a:off x="4754880" y="3017520"/>
            <a:ext cx="4023360" cy="320040"/>
          </a:xfrm>
          <a:prstGeom prst="rect">
            <a:avLst/>
          </a:prstGeom>
          <a:solidFill>
            <a:srgbClr val="0D2B45"/>
          </a:solidFill>
          <a:ln/>
        </p:spPr>
        <p:txBody>
          <a:bodyPr/>
          <a:lstStyle/>
          <a:p>
            <a:endParaRPr lang="en-US"/>
          </a:p>
        </p:txBody>
      </p:sp>
      <p:sp>
        <p:nvSpPr>
          <p:cNvPr id="18" name="Text 16"/>
          <p:cNvSpPr/>
          <p:nvPr/>
        </p:nvSpPr>
        <p:spPr>
          <a:xfrm>
            <a:off x="4846320" y="305409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Inactive Days Violin</a:t>
            </a:r>
            <a:endParaRPr lang="en-US" sz="1200" dirty="0"/>
          </a:p>
        </p:txBody>
      </p:sp>
      <p:sp>
        <p:nvSpPr>
          <p:cNvPr id="19" name="Text 17"/>
          <p:cNvSpPr/>
          <p:nvPr/>
        </p:nvSpPr>
        <p:spPr>
          <a:xfrm>
            <a:off x="4846320" y="340156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Before/After/Middle/Total inactive days compared side by side. Width scaled by n.</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9">
    <p:bg>
      <p:bgPr>
        <a:solidFill>
          <a:srgbClr val="0D2B45"/>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What's Next</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0" y="0"/>
            <a:ext cx="109728" cy="5143500"/>
          </a:xfrm>
          <a:prstGeom prst="rect">
            <a:avLst/>
          </a:prstGeom>
          <a:solidFill>
            <a:srgbClr val="02C39A"/>
          </a:solidFill>
          <a:ln/>
        </p:spPr>
        <p:txBody>
          <a:bodyPr/>
          <a:lstStyle/>
          <a:p>
            <a:endParaRPr lang="en-US"/>
          </a:p>
        </p:txBody>
      </p:sp>
      <p:sp>
        <p:nvSpPr>
          <p:cNvPr id="5" name="Shape 3"/>
          <p:cNvSpPr/>
          <p:nvPr/>
        </p:nvSpPr>
        <p:spPr>
          <a:xfrm>
            <a:off x="274320" y="1051560"/>
            <a:ext cx="411480" cy="411480"/>
          </a:xfrm>
          <a:prstGeom prst="ellipse">
            <a:avLst/>
          </a:prstGeom>
          <a:solidFill>
            <a:srgbClr val="028090"/>
          </a:solidFill>
          <a:ln/>
        </p:spPr>
        <p:txBody>
          <a:bodyPr/>
          <a:lstStyle/>
          <a:p>
            <a:endParaRPr lang="en-US"/>
          </a:p>
        </p:txBody>
      </p:sp>
      <p:sp>
        <p:nvSpPr>
          <p:cNvPr id="6" name="Text 4"/>
          <p:cNvSpPr/>
          <p:nvPr/>
        </p:nvSpPr>
        <p:spPr>
          <a:xfrm>
            <a:off x="274320" y="105156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822960" y="1033272"/>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OccurrencesWithinEventsAnalyzer</a:t>
            </a:r>
            <a:endParaRPr lang="en-US" sz="1300" dirty="0"/>
          </a:p>
        </p:txBody>
      </p:sp>
      <p:sp>
        <p:nvSpPr>
          <p:cNvPr id="8" name="Text 6"/>
          <p:cNvSpPr/>
          <p:nvPr/>
        </p:nvSpPr>
        <p:spPr>
          <a:xfrm>
            <a:off x="822960" y="1280160"/>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Did the occurrence fall within an active event? Which one?</a:t>
            </a:r>
            <a:endParaRPr lang="en-US" sz="1100" dirty="0"/>
          </a:p>
        </p:txBody>
      </p:sp>
      <p:sp>
        <p:nvSpPr>
          <p:cNvPr id="9" name="Shape 7"/>
          <p:cNvSpPr/>
          <p:nvPr/>
        </p:nvSpPr>
        <p:spPr>
          <a:xfrm>
            <a:off x="274320" y="1801368"/>
            <a:ext cx="411480" cy="411480"/>
          </a:xfrm>
          <a:prstGeom prst="ellipse">
            <a:avLst/>
          </a:prstGeom>
          <a:solidFill>
            <a:srgbClr val="028090"/>
          </a:solidFill>
          <a:ln/>
        </p:spPr>
        <p:txBody>
          <a:bodyPr/>
          <a:lstStyle/>
          <a:p>
            <a:endParaRPr lang="en-US"/>
          </a:p>
        </p:txBody>
      </p:sp>
      <p:sp>
        <p:nvSpPr>
          <p:cNvPr id="10" name="Text 8"/>
          <p:cNvSpPr/>
          <p:nvPr/>
        </p:nvSpPr>
        <p:spPr>
          <a:xfrm>
            <a:off x="274320" y="1801368"/>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822960" y="1783080"/>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CrossOccurrenceAnalyzer</a:t>
            </a:r>
            <a:endParaRPr lang="en-US" sz="1300" dirty="0"/>
          </a:p>
        </p:txBody>
      </p:sp>
      <p:sp>
        <p:nvSpPr>
          <p:cNvPr id="12" name="Text 10"/>
          <p:cNvSpPr/>
          <p:nvPr/>
        </p:nvSpPr>
        <p:spPr>
          <a:xfrm>
            <a:off x="822960" y="2029968"/>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Time between MMR and HepB — sequence, co-occurrence, lag</a:t>
            </a:r>
            <a:endParaRPr lang="en-US" sz="1100" dirty="0"/>
          </a:p>
        </p:txBody>
      </p:sp>
      <p:sp>
        <p:nvSpPr>
          <p:cNvPr id="13" name="Shape 11"/>
          <p:cNvSpPr/>
          <p:nvPr/>
        </p:nvSpPr>
        <p:spPr>
          <a:xfrm>
            <a:off x="274320" y="2551176"/>
            <a:ext cx="411480" cy="411480"/>
          </a:xfrm>
          <a:prstGeom prst="ellipse">
            <a:avLst/>
          </a:prstGeom>
          <a:solidFill>
            <a:srgbClr val="028090"/>
          </a:solidFill>
          <a:ln/>
        </p:spPr>
        <p:txBody>
          <a:bodyPr/>
          <a:lstStyle/>
          <a:p>
            <a:endParaRPr lang="en-US"/>
          </a:p>
        </p:txBody>
      </p:sp>
      <p:sp>
        <p:nvSpPr>
          <p:cNvPr id="14" name="Text 12"/>
          <p:cNvSpPr/>
          <p:nvPr/>
        </p:nvSpPr>
        <p:spPr>
          <a:xfrm>
            <a:off x="274320" y="2551176"/>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p:nvPr/>
        </p:nvSpPr>
        <p:spPr>
          <a:xfrm>
            <a:off x="822960" y="2532888"/>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OccurrencesPlotter</a:t>
            </a:r>
            <a:endParaRPr lang="en-US" sz="1300" dirty="0"/>
          </a:p>
        </p:txBody>
      </p:sp>
      <p:sp>
        <p:nvSpPr>
          <p:cNvPr id="16" name="Text 14"/>
          <p:cNvSpPr/>
          <p:nvPr/>
        </p:nvSpPr>
        <p:spPr>
          <a:xfrm>
            <a:off x="822960" y="2779776"/>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Dedicated visualizations for occurrence distributions</a:t>
            </a:r>
            <a:endParaRPr lang="en-US" sz="1100" dirty="0"/>
          </a:p>
        </p:txBody>
      </p:sp>
      <p:sp>
        <p:nvSpPr>
          <p:cNvPr id="17" name="Shape 15"/>
          <p:cNvSpPr/>
          <p:nvPr/>
        </p:nvSpPr>
        <p:spPr>
          <a:xfrm>
            <a:off x="274320" y="3300984"/>
            <a:ext cx="411480" cy="411480"/>
          </a:xfrm>
          <a:prstGeom prst="ellipse">
            <a:avLst/>
          </a:prstGeom>
          <a:solidFill>
            <a:srgbClr val="028090"/>
          </a:solidFill>
          <a:ln/>
        </p:spPr>
        <p:txBody>
          <a:bodyPr/>
          <a:lstStyle/>
          <a:p>
            <a:endParaRPr lang="en-US"/>
          </a:p>
        </p:txBody>
      </p:sp>
      <p:sp>
        <p:nvSpPr>
          <p:cNvPr id="18" name="Text 16"/>
          <p:cNvSpPr/>
          <p:nvPr/>
        </p:nvSpPr>
        <p:spPr>
          <a:xfrm>
            <a:off x="274320" y="3300984"/>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7"/>
          <p:cNvSpPr/>
          <p:nvPr/>
        </p:nvSpPr>
        <p:spPr>
          <a:xfrm>
            <a:off x="822960" y="3282696"/>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Hawkes Process Integration</a:t>
            </a:r>
            <a:endParaRPr lang="en-US" sz="1300" dirty="0"/>
          </a:p>
        </p:txBody>
      </p:sp>
      <p:sp>
        <p:nvSpPr>
          <p:cNvPr id="20" name="Text 18"/>
          <p:cNvSpPr/>
          <p:nvPr/>
        </p:nvSpPr>
        <p:spPr>
          <a:xfrm>
            <a:off x="822960" y="3529584"/>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Self-exciting point process modeling via tick or PoissonProcesses</a:t>
            </a:r>
            <a:endParaRPr lang="en-US" sz="1100" dirty="0"/>
          </a:p>
        </p:txBody>
      </p:sp>
      <p:sp>
        <p:nvSpPr>
          <p:cNvPr id="21" name="Shape 19"/>
          <p:cNvSpPr/>
          <p:nvPr/>
        </p:nvSpPr>
        <p:spPr>
          <a:xfrm>
            <a:off x="274320" y="4050792"/>
            <a:ext cx="411480" cy="411480"/>
          </a:xfrm>
          <a:prstGeom prst="ellipse">
            <a:avLst/>
          </a:prstGeom>
          <a:solidFill>
            <a:srgbClr val="028090"/>
          </a:solidFill>
          <a:ln/>
        </p:spPr>
        <p:txBody>
          <a:bodyPr/>
          <a:lstStyle/>
          <a:p>
            <a:endParaRPr lang="en-US"/>
          </a:p>
        </p:txBody>
      </p:sp>
      <p:sp>
        <p:nvSpPr>
          <p:cNvPr id="22" name="Text 20"/>
          <p:cNvSpPr/>
          <p:nvPr/>
        </p:nvSpPr>
        <p:spPr>
          <a:xfrm>
            <a:off x="274320" y="405079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1"/>
          <p:cNvSpPr/>
          <p:nvPr/>
        </p:nvSpPr>
        <p:spPr>
          <a:xfrm>
            <a:off x="822960" y="4032504"/>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pip </a:t>
            </a:r>
            <a:r>
              <a:rPr lang="en-US" sz="1300" b="1">
                <a:solidFill>
                  <a:srgbClr val="02C39A"/>
                </a:solidFill>
                <a:latin typeface="Calibri" pitchFamily="34" charset="0"/>
                <a:ea typeface="Calibri" pitchFamily="34" charset="-122"/>
                <a:cs typeface="Calibri" pitchFamily="34" charset="-120"/>
              </a:rPr>
              <a:t>install eventi</a:t>
            </a:r>
            <a:endParaRPr lang="en-US" sz="1300" dirty="0"/>
          </a:p>
        </p:txBody>
      </p:sp>
      <p:sp>
        <p:nvSpPr>
          <p:cNvPr id="24" name="Text 22"/>
          <p:cNvSpPr/>
          <p:nvPr/>
        </p:nvSpPr>
        <p:spPr>
          <a:xfrm>
            <a:off x="822960" y="4279392"/>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__init__.py, pyproject.toml, pytest suite, PyPI release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9653</TotalTime>
  <Words>4345</Words>
  <Application>Microsoft Office PowerPoint</Application>
  <PresentationFormat>On-screen Show (16:9)</PresentationFormat>
  <Paragraphs>495</Paragraphs>
  <Slides>44</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44</vt:i4>
      </vt:variant>
    </vt:vector>
  </HeadingPairs>
  <TitlesOfParts>
    <vt:vector size="51" baseType="lpstr">
      <vt:lpstr>Abadi</vt:lpstr>
      <vt:lpstr>Arial</vt:lpstr>
      <vt:lpstr>Calibri</vt:lpstr>
      <vt:lpstr>Centaur</vt:lpstr>
      <vt:lpstr>Consolas</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eventus: Architecture</dc:title>
  <dc:subject>PptxGenJS Presentation</dc:subject>
  <dc:creator>PptxGenJS</dc:creator>
  <cp:lastModifiedBy>Daniel Arenas</cp:lastModifiedBy>
  <cp:revision>47</cp:revision>
  <dcterms:created xsi:type="dcterms:W3CDTF">2026-04-01T00:19:55Z</dcterms:created>
  <dcterms:modified xsi:type="dcterms:W3CDTF">2026-04-21T12:18:04Z</dcterms:modified>
</cp:coreProperties>
</file>