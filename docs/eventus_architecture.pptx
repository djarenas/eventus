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306" r:id="rId2"/>
    <p:sldId id="270" r:id="rId3"/>
    <p:sldId id="271" r:id="rId4"/>
    <p:sldId id="290" r:id="rId5"/>
    <p:sldId id="317" r:id="rId6"/>
    <p:sldId id="318" r:id="rId7"/>
    <p:sldId id="319" r:id="rId8"/>
    <p:sldId id="322" r:id="rId9"/>
    <p:sldId id="268" r:id="rId10"/>
    <p:sldId id="291" r:id="rId11"/>
    <p:sldId id="288" r:id="rId12"/>
    <p:sldId id="274" r:id="rId13"/>
    <p:sldId id="320" r:id="rId14"/>
    <p:sldId id="321" r:id="rId15"/>
    <p:sldId id="325" r:id="rId16"/>
    <p:sldId id="305" r:id="rId17"/>
    <p:sldId id="326" r:id="rId18"/>
    <p:sldId id="292" r:id="rId19"/>
    <p:sldId id="323" r:id="rId20"/>
    <p:sldId id="327" r:id="rId21"/>
    <p:sldId id="328" r:id="rId22"/>
    <p:sldId id="329" r:id="rId23"/>
    <p:sldId id="331" r:id="rId24"/>
    <p:sldId id="330" r:id="rId25"/>
    <p:sldId id="294" r:id="rId26"/>
    <p:sldId id="332" r:id="rId27"/>
    <p:sldId id="295" r:id="rId28"/>
    <p:sldId id="333" r:id="rId29"/>
    <p:sldId id="278" r:id="rId30"/>
    <p:sldId id="334" r:id="rId31"/>
    <p:sldId id="341" r:id="rId32"/>
    <p:sldId id="338" r:id="rId33"/>
    <p:sldId id="339" r:id="rId34"/>
    <p:sldId id="340" r:id="rId35"/>
    <p:sldId id="342" r:id="rId36"/>
    <p:sldId id="343" r:id="rId37"/>
    <p:sldId id="344" r:id="rId38"/>
    <p:sldId id="336" r:id="rId39"/>
    <p:sldId id="349" r:id="rId40"/>
    <p:sldId id="337" r:id="rId41"/>
    <p:sldId id="297" r:id="rId42"/>
    <p:sldId id="300" r:id="rId43"/>
    <p:sldId id="301" r:id="rId44"/>
    <p:sldId id="298" r:id="rId45"/>
    <p:sldId id="299" r:id="rId46"/>
    <p:sldId id="345" r:id="rId47"/>
    <p:sldId id="346" r:id="rId48"/>
    <p:sldId id="347" r:id="rId49"/>
    <p:sldId id="348" r:id="rId50"/>
    <p:sldId id="303" r:id="rId51"/>
    <p:sldId id="304" r:id="rId52"/>
    <p:sldId id="279" r:id="rId53"/>
    <p:sldId id="286" r:id="rId54"/>
    <p:sldId id="280" r:id="rId55"/>
    <p:sldId id="281" r:id="rId56"/>
    <p:sldId id="265" r:id="rId57"/>
    <p:sldId id="267" r:id="rId58"/>
    <p:sldId id="269" r:id="rId59"/>
    <p:sldId id="266" r:id="rId60"/>
    <p:sldId id="273" r:id="rId61"/>
    <p:sldId id="287" r:id="rId62"/>
    <p:sldId id="282" r:id="rId63"/>
    <p:sldId id="283" r:id="rId64"/>
    <p:sldId id="284" r:id="rId65"/>
    <p:sldId id="285" r:id="rId6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1T20:42:23.096"/>
    </inkml:context>
    <inkml:brush xml:id="br0">
      <inkml:brushProperty name="width" value="0.035" units="cm"/>
      <inkml:brushProperty name="height" value="0.035" units="cm"/>
      <inkml:brushProperty name="color" value="#004F8B"/>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1T20:42:23.096"/>
    </inkml:context>
    <inkml:brush xml:id="br0">
      <inkml:brushProperty name="width" value="0.035" units="cm"/>
      <inkml:brushProperty name="height" value="0.035" units="cm"/>
      <inkml:brushProperty name="color" value="#004F8B"/>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1T20:42:23.096"/>
    </inkml:context>
    <inkml:brush xml:id="br0">
      <inkml:brushProperty name="width" value="0.035" units="cm"/>
      <inkml:brushProperty name="height" value="0.035" units="cm"/>
      <inkml:brushProperty name="color" value="#004F8B"/>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1T20:42:23.096"/>
    </inkml:context>
    <inkml:brush xml:id="br0">
      <inkml:brushProperty name="width" value="0.035" units="cm"/>
      <inkml:brushProperty name="height" value="0.035" units="cm"/>
      <inkml:brushProperty name="color" value="#004F8B"/>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1T20:42:23.096"/>
    </inkml:context>
    <inkml:brush xml:id="br0">
      <inkml:brushProperty name="width" value="0.035" units="cm"/>
      <inkml:brushProperty name="height" value="0.035" units="cm"/>
      <inkml:brushProperty name="color" value="#004F8B"/>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208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52053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7103407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1.xml"/><Relationship Id="rId23" Type="http://schemas.openxmlformats.org/officeDocument/2006/relationships/image" Target="../media/image110.png"/></Relationships>
</file>

<file path=ppt/slides/_rels/slide10.xml.rels><?xml version="1.0" encoding="UTF-8" standalone="yes"?>
<Relationships xmlns="http://schemas.openxmlformats.org/package/2006/relationships"><Relationship Id="rId26" Type="http://schemas.openxmlformats.org/officeDocument/2006/relationships/image" Target="../media/image12.png"/><Relationship Id="rId25" Type="http://schemas.openxmlformats.org/officeDocument/2006/relationships/image" Target="../media/image11.png"/><Relationship Id="rId2" Type="http://schemas.openxmlformats.org/officeDocument/2006/relationships/customXml" Target="../ink/ink2.xml"/><Relationship Id="rId1" Type="http://schemas.openxmlformats.org/officeDocument/2006/relationships/slideLayout" Target="../slideLayouts/slideLayout1.xml"/><Relationship Id="rId24" Type="http://schemas.openxmlformats.org/officeDocument/2006/relationships/image" Target="../media/image10.png"/><Relationship Id="rId23" Type="http://schemas.openxmlformats.org/officeDocument/2006/relationships/image" Target="../media/image1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5" Type="http://schemas.openxmlformats.org/officeDocument/2006/relationships/image" Target="../media/image45.png"/><Relationship Id="rId2" Type="http://schemas.openxmlformats.org/officeDocument/2006/relationships/customXml" Target="../ink/ink3.xml"/><Relationship Id="rId1" Type="http://schemas.openxmlformats.org/officeDocument/2006/relationships/slideLayout" Target="../slideLayouts/slideLayout1.xml"/><Relationship Id="rId24" Type="http://schemas.openxmlformats.org/officeDocument/2006/relationships/image" Target="../media/image44.png"/><Relationship Id="rId23" Type="http://schemas.openxmlformats.org/officeDocument/2006/relationships/image" Target="../media/image110.png"/></Relationships>
</file>

<file path=ppt/slides/_rels/slide58.xml.rels><?xml version="1.0" encoding="UTF-8" standalone="yes"?>
<Relationships xmlns="http://schemas.openxmlformats.org/package/2006/relationships"><Relationship Id="rId25" Type="http://schemas.openxmlformats.org/officeDocument/2006/relationships/image" Target="../media/image47.png"/><Relationship Id="rId2" Type="http://schemas.openxmlformats.org/officeDocument/2006/relationships/customXml" Target="../ink/ink4.xml"/><Relationship Id="rId1" Type="http://schemas.openxmlformats.org/officeDocument/2006/relationships/slideLayout" Target="../slideLayouts/slideLayout1.xml"/><Relationship Id="rId24" Type="http://schemas.openxmlformats.org/officeDocument/2006/relationships/image" Target="../media/image46.png"/><Relationship Id="rId23" Type="http://schemas.openxmlformats.org/officeDocument/2006/relationships/image" Target="../media/image110.png"/></Relationships>
</file>

<file path=ppt/slides/_rels/slide59.xml.rels><?xml version="1.0" encoding="UTF-8" standalone="yes"?>
<Relationships xmlns="http://schemas.openxmlformats.org/package/2006/relationships"><Relationship Id="rId2" Type="http://schemas.openxmlformats.org/officeDocument/2006/relationships/customXml" Target="../ink/ink5.xml"/><Relationship Id="rId1" Type="http://schemas.openxmlformats.org/officeDocument/2006/relationships/slideLayout" Target="../slideLayouts/slideLayout1.xml"/><Relationship Id="rId23" Type="http://schemas.openxmlformats.org/officeDocument/2006/relationships/image" Target="../media/image11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Vignette 1</a:t>
            </a:r>
          </a:p>
        </p:txBody>
      </p:sp>
      <p:sp>
        <p:nvSpPr>
          <p:cNvPr id="5" name="Subtitle 4">
            <a:extLst>
              <a:ext uri="{FF2B5EF4-FFF2-40B4-BE49-F238E27FC236}">
                <a16:creationId xmlns:a16="http://schemas.microsoft.com/office/drawing/2014/main" id="{9BBB6CCC-B11D-92C9-3E1A-467E4674BF39}"/>
              </a:ext>
            </a:extLst>
          </p:cNvPr>
          <p:cNvSpPr>
            <a:spLocks noGrp="1"/>
          </p:cNvSpPr>
          <p:nvPr>
            <p:ph type="subTitle" idx="1"/>
          </p:nvPr>
        </p:nvSpPr>
        <p:spPr/>
        <p:txBody>
          <a:bodyPr/>
          <a:lstStyle/>
          <a:p>
            <a:r>
              <a:rPr lang="en-US"/>
              <a:t>Cleaning</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12EBA4-376B-A76C-11E3-2B5886C35E2A}"/>
              </a:ext>
            </a:extLst>
          </p:cNvPr>
          <p:cNvSpPr txBox="1"/>
          <p:nvPr/>
        </p:nvSpPr>
        <p:spPr>
          <a:xfrm>
            <a:off x="53340" y="114300"/>
            <a:ext cx="8831580" cy="5262979"/>
          </a:xfrm>
          <a:prstGeom prst="rect">
            <a:avLst/>
          </a:prstGeom>
          <a:noFill/>
        </p:spPr>
        <p:txBody>
          <a:bodyPr wrap="square" rtlCol="0">
            <a:spAutoFit/>
          </a:bodyPr>
          <a:lstStyle/>
          <a:p>
            <a:r>
              <a:rPr lang="en-US" sz="1400" b="1" dirty="0"/>
              <a:t>Vignette # 1:</a:t>
            </a:r>
          </a:p>
          <a:p>
            <a:r>
              <a:rPr lang="en-US" sz="1400"/>
              <a:t>You are a clinical researcher studying the relationship between hospitalizations and subsequent emergency department visits in a Medicaid population. Your institution's data warehouse gives you a hospitalization file — one row per claim, not one row per hospitalization.</a:t>
            </a:r>
          </a:p>
          <a:p>
            <a:r>
              <a:rPr lang="en-US" sz="1400"/>
              <a:t>Before you can ask any scientific question, you need to answer a more mundane one: "Do I know how many times each patient was hospitalized?" This sounds simple. It is not.</a:t>
            </a:r>
          </a:p>
          <a:p>
            <a:r>
              <a:rPr lang="en-US" sz="1400"/>
              <a:t>Your file has 11,500 rows and 499 unique patients.</a:t>
            </a:r>
          </a:p>
          <a:p>
            <a:endParaRPr lang="en-US" sz="1400" dirty="0"/>
          </a:p>
          <a:p>
            <a:r>
              <a:rPr lang="en-US" sz="1400" b="1" dirty="0"/>
              <a:t>Problem 1 — Duplicate claims</a:t>
            </a:r>
            <a:r>
              <a:rPr lang="en-US" sz="1400" b="1"/>
              <a:t>:</a:t>
            </a:r>
            <a:r>
              <a:rPr lang="en-US" sz="1400"/>
              <a:t> A single 5-day hospitalization generates multiple rows — one per billing day, one per diagnosis code, one per provider. You have 11,500 rows but far fewer actual visits.</a:t>
            </a:r>
            <a:endParaRPr lang="en-US" sz="1400" dirty="0"/>
          </a:p>
          <a:p>
            <a:r>
              <a:rPr lang="en-US" sz="1400" b="1" dirty="0"/>
              <a:t>Problem 2 </a:t>
            </a:r>
            <a:r>
              <a:rPr lang="en-US" sz="1400" b="1"/>
              <a:t>— Overlapping stays:</a:t>
            </a:r>
            <a:r>
              <a:rPr lang="en-US" sz="1400"/>
              <a:t> A patient transferred between units generates two overlapping intervals. Counting rows overestimates their hospitalization burden.</a:t>
            </a:r>
          </a:p>
          <a:p>
            <a:r>
              <a:rPr lang="en-US" sz="1400" b="1"/>
              <a:t>Problem </a:t>
            </a:r>
            <a:r>
              <a:rPr lang="en-US" sz="1400" b="1" dirty="0"/>
              <a:t>3 — Missing admit dates</a:t>
            </a:r>
            <a:r>
              <a:rPr lang="en-US" sz="1400" b="1"/>
              <a:t>:</a:t>
            </a:r>
            <a:r>
              <a:rPr lang="en-US" sz="1400"/>
              <a:t> 3% of rows have a null admit date. Another 1% have a null patient ID. These need to be removed — and your IRB report will ask how many and why.</a:t>
            </a:r>
            <a:endParaRPr lang="en-US" sz="1400" dirty="0"/>
          </a:p>
          <a:p>
            <a:r>
              <a:rPr lang="en-US" sz="1400" b="1" dirty="0"/>
              <a:t>Problem 4 — Implausible dates</a:t>
            </a:r>
            <a:r>
              <a:rPr lang="en-US" sz="1400" b="1"/>
              <a:t>:</a:t>
            </a:r>
            <a:r>
              <a:rPr lang="en-US" sz="1400"/>
              <a:t> System errors produce admit dates in 1899 or 2090. A script that silently keeps these corrupts every downstream analysis.</a:t>
            </a:r>
            <a:endParaRPr lang="en-US" sz="1400" dirty="0"/>
          </a:p>
          <a:p>
            <a:r>
              <a:rPr lang="en-US" sz="1400" b="1" dirty="0"/>
              <a:t>Problem 5 — Same-day readmissions vs. continuous stays</a:t>
            </a:r>
            <a:r>
              <a:rPr lang="en-US" sz="1400" b="1"/>
              <a:t>: </a:t>
            </a:r>
            <a:r>
              <a:rPr lang="en-US" sz="1400"/>
              <a:t>A patient discharged Monday and readmitted Tuesday — one stay or two? The answer depends on your research question and must be a deliberate, documented choice.</a:t>
            </a:r>
          </a:p>
          <a:p>
            <a:r>
              <a:rPr lang="en-US" sz="1400" b="1"/>
              <a:t>Problem 6 — Overlapping stays at different hospitals are not the same event.</a:t>
            </a:r>
            <a:r>
              <a:rPr lang="en-US" sz="1400"/>
              <a:t> Patient P0023 has two overlapping records — one at Hospital A, one at Hospital B. That is a transfer, not a duplicate. A cleaner that merges all overlapping intervals regardless of hospital just destroyed a clinically meaningful distinction. The hospital is part of what defines a hospitalization episode.</a:t>
            </a:r>
            <a:endParaRPr lang="en-US" sz="1400" dirty="0"/>
          </a:p>
          <a:p>
            <a:endParaRPr lang="en-US" sz="1400" dirty="0"/>
          </a:p>
          <a:p>
            <a:endParaRPr lang="en-US" sz="1400" dirty="0"/>
          </a:p>
        </p:txBody>
      </p:sp>
    </p:spTree>
    <p:extLst>
      <p:ext uri="{BB962C8B-B14F-4D97-AF65-F5344CB8AC3E}">
        <p14:creationId xmlns:p14="http://schemas.microsoft.com/office/powerpoint/2010/main" val="2803616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1EE5B2-29C3-370E-2006-2FDF98D812C4}"/>
              </a:ext>
            </a:extLst>
          </p:cNvPr>
          <p:cNvSpPr txBox="1"/>
          <p:nvPr/>
        </p:nvSpPr>
        <p:spPr>
          <a:xfrm>
            <a:off x="-34290" y="-8405"/>
            <a:ext cx="4606290" cy="369332"/>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With Eventus:</a:t>
            </a:r>
          </a:p>
        </p:txBody>
      </p:sp>
      <p:pic>
        <p:nvPicPr>
          <p:cNvPr id="33" name="Picture 32">
            <a:extLst>
              <a:ext uri="{FF2B5EF4-FFF2-40B4-BE49-F238E27FC236}">
                <a16:creationId xmlns:a16="http://schemas.microsoft.com/office/drawing/2014/main" id="{D8B7C27C-5F21-947D-34E6-E8953AF0CC9F}"/>
              </a:ext>
            </a:extLst>
          </p:cNvPr>
          <p:cNvPicPr>
            <a:picLocks noChangeAspect="1"/>
          </p:cNvPicPr>
          <p:nvPr/>
        </p:nvPicPr>
        <p:blipFill>
          <a:blip r:embed="rId2"/>
          <a:stretch>
            <a:fillRect/>
          </a:stretch>
        </p:blipFill>
        <p:spPr>
          <a:xfrm>
            <a:off x="4906505" y="20144"/>
            <a:ext cx="4237495" cy="1943241"/>
          </a:xfrm>
          <a:prstGeom prst="rect">
            <a:avLst/>
          </a:prstGeom>
        </p:spPr>
      </p:pic>
      <p:sp>
        <p:nvSpPr>
          <p:cNvPr id="36" name="TextBox 35">
            <a:extLst>
              <a:ext uri="{FF2B5EF4-FFF2-40B4-BE49-F238E27FC236}">
                <a16:creationId xmlns:a16="http://schemas.microsoft.com/office/drawing/2014/main" id="{71BB690B-B8C3-DCC1-50A9-493ACB3863C3}"/>
              </a:ext>
            </a:extLst>
          </p:cNvPr>
          <p:cNvSpPr txBox="1"/>
          <p:nvPr/>
        </p:nvSpPr>
        <p:spPr>
          <a:xfrm>
            <a:off x="3646628" y="307027"/>
            <a:ext cx="1317540" cy="738664"/>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Cleaner Config YAML</a:t>
            </a:r>
          </a:p>
        </p:txBody>
      </p:sp>
      <p:sp>
        <p:nvSpPr>
          <p:cNvPr id="37" name="TextBox 36">
            <a:extLst>
              <a:ext uri="{FF2B5EF4-FFF2-40B4-BE49-F238E27FC236}">
                <a16:creationId xmlns:a16="http://schemas.microsoft.com/office/drawing/2014/main" id="{D64E5B9C-CEAD-F11F-B546-9B2BF53EF633}"/>
              </a:ext>
            </a:extLst>
          </p:cNvPr>
          <p:cNvSpPr txBox="1"/>
          <p:nvPr/>
        </p:nvSpPr>
        <p:spPr>
          <a:xfrm>
            <a:off x="-281991" y="1550385"/>
            <a:ext cx="1634424" cy="523220"/>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Semantics</a:t>
            </a:r>
            <a:br>
              <a:rPr lang="en-US" sz="1400">
                <a:latin typeface="Montserrat" panose="00000500000000000000" pitchFamily="2" charset="0"/>
                <a:ea typeface="Roboto" panose="02000000000000000000" pitchFamily="2" charset="0"/>
                <a:cs typeface="Roboto" panose="02000000000000000000" pitchFamily="2" charset="0"/>
              </a:rPr>
            </a:br>
            <a:r>
              <a:rPr lang="en-US" sz="1400">
                <a:latin typeface="Montserrat" panose="00000500000000000000" pitchFamily="2" charset="0"/>
                <a:ea typeface="Roboto" panose="02000000000000000000" pitchFamily="2" charset="0"/>
                <a:cs typeface="Roboto" panose="02000000000000000000" pitchFamily="2" charset="0"/>
              </a:rPr>
              <a:t>YAML</a:t>
            </a:r>
          </a:p>
        </p:txBody>
      </p:sp>
      <p:sp>
        <p:nvSpPr>
          <p:cNvPr id="40" name="TextBox 39">
            <a:extLst>
              <a:ext uri="{FF2B5EF4-FFF2-40B4-BE49-F238E27FC236}">
                <a16:creationId xmlns:a16="http://schemas.microsoft.com/office/drawing/2014/main" id="{40F0DAE5-7A9B-F6B3-A176-150F1396E82C}"/>
              </a:ext>
            </a:extLst>
          </p:cNvPr>
          <p:cNvSpPr txBox="1"/>
          <p:nvPr/>
        </p:nvSpPr>
        <p:spPr>
          <a:xfrm>
            <a:off x="7338771" y="2706750"/>
            <a:ext cx="2156098"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Report</a:t>
            </a:r>
          </a:p>
        </p:txBody>
      </p:sp>
      <p:pic>
        <p:nvPicPr>
          <p:cNvPr id="43" name="Picture 42">
            <a:extLst>
              <a:ext uri="{FF2B5EF4-FFF2-40B4-BE49-F238E27FC236}">
                <a16:creationId xmlns:a16="http://schemas.microsoft.com/office/drawing/2014/main" id="{1462BA41-9091-2253-09DF-EE099E25B2DA}"/>
              </a:ext>
            </a:extLst>
          </p:cNvPr>
          <p:cNvPicPr>
            <a:picLocks noChangeAspect="1"/>
          </p:cNvPicPr>
          <p:nvPr/>
        </p:nvPicPr>
        <p:blipFill>
          <a:blip r:embed="rId3"/>
          <a:stretch>
            <a:fillRect/>
          </a:stretch>
        </p:blipFill>
        <p:spPr>
          <a:xfrm>
            <a:off x="1307957" y="1200621"/>
            <a:ext cx="2577242" cy="1371129"/>
          </a:xfrm>
          <a:prstGeom prst="rect">
            <a:avLst/>
          </a:prstGeom>
        </p:spPr>
      </p:pic>
      <p:pic>
        <p:nvPicPr>
          <p:cNvPr id="45" name="Picture 44">
            <a:extLst>
              <a:ext uri="{FF2B5EF4-FFF2-40B4-BE49-F238E27FC236}">
                <a16:creationId xmlns:a16="http://schemas.microsoft.com/office/drawing/2014/main" id="{D2D19A10-C63A-19B4-4697-A4534EE4A23D}"/>
              </a:ext>
            </a:extLst>
          </p:cNvPr>
          <p:cNvPicPr>
            <a:picLocks noChangeAspect="1"/>
          </p:cNvPicPr>
          <p:nvPr/>
        </p:nvPicPr>
        <p:blipFill>
          <a:blip r:embed="rId4"/>
          <a:stretch>
            <a:fillRect/>
          </a:stretch>
        </p:blipFill>
        <p:spPr>
          <a:xfrm>
            <a:off x="71252" y="3264538"/>
            <a:ext cx="4852851" cy="851146"/>
          </a:xfrm>
          <a:prstGeom prst="rect">
            <a:avLst/>
          </a:prstGeom>
        </p:spPr>
      </p:pic>
      <p:sp>
        <p:nvSpPr>
          <p:cNvPr id="46" name="TextBox 45">
            <a:extLst>
              <a:ext uri="{FF2B5EF4-FFF2-40B4-BE49-F238E27FC236}">
                <a16:creationId xmlns:a16="http://schemas.microsoft.com/office/drawing/2014/main" id="{2C8536C7-26EB-141E-D364-A965C9E3A5B3}"/>
              </a:ext>
            </a:extLst>
          </p:cNvPr>
          <p:cNvSpPr txBox="1"/>
          <p:nvPr/>
        </p:nvSpPr>
        <p:spPr>
          <a:xfrm>
            <a:off x="1680465" y="2860640"/>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pic>
        <p:nvPicPr>
          <p:cNvPr id="48" name="Picture 47">
            <a:extLst>
              <a:ext uri="{FF2B5EF4-FFF2-40B4-BE49-F238E27FC236}">
                <a16:creationId xmlns:a16="http://schemas.microsoft.com/office/drawing/2014/main" id="{D8955D10-B6D7-DFFB-8564-608FED76DD59}"/>
              </a:ext>
            </a:extLst>
          </p:cNvPr>
          <p:cNvPicPr>
            <a:picLocks noChangeAspect="1"/>
          </p:cNvPicPr>
          <p:nvPr/>
        </p:nvPicPr>
        <p:blipFill>
          <a:blip r:embed="rId5"/>
          <a:stretch>
            <a:fillRect/>
          </a:stretch>
        </p:blipFill>
        <p:spPr>
          <a:xfrm>
            <a:off x="5829113" y="3014527"/>
            <a:ext cx="3321221" cy="2019404"/>
          </a:xfrm>
          <a:prstGeom prst="rect">
            <a:avLst/>
          </a:prstGeom>
        </p:spPr>
      </p:pic>
    </p:spTree>
    <p:extLst>
      <p:ext uri="{BB962C8B-B14F-4D97-AF65-F5344CB8AC3E}">
        <p14:creationId xmlns:p14="http://schemas.microsoft.com/office/powerpoint/2010/main" val="1647754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2311B-5986-D612-FC0E-A25E4F7DF8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1DB637-2C1C-FBDB-3EF1-87BA8019556C}"/>
              </a:ext>
            </a:extLst>
          </p:cNvPr>
          <p:cNvSpPr txBox="1"/>
          <p:nvPr/>
        </p:nvSpPr>
        <p:spPr>
          <a:xfrm>
            <a:off x="53340" y="114300"/>
            <a:ext cx="8831580" cy="954107"/>
          </a:xfrm>
          <a:prstGeom prst="rect">
            <a:avLst/>
          </a:prstGeom>
          <a:noFill/>
        </p:spPr>
        <p:txBody>
          <a:bodyPr wrap="square" rtlCol="0">
            <a:spAutoFit/>
          </a:bodyPr>
          <a:lstStyle/>
          <a:p>
            <a:r>
              <a:rPr lang="en-US" sz="1400" b="1">
                <a:latin typeface="Times New Roman" panose="02020603050405020304" pitchFamily="18" charset="0"/>
                <a:cs typeface="Times New Roman" panose="02020603050405020304" pitchFamily="18" charset="0"/>
              </a:rPr>
              <a:t>Without Eventus:</a:t>
            </a:r>
          </a:p>
          <a:p>
            <a:endParaRPr lang="en-US"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To illustrate the limitations of the script-based paradigm, we askeda large language model to implement the same cleaning pipeline. The script is atvignettes/without_eventus/clean_hospitalizations_no_eventus.py</a:t>
            </a:r>
          </a:p>
        </p:txBody>
      </p:sp>
      <p:pic>
        <p:nvPicPr>
          <p:cNvPr id="6" name="Picture 5">
            <a:extLst>
              <a:ext uri="{FF2B5EF4-FFF2-40B4-BE49-F238E27FC236}">
                <a16:creationId xmlns:a16="http://schemas.microsoft.com/office/drawing/2014/main" id="{D605F1EA-5C7D-6A6C-427E-8DC03C9F0691}"/>
              </a:ext>
            </a:extLst>
          </p:cNvPr>
          <p:cNvPicPr>
            <a:picLocks noChangeAspect="1"/>
          </p:cNvPicPr>
          <p:nvPr/>
        </p:nvPicPr>
        <p:blipFill>
          <a:blip r:embed="rId2"/>
          <a:stretch>
            <a:fillRect/>
          </a:stretch>
        </p:blipFill>
        <p:spPr>
          <a:xfrm>
            <a:off x="2644676" y="1250756"/>
            <a:ext cx="3854648" cy="3778444"/>
          </a:xfrm>
          <a:prstGeom prst="rect">
            <a:avLst/>
          </a:prstGeom>
        </p:spPr>
      </p:pic>
    </p:spTree>
    <p:extLst>
      <p:ext uri="{BB962C8B-B14F-4D97-AF65-F5344CB8AC3E}">
        <p14:creationId xmlns:p14="http://schemas.microsoft.com/office/powerpoint/2010/main" val="4007074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7CEB-135C-ECCD-5611-FA8779DE56D6}"/>
              </a:ext>
            </a:extLst>
          </p:cNvPr>
          <p:cNvSpPr>
            <a:spLocks noGrp="1"/>
          </p:cNvSpPr>
          <p:nvPr>
            <p:ph type="title"/>
          </p:nvPr>
        </p:nvSpPr>
        <p:spPr/>
        <p:txBody>
          <a:bodyPr/>
          <a:lstStyle/>
          <a:p>
            <a:pPr algn="l"/>
            <a:r>
              <a:rPr lang="en-US"/>
              <a:t>Bonus</a:t>
            </a:r>
          </a:p>
        </p:txBody>
      </p:sp>
      <p:sp>
        <p:nvSpPr>
          <p:cNvPr id="3" name="Text Placeholder 2">
            <a:extLst>
              <a:ext uri="{FF2B5EF4-FFF2-40B4-BE49-F238E27FC236}">
                <a16:creationId xmlns:a16="http://schemas.microsoft.com/office/drawing/2014/main" id="{B38532EA-D6FF-44E7-9200-A77A0B752B95}"/>
              </a:ext>
            </a:extLst>
          </p:cNvPr>
          <p:cNvSpPr>
            <a:spLocks noGrp="1"/>
          </p:cNvSpPr>
          <p:nvPr>
            <p:ph type="body" idx="1"/>
          </p:nvPr>
        </p:nvSpPr>
        <p:spPr/>
        <p:txBody>
          <a:bodyPr/>
          <a:lstStyle/>
          <a:p>
            <a:r>
              <a:rPr lang="en-US"/>
              <a:t>Occurrences</a:t>
            </a:r>
          </a:p>
        </p:txBody>
      </p:sp>
    </p:spTree>
    <p:extLst>
      <p:ext uri="{BB962C8B-B14F-4D97-AF65-F5344CB8AC3E}">
        <p14:creationId xmlns:p14="http://schemas.microsoft.com/office/powerpoint/2010/main" val="2172135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9E225-467D-3598-643A-CDB96BE79C4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D91BAC-F21A-C1FF-66EF-982F57085128}"/>
              </a:ext>
            </a:extLst>
          </p:cNvPr>
          <p:cNvSpPr txBox="1"/>
          <p:nvPr/>
        </p:nvSpPr>
        <p:spPr>
          <a:xfrm>
            <a:off x="53340" y="114300"/>
            <a:ext cx="8831580" cy="1169551"/>
          </a:xfrm>
          <a:prstGeom prst="rect">
            <a:avLst/>
          </a:prstGeom>
          <a:noFill/>
        </p:spPr>
        <p:txBody>
          <a:bodyPr wrap="square" rtlCol="0">
            <a:spAutoFit/>
          </a:bodyPr>
          <a:lstStyle/>
          <a:p>
            <a:r>
              <a:rPr lang="en-US" sz="1400" b="1" dirty="0"/>
              <a:t>Vignette </a:t>
            </a:r>
            <a:r>
              <a:rPr lang="en-US" sz="1400" b="1"/>
              <a:t># 1 Bonus</a:t>
            </a:r>
            <a:endParaRPr lang="en-US" sz="1400" b="1" dirty="0"/>
          </a:p>
          <a:p>
            <a:endParaRPr lang="en-US" sz="1400" dirty="0"/>
          </a:p>
          <a:p>
            <a:r>
              <a:rPr lang="en-US" sz="1400"/>
              <a:t>ED visit data is simpler than hospitalization data — a patient, a date, no duration. But the same design decisions apply. An ED visit is also defined by its hospital — a patient who visits Hospital A and Hospital B on the same day had two visits, not one.</a:t>
            </a:r>
            <a:endParaRPr lang="en-US" sz="1400" dirty="0"/>
          </a:p>
        </p:txBody>
      </p:sp>
    </p:spTree>
    <p:extLst>
      <p:ext uri="{BB962C8B-B14F-4D97-AF65-F5344CB8AC3E}">
        <p14:creationId xmlns:p14="http://schemas.microsoft.com/office/powerpoint/2010/main" val="2759647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0E7D-1CA3-21FC-C82F-D1452708450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48C611-43D0-CEF1-1E36-267BE7467D22}"/>
              </a:ext>
            </a:extLst>
          </p:cNvPr>
          <p:cNvSpPr txBox="1"/>
          <p:nvPr/>
        </p:nvSpPr>
        <p:spPr>
          <a:xfrm>
            <a:off x="-34290" y="-8405"/>
            <a:ext cx="4606290" cy="369332"/>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With Eventus:</a:t>
            </a:r>
          </a:p>
        </p:txBody>
      </p:sp>
      <p:sp>
        <p:nvSpPr>
          <p:cNvPr id="36" name="TextBox 35">
            <a:extLst>
              <a:ext uri="{FF2B5EF4-FFF2-40B4-BE49-F238E27FC236}">
                <a16:creationId xmlns:a16="http://schemas.microsoft.com/office/drawing/2014/main" id="{5A72D7E9-52FB-35A5-2C66-EF37E964E833}"/>
              </a:ext>
            </a:extLst>
          </p:cNvPr>
          <p:cNvSpPr txBox="1"/>
          <p:nvPr/>
        </p:nvSpPr>
        <p:spPr>
          <a:xfrm>
            <a:off x="3646628" y="307027"/>
            <a:ext cx="1317540" cy="738664"/>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Cleaner Config YAML</a:t>
            </a:r>
          </a:p>
        </p:txBody>
      </p:sp>
      <p:sp>
        <p:nvSpPr>
          <p:cNvPr id="37" name="TextBox 36">
            <a:extLst>
              <a:ext uri="{FF2B5EF4-FFF2-40B4-BE49-F238E27FC236}">
                <a16:creationId xmlns:a16="http://schemas.microsoft.com/office/drawing/2014/main" id="{F9615B1A-52AB-FC35-777F-E7AF72D3D82B}"/>
              </a:ext>
            </a:extLst>
          </p:cNvPr>
          <p:cNvSpPr txBox="1"/>
          <p:nvPr/>
        </p:nvSpPr>
        <p:spPr>
          <a:xfrm>
            <a:off x="-281991" y="1550385"/>
            <a:ext cx="1634424" cy="523220"/>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Semantics</a:t>
            </a:r>
            <a:br>
              <a:rPr lang="en-US" sz="1400">
                <a:latin typeface="Montserrat" panose="00000500000000000000" pitchFamily="2" charset="0"/>
                <a:ea typeface="Roboto" panose="02000000000000000000" pitchFamily="2" charset="0"/>
                <a:cs typeface="Roboto" panose="02000000000000000000" pitchFamily="2" charset="0"/>
              </a:rPr>
            </a:br>
            <a:r>
              <a:rPr lang="en-US" sz="1400">
                <a:latin typeface="Montserrat" panose="00000500000000000000" pitchFamily="2" charset="0"/>
                <a:ea typeface="Roboto" panose="02000000000000000000" pitchFamily="2" charset="0"/>
                <a:cs typeface="Roboto" panose="02000000000000000000" pitchFamily="2" charset="0"/>
              </a:rPr>
              <a:t>YAML</a:t>
            </a:r>
          </a:p>
        </p:txBody>
      </p:sp>
      <p:sp>
        <p:nvSpPr>
          <p:cNvPr id="40" name="TextBox 39">
            <a:extLst>
              <a:ext uri="{FF2B5EF4-FFF2-40B4-BE49-F238E27FC236}">
                <a16:creationId xmlns:a16="http://schemas.microsoft.com/office/drawing/2014/main" id="{1DCC8261-322F-261A-6597-ED669A363F6F}"/>
              </a:ext>
            </a:extLst>
          </p:cNvPr>
          <p:cNvSpPr txBox="1"/>
          <p:nvPr/>
        </p:nvSpPr>
        <p:spPr>
          <a:xfrm>
            <a:off x="7338771" y="2706750"/>
            <a:ext cx="2156098"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Report</a:t>
            </a:r>
          </a:p>
        </p:txBody>
      </p:sp>
      <p:sp>
        <p:nvSpPr>
          <p:cNvPr id="46" name="TextBox 45">
            <a:extLst>
              <a:ext uri="{FF2B5EF4-FFF2-40B4-BE49-F238E27FC236}">
                <a16:creationId xmlns:a16="http://schemas.microsoft.com/office/drawing/2014/main" id="{7E9EDF8A-0162-133F-EB75-56EE252354F4}"/>
              </a:ext>
            </a:extLst>
          </p:cNvPr>
          <p:cNvSpPr txBox="1"/>
          <p:nvPr/>
        </p:nvSpPr>
        <p:spPr>
          <a:xfrm>
            <a:off x="1680465" y="2860640"/>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pic>
        <p:nvPicPr>
          <p:cNvPr id="3" name="Picture 2">
            <a:extLst>
              <a:ext uri="{FF2B5EF4-FFF2-40B4-BE49-F238E27FC236}">
                <a16:creationId xmlns:a16="http://schemas.microsoft.com/office/drawing/2014/main" id="{FFE4F5FF-44F6-2799-7DE1-1BF80FD88891}"/>
              </a:ext>
            </a:extLst>
          </p:cNvPr>
          <p:cNvPicPr>
            <a:picLocks noChangeAspect="1"/>
          </p:cNvPicPr>
          <p:nvPr/>
        </p:nvPicPr>
        <p:blipFill>
          <a:blip r:embed="rId2"/>
          <a:stretch>
            <a:fillRect/>
          </a:stretch>
        </p:blipFill>
        <p:spPr>
          <a:xfrm>
            <a:off x="1214847" y="1304165"/>
            <a:ext cx="2968976" cy="1402585"/>
          </a:xfrm>
          <a:prstGeom prst="rect">
            <a:avLst/>
          </a:prstGeom>
        </p:spPr>
      </p:pic>
      <p:pic>
        <p:nvPicPr>
          <p:cNvPr id="6" name="Picture 5">
            <a:extLst>
              <a:ext uri="{FF2B5EF4-FFF2-40B4-BE49-F238E27FC236}">
                <a16:creationId xmlns:a16="http://schemas.microsoft.com/office/drawing/2014/main" id="{045A7A29-3B59-CC82-6545-EFCEF0C0A902}"/>
              </a:ext>
            </a:extLst>
          </p:cNvPr>
          <p:cNvPicPr>
            <a:picLocks noChangeAspect="1"/>
          </p:cNvPicPr>
          <p:nvPr/>
        </p:nvPicPr>
        <p:blipFill>
          <a:blip r:embed="rId3"/>
          <a:stretch>
            <a:fillRect/>
          </a:stretch>
        </p:blipFill>
        <p:spPr>
          <a:xfrm>
            <a:off x="5321432" y="2537"/>
            <a:ext cx="3467701" cy="1771310"/>
          </a:xfrm>
          <a:prstGeom prst="rect">
            <a:avLst/>
          </a:prstGeom>
        </p:spPr>
      </p:pic>
      <p:pic>
        <p:nvPicPr>
          <p:cNvPr id="10" name="Picture 9">
            <a:extLst>
              <a:ext uri="{FF2B5EF4-FFF2-40B4-BE49-F238E27FC236}">
                <a16:creationId xmlns:a16="http://schemas.microsoft.com/office/drawing/2014/main" id="{E7A33B8D-DD8D-C0D4-8E85-F42FFD9AE381}"/>
              </a:ext>
            </a:extLst>
          </p:cNvPr>
          <p:cNvPicPr>
            <a:picLocks noChangeAspect="1"/>
          </p:cNvPicPr>
          <p:nvPr/>
        </p:nvPicPr>
        <p:blipFill>
          <a:blip r:embed="rId4"/>
          <a:stretch>
            <a:fillRect/>
          </a:stretch>
        </p:blipFill>
        <p:spPr>
          <a:xfrm>
            <a:off x="216227" y="3509552"/>
            <a:ext cx="4858000" cy="1149409"/>
          </a:xfrm>
          <a:prstGeom prst="rect">
            <a:avLst/>
          </a:prstGeom>
        </p:spPr>
      </p:pic>
      <p:pic>
        <p:nvPicPr>
          <p:cNvPr id="14" name="Picture 13">
            <a:extLst>
              <a:ext uri="{FF2B5EF4-FFF2-40B4-BE49-F238E27FC236}">
                <a16:creationId xmlns:a16="http://schemas.microsoft.com/office/drawing/2014/main" id="{E4C857D3-0936-F18A-A48F-A8C91CED046C}"/>
              </a:ext>
            </a:extLst>
          </p:cNvPr>
          <p:cNvPicPr>
            <a:picLocks noChangeAspect="1"/>
          </p:cNvPicPr>
          <p:nvPr/>
        </p:nvPicPr>
        <p:blipFill>
          <a:blip r:embed="rId5"/>
          <a:stretch>
            <a:fillRect/>
          </a:stretch>
        </p:blipFill>
        <p:spPr>
          <a:xfrm>
            <a:off x="5942343" y="3248060"/>
            <a:ext cx="3016405" cy="1352620"/>
          </a:xfrm>
          <a:prstGeom prst="rect">
            <a:avLst/>
          </a:prstGeom>
        </p:spPr>
      </p:pic>
    </p:spTree>
    <p:extLst>
      <p:ext uri="{BB962C8B-B14F-4D97-AF65-F5344CB8AC3E}">
        <p14:creationId xmlns:p14="http://schemas.microsoft.com/office/powerpoint/2010/main" val="3448095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9849B-42EC-CBE6-3039-C809ABB0A6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532FD-4B4F-13B7-2F2C-49688BC1F194}"/>
              </a:ext>
            </a:extLst>
          </p:cNvPr>
          <p:cNvSpPr>
            <a:spLocks noGrp="1"/>
          </p:cNvSpPr>
          <p:nvPr>
            <p:ph type="title"/>
          </p:nvPr>
        </p:nvSpPr>
        <p:spPr/>
        <p:txBody>
          <a:bodyPr/>
          <a:lstStyle/>
          <a:p>
            <a:pPr algn="l"/>
            <a:r>
              <a:rPr lang="en-US"/>
              <a:t>Architecture</a:t>
            </a:r>
          </a:p>
        </p:txBody>
      </p:sp>
      <p:sp>
        <p:nvSpPr>
          <p:cNvPr id="3" name="Text Placeholder 2">
            <a:extLst>
              <a:ext uri="{FF2B5EF4-FFF2-40B4-BE49-F238E27FC236}">
                <a16:creationId xmlns:a16="http://schemas.microsoft.com/office/drawing/2014/main" id="{6F155FFD-11D7-3C52-1F22-75C03339D5FF}"/>
              </a:ext>
            </a:extLst>
          </p:cNvPr>
          <p:cNvSpPr>
            <a:spLocks noGrp="1"/>
          </p:cNvSpPr>
          <p:nvPr>
            <p:ph type="body" idx="1"/>
          </p:nvPr>
        </p:nvSpPr>
        <p:spPr/>
        <p:txBody>
          <a:bodyPr/>
          <a:lstStyle/>
          <a:p>
            <a:r>
              <a:rPr lang="en-US"/>
              <a:t>Abstraction</a:t>
            </a:r>
          </a:p>
          <a:p>
            <a:r>
              <a:rPr lang="en-US"/>
              <a:t>Transparency</a:t>
            </a:r>
          </a:p>
          <a:p>
            <a:r>
              <a:rPr lang="en-US"/>
              <a:t>Reproducibility</a:t>
            </a:r>
          </a:p>
        </p:txBody>
      </p:sp>
    </p:spTree>
    <p:extLst>
      <p:ext uri="{BB962C8B-B14F-4D97-AF65-F5344CB8AC3E}">
        <p14:creationId xmlns:p14="http://schemas.microsoft.com/office/powerpoint/2010/main" val="4247944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6626E-754E-90A5-C750-75506B1827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F21EF0-00F1-010D-BC21-4BCF4735C809}"/>
              </a:ext>
            </a:extLst>
          </p:cNvPr>
          <p:cNvSpPr txBox="1"/>
          <p:nvPr/>
        </p:nvSpPr>
        <p:spPr>
          <a:xfrm>
            <a:off x="5695406" y="0"/>
            <a:ext cx="3448594" cy="646331"/>
          </a:xfrm>
          <a:prstGeom prst="rect">
            <a:avLst/>
          </a:prstGeom>
          <a:noFill/>
          <a:ln>
            <a:solidFill>
              <a:schemeClr val="tx1"/>
            </a:solidFill>
          </a:ln>
        </p:spPr>
        <p:txBody>
          <a:bodyPr wrap="square" rtlCol="0">
            <a:spAutoFit/>
          </a:bodyPr>
          <a:lstStyle/>
          <a:p>
            <a:pPr algn="ctr"/>
            <a:r>
              <a:rPr lang="en-US"/>
              <a:t>Reproducibility: </a:t>
            </a:r>
            <a:br>
              <a:rPr lang="en-US"/>
            </a:br>
            <a:r>
              <a:rPr lang="en-US"/>
              <a:t>Configuration-friendly objects</a:t>
            </a:r>
          </a:p>
        </p:txBody>
      </p:sp>
      <mc:AlternateContent xmlns:mc="http://schemas.openxmlformats.org/markup-compatibility/2006" xmlns:p14="http://schemas.microsoft.com/office/powerpoint/2010/main">
        <mc:Choice Requires="p14">
          <p:contentPart p14:bwMode="auto" r:id="rId2">
            <p14:nvContentPartPr>
              <p14:cNvPr id="25" name="Ink 24">
                <a:extLst>
                  <a:ext uri="{FF2B5EF4-FFF2-40B4-BE49-F238E27FC236}">
                    <a16:creationId xmlns:a16="http://schemas.microsoft.com/office/drawing/2014/main" id="{934C1257-0597-70AC-ABBC-46F404245F6D}"/>
                  </a:ext>
                </a:extLst>
              </p14:cNvPr>
              <p14:cNvContentPartPr/>
              <p14:nvPr/>
            </p14:nvContentPartPr>
            <p14:xfrm>
              <a:off x="4036269" y="653091"/>
              <a:ext cx="360" cy="360"/>
            </p14:xfrm>
          </p:contentPart>
        </mc:Choice>
        <mc:Fallback xmlns="">
          <p:pic>
            <p:nvPicPr>
              <p:cNvPr id="25" name="Ink 24">
                <a:extLst>
                  <a:ext uri="{FF2B5EF4-FFF2-40B4-BE49-F238E27FC236}">
                    <a16:creationId xmlns:a16="http://schemas.microsoft.com/office/drawing/2014/main" id="{68DB5CBF-D701-D322-4416-C438505D842C}"/>
                  </a:ext>
                </a:extLst>
              </p:cNvPr>
              <p:cNvPicPr/>
              <p:nvPr/>
            </p:nvPicPr>
            <p:blipFill>
              <a:blip r:embed="rId23"/>
              <a:stretch>
                <a:fillRect/>
              </a:stretch>
            </p:blipFill>
            <p:spPr>
              <a:xfrm>
                <a:off x="4030149" y="646971"/>
                <a:ext cx="12600" cy="12600"/>
              </a:xfrm>
              <a:prstGeom prst="rect">
                <a:avLst/>
              </a:prstGeom>
            </p:spPr>
          </p:pic>
        </mc:Fallback>
      </mc:AlternateContent>
      <p:sp>
        <p:nvSpPr>
          <p:cNvPr id="23" name="TextBox 22">
            <a:extLst>
              <a:ext uri="{FF2B5EF4-FFF2-40B4-BE49-F238E27FC236}">
                <a16:creationId xmlns:a16="http://schemas.microsoft.com/office/drawing/2014/main" id="{C30085CE-B221-AF99-8754-B7ED129D807B}"/>
              </a:ext>
            </a:extLst>
          </p:cNvPr>
          <p:cNvSpPr txBox="1"/>
          <p:nvPr/>
        </p:nvSpPr>
        <p:spPr>
          <a:xfrm>
            <a:off x="229234" y="2787055"/>
            <a:ext cx="4572000" cy="1384995"/>
          </a:xfrm>
          <a:prstGeom prst="rect">
            <a:avLst/>
          </a:prstGeom>
          <a:noFill/>
        </p:spPr>
        <p:txBody>
          <a:bodyPr wrap="square">
            <a:spAutoFit/>
          </a:bodyPr>
          <a:lstStyle/>
          <a:p>
            <a:r>
              <a:rPr lang="en-US" sz="1200" b="1"/>
              <a:t>Why is the semantics abstraction needed:</a:t>
            </a:r>
          </a:p>
          <a:p>
            <a:r>
              <a:rPr lang="en-US" sz="1200"/>
              <a:t>A pandas DataFrame does not know what its columns mean — 'begin_date' could be a birth date, a coverage start, or a contract signing. </a:t>
            </a:r>
          </a:p>
          <a:p>
            <a:r>
              <a:rPr lang="en-US" sz="1200"/>
              <a:t>Semantics objects solve this once. Define them at the top of your analysis, pass them into data objects, and everything downstream just works — regardless of what your columns are named.</a:t>
            </a:r>
          </a:p>
        </p:txBody>
      </p:sp>
      <p:sp>
        <p:nvSpPr>
          <p:cNvPr id="7" name="TextBox 6">
            <a:extLst>
              <a:ext uri="{FF2B5EF4-FFF2-40B4-BE49-F238E27FC236}">
                <a16:creationId xmlns:a16="http://schemas.microsoft.com/office/drawing/2014/main" id="{6F50E3F5-BB79-2DC0-B257-815FC6EE8DA5}"/>
              </a:ext>
            </a:extLst>
          </p:cNvPr>
          <p:cNvSpPr txBox="1"/>
          <p:nvPr/>
        </p:nvSpPr>
        <p:spPr>
          <a:xfrm>
            <a:off x="314143" y="385748"/>
            <a:ext cx="2468881" cy="1569660"/>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dirty="0" err="1">
                <a:latin typeface="Consolas" panose="020B0609020204030204" pitchFamily="49" charset="0"/>
                <a:cs typeface="Times New Roman" panose="02020603050405020304" pitchFamily="18" charset="0"/>
              </a:rPr>
              <a:t>EventSemantics</a:t>
            </a:r>
            <a:endParaRPr lang="en-US" sz="1200" b="1" dirty="0">
              <a:latin typeface="Consolas" panose="020B0609020204030204" pitchFamily="49" charset="0"/>
              <a:cs typeface="Times New Roman" panose="02020603050405020304" pitchFamily="18" charset="0"/>
            </a:endParaRPr>
          </a:p>
          <a:p>
            <a:pPr algn="ctr"/>
            <a:r>
              <a:rPr lang="en-US" sz="1200" dirty="0">
                <a:latin typeface="Centaur" panose="02030504050205020304" pitchFamily="18" charset="0"/>
                <a:cs typeface="Times New Roman" panose="02020603050405020304" pitchFamily="18" charset="0"/>
              </a:rPr>
              <a:t>type: str</a:t>
            </a:r>
          </a:p>
          <a:p>
            <a:pPr algn="ctr"/>
            <a:r>
              <a:rPr lang="en-US" sz="1200" dirty="0" err="1">
                <a:latin typeface="Centaur" panose="02030504050205020304" pitchFamily="18" charset="0"/>
                <a:cs typeface="Times New Roman" panose="02020603050405020304" pitchFamily="18" charset="0"/>
              </a:rPr>
              <a:t>entity_id_col</a:t>
            </a:r>
            <a:r>
              <a:rPr lang="en-US" sz="1200" dirty="0">
                <a:latin typeface="Centaur" panose="02030504050205020304" pitchFamily="18" charset="0"/>
                <a:cs typeface="Times New Roman" panose="02020603050405020304" pitchFamily="18" charset="0"/>
              </a:rPr>
              <a:t>: str</a:t>
            </a:r>
          </a:p>
          <a:p>
            <a:pPr algn="ctr"/>
            <a:r>
              <a:rPr lang="en-US" sz="1200" dirty="0" err="1">
                <a:latin typeface="Centaur" panose="02030504050205020304" pitchFamily="18" charset="0"/>
                <a:cs typeface="Times New Roman" panose="02020603050405020304" pitchFamily="18" charset="0"/>
              </a:rPr>
              <a:t>start_time_col</a:t>
            </a:r>
            <a:r>
              <a:rPr lang="en-US" sz="1200" dirty="0">
                <a:latin typeface="Centaur" panose="02030504050205020304" pitchFamily="18" charset="0"/>
                <a:cs typeface="Times New Roman" panose="02020603050405020304" pitchFamily="18" charset="0"/>
              </a:rPr>
              <a:t>: str</a:t>
            </a:r>
          </a:p>
          <a:p>
            <a:pPr algn="ctr"/>
            <a:r>
              <a:rPr lang="en-US" sz="1200" dirty="0" err="1">
                <a:latin typeface="Centaur" panose="02030504050205020304" pitchFamily="18" charset="0"/>
                <a:cs typeface="Times New Roman" panose="02020603050405020304" pitchFamily="18" charset="0"/>
              </a:rPr>
              <a:t>end_time_col</a:t>
            </a:r>
            <a:r>
              <a:rPr lang="en-US" sz="1200" dirty="0">
                <a:latin typeface="Centaur" panose="02030504050205020304" pitchFamily="18" charset="0"/>
                <a:cs typeface="Times New Roman" panose="02020603050405020304" pitchFamily="18" charset="0"/>
              </a:rPr>
              <a:t>: str</a:t>
            </a:r>
            <a:br>
              <a:rPr lang="en-US" sz="1200" dirty="0">
                <a:latin typeface="Centaur" panose="02030504050205020304" pitchFamily="18" charset="0"/>
                <a:cs typeface="Times New Roman" panose="02020603050405020304" pitchFamily="18" charset="0"/>
              </a:rPr>
            </a:br>
            <a:r>
              <a:rPr lang="en-US" sz="1200" dirty="0" err="1">
                <a:latin typeface="Centaur" panose="02030504050205020304" pitchFamily="18" charset="0"/>
                <a:cs typeface="Times New Roman" panose="02020603050405020304" pitchFamily="18" charset="0"/>
              </a:rPr>
              <a:t>event_id_col</a:t>
            </a:r>
            <a:r>
              <a:rPr lang="en-US" sz="1200" dirty="0">
                <a:latin typeface="Centaur" panose="02030504050205020304" pitchFamily="18" charset="0"/>
                <a:cs typeface="Times New Roman" panose="02020603050405020304" pitchFamily="18" charset="0"/>
              </a:rPr>
              <a:t>: </a:t>
            </a:r>
            <a:r>
              <a:rPr lang="en-US" sz="1200" dirty="0" err="1">
                <a:latin typeface="Centaur" panose="02030504050205020304" pitchFamily="18" charset="0"/>
                <a:cs typeface="Times New Roman" panose="02020603050405020304" pitchFamily="18" charset="0"/>
              </a:rPr>
              <a:t>str|None</a:t>
            </a:r>
            <a:br>
              <a:rPr lang="en-US" sz="1200" dirty="0">
                <a:latin typeface="Centaur" panose="02030504050205020304" pitchFamily="18" charset="0"/>
                <a:cs typeface="Times New Roman" panose="02020603050405020304" pitchFamily="18" charset="0"/>
              </a:rPr>
            </a:br>
            <a:r>
              <a:rPr lang="en-US" sz="1200" dirty="0" err="1">
                <a:latin typeface="Centaur" panose="02030504050205020304" pitchFamily="18" charset="0"/>
                <a:cs typeface="Times New Roman" panose="02020603050405020304" pitchFamily="18" charset="0"/>
              </a:rPr>
              <a:t>event_type_col</a:t>
            </a:r>
            <a:r>
              <a:rPr lang="en-US" sz="1200" dirty="0">
                <a:latin typeface="Centaur" panose="02030504050205020304" pitchFamily="18" charset="0"/>
                <a:cs typeface="Times New Roman" panose="02020603050405020304" pitchFamily="18" charset="0"/>
              </a:rPr>
              <a:t>: </a:t>
            </a:r>
            <a:r>
              <a:rPr lang="en-US" sz="1200" dirty="0" err="1">
                <a:latin typeface="Centaur" panose="02030504050205020304" pitchFamily="18" charset="0"/>
                <a:cs typeface="Times New Roman" panose="02020603050405020304" pitchFamily="18" charset="0"/>
              </a:rPr>
              <a:t>str|None</a:t>
            </a:r>
            <a:br>
              <a:rPr lang="en-US" sz="1200" dirty="0">
                <a:latin typeface="Centaur" panose="02030504050205020304" pitchFamily="18" charset="0"/>
                <a:cs typeface="Times New Roman" panose="02020603050405020304" pitchFamily="18" charset="0"/>
              </a:rPr>
            </a:br>
            <a:r>
              <a:rPr lang="en-US" sz="1200" dirty="0" err="1">
                <a:latin typeface="Centaur" panose="02030504050205020304" pitchFamily="18" charset="0"/>
                <a:cs typeface="Times New Roman" panose="02020603050405020304" pitchFamily="18" charset="0"/>
              </a:rPr>
              <a:t>metadata_cols</a:t>
            </a:r>
            <a:r>
              <a:rPr lang="en-US" sz="1200" dirty="0">
                <a:latin typeface="Centaur" panose="02030504050205020304" pitchFamily="18" charset="0"/>
                <a:cs typeface="Times New Roman" panose="02020603050405020304" pitchFamily="18" charset="0"/>
              </a:rPr>
              <a:t>: list[str]</a:t>
            </a:r>
          </a:p>
        </p:txBody>
      </p:sp>
      <p:sp>
        <p:nvSpPr>
          <p:cNvPr id="6" name="TextBox 5">
            <a:extLst>
              <a:ext uri="{FF2B5EF4-FFF2-40B4-BE49-F238E27FC236}">
                <a16:creationId xmlns:a16="http://schemas.microsoft.com/office/drawing/2014/main" id="{017B5E74-A7B8-53EB-11E3-8B38D86E6E97}"/>
              </a:ext>
            </a:extLst>
          </p:cNvPr>
          <p:cNvSpPr txBox="1"/>
          <p:nvPr/>
        </p:nvSpPr>
        <p:spPr>
          <a:xfrm>
            <a:off x="3261360" y="385748"/>
            <a:ext cx="5882640" cy="1569660"/>
          </a:xfrm>
          <a:prstGeom prst="rect">
            <a:avLst/>
          </a:prstGeom>
          <a:noFill/>
        </p:spPr>
        <p:txBody>
          <a:bodyPr wrap="square" rtlCol="0">
            <a:spAutoFit/>
          </a:bodyPr>
          <a:lstStyle/>
          <a:p>
            <a:r>
              <a:rPr lang="en-US" sz="1200" b="1">
                <a:latin typeface="Consolas" panose="020B0609020204030204" pitchFamily="49" charset="0"/>
              </a:rPr>
              <a:t>Constructor</a:t>
            </a:r>
          </a:p>
          <a:p>
            <a:r>
              <a:rPr lang="en-US" sz="1200">
                <a:latin typeface="Consolas" panose="020B0609020204030204" pitchFamily="49" charset="0"/>
              </a:rPr>
              <a:t>__post__init()</a:t>
            </a:r>
          </a:p>
          <a:p>
            <a:endParaRPr lang="en-US" sz="1200" b="1">
              <a:latin typeface="Consolas" panose="020B0609020204030204" pitchFamily="49" charset="0"/>
            </a:endParaRPr>
          </a:p>
          <a:p>
            <a:r>
              <a:rPr lang="en-US" sz="1200" b="1">
                <a:latin typeface="Consolas" panose="020B0609020204030204" pitchFamily="49" charset="0"/>
              </a:rPr>
              <a:t>Constructors as Class Methods</a:t>
            </a:r>
          </a:p>
          <a:p>
            <a:r>
              <a:rPr lang="en-US" sz="1200" i="1">
                <a:latin typeface="Consolas" panose="020B0609020204030204" pitchFamily="49" charset="0"/>
              </a:rPr>
              <a:t>build_from_yaml</a:t>
            </a:r>
            <a:r>
              <a:rPr lang="en-US" sz="1200">
                <a:latin typeface="Consolas" panose="020B0609020204030204" pitchFamily="49" charset="0"/>
              </a:rPr>
              <a:t>(path) -&gt; EventSemantics</a:t>
            </a:r>
          </a:p>
          <a:p>
            <a:endParaRPr lang="en-US" sz="1200">
              <a:latin typeface="Consolas" panose="020B0609020204030204" pitchFamily="49" charset="0"/>
            </a:endParaRPr>
          </a:p>
          <a:p>
            <a:r>
              <a:rPr lang="en-US" sz="1200" b="1">
                <a:latin typeface="Consolas" panose="020B0609020204030204" pitchFamily="49" charset="0"/>
              </a:rPr>
              <a:t>Methods</a:t>
            </a:r>
          </a:p>
          <a:p>
            <a:r>
              <a:rPr lang="en-US" sz="1200">
                <a:latin typeface="Consolas" panose="020B0609020204030204" pitchFamily="49" charset="0"/>
              </a:rPr>
              <a:t>__repr__() -&gt; str</a:t>
            </a:r>
          </a:p>
        </p:txBody>
      </p:sp>
    </p:spTree>
    <p:extLst>
      <p:ext uri="{BB962C8B-B14F-4D97-AF65-F5344CB8AC3E}">
        <p14:creationId xmlns:p14="http://schemas.microsoft.com/office/powerpoint/2010/main" val="1011636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C83FA-FBCB-E98B-9AEF-B67CEA0DC89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59085B-5A58-8E86-2CE7-9B0A310534AE}"/>
              </a:ext>
            </a:extLst>
          </p:cNvPr>
          <p:cNvSpPr txBox="1"/>
          <p:nvPr/>
        </p:nvSpPr>
        <p:spPr>
          <a:xfrm>
            <a:off x="5695406" y="0"/>
            <a:ext cx="3448594" cy="646331"/>
          </a:xfrm>
          <a:prstGeom prst="rect">
            <a:avLst/>
          </a:prstGeom>
          <a:noFill/>
          <a:ln>
            <a:solidFill>
              <a:schemeClr val="tx1"/>
            </a:solidFill>
          </a:ln>
        </p:spPr>
        <p:txBody>
          <a:bodyPr wrap="square" rtlCol="0">
            <a:spAutoFit/>
          </a:bodyPr>
          <a:lstStyle/>
          <a:p>
            <a:pPr algn="ctr"/>
            <a:r>
              <a:rPr lang="en-US"/>
              <a:t>Reproducibility: </a:t>
            </a:r>
            <a:br>
              <a:rPr lang="en-US"/>
            </a:br>
            <a:r>
              <a:rPr lang="en-US"/>
              <a:t>Configuration-friendly objects</a:t>
            </a:r>
          </a:p>
        </p:txBody>
      </p:sp>
      <mc:AlternateContent xmlns:mc="http://schemas.openxmlformats.org/markup-compatibility/2006" xmlns:p14="http://schemas.microsoft.com/office/powerpoint/2010/main">
        <mc:Choice Requires="p14">
          <p:contentPart p14:bwMode="auto" r:id="rId2">
            <p14:nvContentPartPr>
              <p14:cNvPr id="25" name="Ink 24">
                <a:extLst>
                  <a:ext uri="{FF2B5EF4-FFF2-40B4-BE49-F238E27FC236}">
                    <a16:creationId xmlns:a16="http://schemas.microsoft.com/office/drawing/2014/main" id="{3D758C38-C513-606F-2D08-6676F272D555}"/>
                  </a:ext>
                </a:extLst>
              </p14:cNvPr>
              <p14:cNvContentPartPr/>
              <p14:nvPr/>
            </p14:nvContentPartPr>
            <p14:xfrm>
              <a:off x="4036269" y="653091"/>
              <a:ext cx="360" cy="360"/>
            </p14:xfrm>
          </p:contentPart>
        </mc:Choice>
        <mc:Fallback xmlns="">
          <p:pic>
            <p:nvPicPr>
              <p:cNvPr id="25" name="Ink 24">
                <a:extLst>
                  <a:ext uri="{FF2B5EF4-FFF2-40B4-BE49-F238E27FC236}">
                    <a16:creationId xmlns:a16="http://schemas.microsoft.com/office/drawing/2014/main" id="{68DB5CBF-D701-D322-4416-C438505D842C}"/>
                  </a:ext>
                </a:extLst>
              </p:cNvPr>
              <p:cNvPicPr/>
              <p:nvPr/>
            </p:nvPicPr>
            <p:blipFill>
              <a:blip r:embed="rId23"/>
              <a:stretch>
                <a:fillRect/>
              </a:stretch>
            </p:blipFill>
            <p:spPr>
              <a:xfrm>
                <a:off x="4030149" y="646971"/>
                <a:ext cx="12600" cy="12600"/>
              </a:xfrm>
              <a:prstGeom prst="rect">
                <a:avLst/>
              </a:prstGeom>
            </p:spPr>
          </p:pic>
        </mc:Fallback>
      </mc:AlternateContent>
      <p:sp>
        <p:nvSpPr>
          <p:cNvPr id="5" name="TextBox 4">
            <a:extLst>
              <a:ext uri="{FF2B5EF4-FFF2-40B4-BE49-F238E27FC236}">
                <a16:creationId xmlns:a16="http://schemas.microsoft.com/office/drawing/2014/main" id="{2AFE607F-FC0D-C0EC-244E-5063290D7460}"/>
              </a:ext>
            </a:extLst>
          </p:cNvPr>
          <p:cNvSpPr txBox="1"/>
          <p:nvPr/>
        </p:nvSpPr>
        <p:spPr>
          <a:xfrm>
            <a:off x="3596184" y="1176866"/>
            <a:ext cx="1951632" cy="400110"/>
          </a:xfrm>
          <a:prstGeom prst="rect">
            <a:avLst/>
          </a:prstGeom>
          <a:noFill/>
        </p:spPr>
        <p:txBody>
          <a:bodyPr wrap="square" rtlCol="0">
            <a:spAutoFit/>
          </a:bodyPr>
          <a:lstStyle/>
          <a:p>
            <a:pPr algn="ctr"/>
            <a:r>
              <a:rPr lang="en-US" sz="1000" i="1"/>
              <a:t>EventsCleanerConfig.build_from_yaml(filename)</a:t>
            </a:r>
          </a:p>
        </p:txBody>
      </p:sp>
      <p:sp>
        <p:nvSpPr>
          <p:cNvPr id="7" name="TextBox 6">
            <a:extLst>
              <a:ext uri="{FF2B5EF4-FFF2-40B4-BE49-F238E27FC236}">
                <a16:creationId xmlns:a16="http://schemas.microsoft.com/office/drawing/2014/main" id="{A7A1C2F2-5693-9B9B-A859-FEC5B12EE87A}"/>
              </a:ext>
            </a:extLst>
          </p:cNvPr>
          <p:cNvSpPr txBox="1"/>
          <p:nvPr/>
        </p:nvSpPr>
        <p:spPr>
          <a:xfrm>
            <a:off x="6286784" y="1510849"/>
            <a:ext cx="2468881" cy="276999"/>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EventsCleanerConfig </a:t>
            </a:r>
            <a:r>
              <a:rPr lang="en-US" sz="1200">
                <a:latin typeface="Consolas" panose="020B0609020204030204" pitchFamily="49" charset="0"/>
                <a:cs typeface="Times New Roman" panose="02020603050405020304" pitchFamily="18" charset="0"/>
              </a:rPr>
              <a:t>object</a:t>
            </a:r>
            <a:endParaRPr lang="en-US" sz="1200" b="1">
              <a:latin typeface="Consolas" panose="020B0609020204030204" pitchFamily="49" charset="0"/>
              <a:cs typeface="Times New Roman" panose="02020603050405020304" pitchFamily="18" charset="0"/>
            </a:endParaRPr>
          </a:p>
        </p:txBody>
      </p:sp>
      <p:sp>
        <p:nvSpPr>
          <p:cNvPr id="12" name="TextBox 11">
            <a:extLst>
              <a:ext uri="{FF2B5EF4-FFF2-40B4-BE49-F238E27FC236}">
                <a16:creationId xmlns:a16="http://schemas.microsoft.com/office/drawing/2014/main" id="{F7EF3D30-5F23-AC86-BCD1-5C9737C8B31A}"/>
              </a:ext>
            </a:extLst>
          </p:cNvPr>
          <p:cNvSpPr txBox="1"/>
          <p:nvPr/>
        </p:nvSpPr>
        <p:spPr>
          <a:xfrm>
            <a:off x="3128554" y="2038493"/>
            <a:ext cx="5480075" cy="600164"/>
          </a:xfrm>
          <a:prstGeom prst="rect">
            <a:avLst/>
          </a:prstGeom>
          <a:noFill/>
        </p:spPr>
        <p:txBody>
          <a:bodyPr wrap="square">
            <a:spAutoFit/>
          </a:bodyPr>
          <a:lstStyle/>
          <a:p>
            <a:pPr algn="ctr"/>
            <a:r>
              <a:rPr lang="en-US" sz="1100" dirty="0"/>
              <a:t>Validates on construction that the entries in the configuration are sensical. If you write a cleaning-thing that does not exist or an option that does not exist, it throws the error. </a:t>
            </a:r>
          </a:p>
          <a:p>
            <a:pPr algn="ctr"/>
            <a:r>
              <a:rPr lang="en-US" sz="1100" dirty="0"/>
              <a:t>Once again, declarative construction acts both as configuration and documentation"</a:t>
            </a:r>
          </a:p>
        </p:txBody>
      </p:sp>
      <p:cxnSp>
        <p:nvCxnSpPr>
          <p:cNvPr id="14" name="Straight Arrow Connector 13">
            <a:extLst>
              <a:ext uri="{FF2B5EF4-FFF2-40B4-BE49-F238E27FC236}">
                <a16:creationId xmlns:a16="http://schemas.microsoft.com/office/drawing/2014/main" id="{8DAD26CF-A897-05C7-88A9-1B6123373C46}"/>
              </a:ext>
            </a:extLst>
          </p:cNvPr>
          <p:cNvCxnSpPr/>
          <p:nvPr/>
        </p:nvCxnSpPr>
        <p:spPr>
          <a:xfrm>
            <a:off x="3726814" y="1649348"/>
            <a:ext cx="16903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E8B8831-83F7-CD66-3C05-E59EDDE96CA4}"/>
              </a:ext>
            </a:extLst>
          </p:cNvPr>
          <p:cNvPicPr>
            <a:picLocks noChangeAspect="1"/>
          </p:cNvPicPr>
          <p:nvPr/>
        </p:nvPicPr>
        <p:blipFill>
          <a:blip r:embed="rId24"/>
          <a:stretch>
            <a:fillRect/>
          </a:stretch>
        </p:blipFill>
        <p:spPr>
          <a:xfrm>
            <a:off x="1783641" y="3355649"/>
            <a:ext cx="4703452" cy="738807"/>
          </a:xfrm>
          <a:prstGeom prst="rect">
            <a:avLst/>
          </a:prstGeom>
        </p:spPr>
      </p:pic>
      <p:sp>
        <p:nvSpPr>
          <p:cNvPr id="13" name="TextBox 12">
            <a:extLst>
              <a:ext uri="{FF2B5EF4-FFF2-40B4-BE49-F238E27FC236}">
                <a16:creationId xmlns:a16="http://schemas.microsoft.com/office/drawing/2014/main" id="{68487F23-EEC6-211A-C108-1682DC173C18}"/>
              </a:ext>
            </a:extLst>
          </p:cNvPr>
          <p:cNvSpPr txBox="1"/>
          <p:nvPr/>
        </p:nvSpPr>
        <p:spPr>
          <a:xfrm>
            <a:off x="2560320" y="3035328"/>
            <a:ext cx="2606226" cy="369332"/>
          </a:xfrm>
          <a:prstGeom prst="rect">
            <a:avLst/>
          </a:prstGeom>
          <a:noFill/>
        </p:spPr>
        <p:txBody>
          <a:bodyPr wrap="none" rtlCol="0">
            <a:spAutoFit/>
          </a:bodyPr>
          <a:lstStyle/>
          <a:p>
            <a:r>
              <a:rPr lang="en-US"/>
              <a:t>Examples of raised errors:</a:t>
            </a:r>
          </a:p>
        </p:txBody>
      </p:sp>
      <p:pic>
        <p:nvPicPr>
          <p:cNvPr id="16" name="Picture 15">
            <a:extLst>
              <a:ext uri="{FF2B5EF4-FFF2-40B4-BE49-F238E27FC236}">
                <a16:creationId xmlns:a16="http://schemas.microsoft.com/office/drawing/2014/main" id="{8BA3B51E-EF4C-DEF2-045E-8336794BA8FD}"/>
              </a:ext>
            </a:extLst>
          </p:cNvPr>
          <p:cNvPicPr>
            <a:picLocks noChangeAspect="1"/>
          </p:cNvPicPr>
          <p:nvPr/>
        </p:nvPicPr>
        <p:blipFill>
          <a:blip r:embed="rId25"/>
          <a:stretch>
            <a:fillRect/>
          </a:stretch>
        </p:blipFill>
        <p:spPr>
          <a:xfrm>
            <a:off x="1094677" y="4154446"/>
            <a:ext cx="6902805" cy="615982"/>
          </a:xfrm>
          <a:prstGeom prst="rect">
            <a:avLst/>
          </a:prstGeom>
        </p:spPr>
      </p:pic>
      <p:sp>
        <p:nvSpPr>
          <p:cNvPr id="17" name="TextBox 16">
            <a:extLst>
              <a:ext uri="{FF2B5EF4-FFF2-40B4-BE49-F238E27FC236}">
                <a16:creationId xmlns:a16="http://schemas.microsoft.com/office/drawing/2014/main" id="{5DD0EF73-3561-6A72-7EFE-1C0EA11A8631}"/>
              </a:ext>
            </a:extLst>
          </p:cNvPr>
          <p:cNvSpPr txBox="1"/>
          <p:nvPr/>
        </p:nvSpPr>
        <p:spPr>
          <a:xfrm>
            <a:off x="7055572" y="3274664"/>
            <a:ext cx="1990457" cy="461665"/>
          </a:xfrm>
          <a:prstGeom prst="rect">
            <a:avLst/>
          </a:prstGeom>
          <a:noFill/>
        </p:spPr>
        <p:txBody>
          <a:bodyPr wrap="square" rtlCol="0">
            <a:spAutoFit/>
          </a:bodyPr>
          <a:lstStyle/>
          <a:p>
            <a:r>
              <a:rPr lang="en-US" sz="1200"/>
              <a:t>*** Lets make this snapshot from either linux or VSCode</a:t>
            </a:r>
          </a:p>
        </p:txBody>
      </p:sp>
      <p:pic>
        <p:nvPicPr>
          <p:cNvPr id="3" name="Picture 2">
            <a:extLst>
              <a:ext uri="{FF2B5EF4-FFF2-40B4-BE49-F238E27FC236}">
                <a16:creationId xmlns:a16="http://schemas.microsoft.com/office/drawing/2014/main" id="{856A12AB-4B8E-ABD1-1A40-16A7EDD5517E}"/>
              </a:ext>
            </a:extLst>
          </p:cNvPr>
          <p:cNvPicPr>
            <a:picLocks noChangeAspect="1"/>
          </p:cNvPicPr>
          <p:nvPr/>
        </p:nvPicPr>
        <p:blipFill>
          <a:blip r:embed="rId26"/>
          <a:stretch>
            <a:fillRect/>
          </a:stretch>
        </p:blipFill>
        <p:spPr>
          <a:xfrm>
            <a:off x="164663" y="585376"/>
            <a:ext cx="3408118" cy="1291855"/>
          </a:xfrm>
          <a:prstGeom prst="rect">
            <a:avLst/>
          </a:prstGeom>
        </p:spPr>
      </p:pic>
    </p:spTree>
    <p:extLst>
      <p:ext uri="{BB962C8B-B14F-4D97-AF65-F5344CB8AC3E}">
        <p14:creationId xmlns:p14="http://schemas.microsoft.com/office/powerpoint/2010/main" val="826071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B9D03B-9E30-AA41-89DD-F52445622685}"/>
              </a:ext>
            </a:extLst>
          </p:cNvPr>
          <p:cNvSpPr txBox="1"/>
          <p:nvPr/>
        </p:nvSpPr>
        <p:spPr>
          <a:xfrm>
            <a:off x="6544491" y="614497"/>
            <a:ext cx="2468881" cy="461665"/>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CleanerConfig</a:t>
            </a:r>
          </a:p>
          <a:p>
            <a:pPr algn="ctr"/>
            <a:endParaRPr lang="en-US" sz="1200">
              <a:latin typeface="Consolas" panose="020B0609020204030204" pitchFamily="49" charset="0"/>
              <a:cs typeface="Times New Roman" panose="02020603050405020304" pitchFamily="18" charset="0"/>
            </a:endParaRPr>
          </a:p>
        </p:txBody>
      </p:sp>
      <p:cxnSp>
        <p:nvCxnSpPr>
          <p:cNvPr id="5" name="Straight Arrow Connector 4">
            <a:extLst>
              <a:ext uri="{FF2B5EF4-FFF2-40B4-BE49-F238E27FC236}">
                <a16:creationId xmlns:a16="http://schemas.microsoft.com/office/drawing/2014/main" id="{E521C67B-8A1D-20FD-9FD3-55BA72734AA8}"/>
              </a:ext>
            </a:extLst>
          </p:cNvPr>
          <p:cNvCxnSpPr>
            <a:cxnSpLocks/>
          </p:cNvCxnSpPr>
          <p:nvPr/>
        </p:nvCxnSpPr>
        <p:spPr>
          <a:xfrm flipV="1">
            <a:off x="3782269" y="822013"/>
            <a:ext cx="2076994" cy="6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93F916D-6780-210A-4A25-08B7647C1569}"/>
              </a:ext>
            </a:extLst>
          </p:cNvPr>
          <p:cNvSpPr txBox="1"/>
          <p:nvPr/>
        </p:nvSpPr>
        <p:spPr>
          <a:xfrm>
            <a:off x="7097555" y="3917966"/>
            <a:ext cx="1170145" cy="276999"/>
          </a:xfrm>
          <a:prstGeom prst="rect">
            <a:avLst/>
          </a:prstGeom>
          <a:noFill/>
          <a:ln>
            <a:solidFill>
              <a:schemeClr val="tx1"/>
            </a:solidFill>
          </a:ln>
        </p:spPr>
        <p:txBody>
          <a:bodyPr wrap="square">
            <a:spAutoFit/>
          </a:bodyPr>
          <a:lstStyle/>
          <a:p>
            <a:pPr algn="ctr"/>
            <a:r>
              <a:rPr lang="en-US" sz="1200"/>
              <a:t>pd.Dataframe</a:t>
            </a:r>
          </a:p>
        </p:txBody>
      </p:sp>
      <p:cxnSp>
        <p:nvCxnSpPr>
          <p:cNvPr id="12" name="Straight Arrow Connector 11">
            <a:extLst>
              <a:ext uri="{FF2B5EF4-FFF2-40B4-BE49-F238E27FC236}">
                <a16:creationId xmlns:a16="http://schemas.microsoft.com/office/drawing/2014/main" id="{5105D144-EE26-80B1-D87B-ECF15D63877E}"/>
              </a:ext>
            </a:extLst>
          </p:cNvPr>
          <p:cNvCxnSpPr>
            <a:cxnSpLocks/>
            <a:stCxn id="2" idx="2"/>
          </p:cNvCxnSpPr>
          <p:nvPr/>
        </p:nvCxnSpPr>
        <p:spPr>
          <a:xfrm flipH="1">
            <a:off x="6021421" y="1076162"/>
            <a:ext cx="1757511" cy="1778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49B66A5-ECF9-8771-8E1A-37694D670FD2}"/>
              </a:ext>
            </a:extLst>
          </p:cNvPr>
          <p:cNvCxnSpPr>
            <a:cxnSpLocks/>
            <a:stCxn id="11" idx="0"/>
          </p:cNvCxnSpPr>
          <p:nvPr/>
        </p:nvCxnSpPr>
        <p:spPr>
          <a:xfrm flipH="1" flipV="1">
            <a:off x="6021421" y="3489042"/>
            <a:ext cx="1661207" cy="428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6172A34-DA94-F09E-1B60-7D53E8B1CD3D}"/>
              </a:ext>
            </a:extLst>
          </p:cNvPr>
          <p:cNvCxnSpPr>
            <a:cxnSpLocks/>
          </p:cNvCxnSpPr>
          <p:nvPr/>
        </p:nvCxnSpPr>
        <p:spPr>
          <a:xfrm flipH="1">
            <a:off x="2834640" y="3263490"/>
            <a:ext cx="10515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3FDE468-392C-7953-BC87-B6245F73D380}"/>
              </a:ext>
            </a:extLst>
          </p:cNvPr>
          <p:cNvSpPr txBox="1"/>
          <p:nvPr/>
        </p:nvSpPr>
        <p:spPr>
          <a:xfrm>
            <a:off x="106155" y="3119709"/>
            <a:ext cx="2468881" cy="276999"/>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p>
        </p:txBody>
      </p:sp>
      <p:sp>
        <p:nvSpPr>
          <p:cNvPr id="27" name="TextBox 26">
            <a:extLst>
              <a:ext uri="{FF2B5EF4-FFF2-40B4-BE49-F238E27FC236}">
                <a16:creationId xmlns:a16="http://schemas.microsoft.com/office/drawing/2014/main" id="{C314148D-C7EC-BCEA-A0CC-AD8AAA07E6AC}"/>
              </a:ext>
            </a:extLst>
          </p:cNvPr>
          <p:cNvSpPr txBox="1"/>
          <p:nvPr/>
        </p:nvSpPr>
        <p:spPr>
          <a:xfrm>
            <a:off x="0" y="2633961"/>
            <a:ext cx="2575036" cy="400110"/>
          </a:xfrm>
          <a:prstGeom prst="rect">
            <a:avLst/>
          </a:prstGeom>
          <a:noFill/>
        </p:spPr>
        <p:txBody>
          <a:bodyPr wrap="square">
            <a:spAutoFit/>
          </a:bodyPr>
          <a:lstStyle/>
          <a:p>
            <a:r>
              <a:rPr lang="en-US" sz="1000">
                <a:latin typeface="Times New Roman" panose="02020603050405020304" pitchFamily="18" charset="0"/>
                <a:cs typeface="Times New Roman" panose="02020603050405020304" pitchFamily="18" charset="0"/>
              </a:rPr>
              <a:t>The DataFrame inside this object is clean. Every row passed every rule.</a:t>
            </a:r>
          </a:p>
        </p:txBody>
      </p:sp>
      <p:cxnSp>
        <p:nvCxnSpPr>
          <p:cNvPr id="28" name="Straight Arrow Connector 27">
            <a:extLst>
              <a:ext uri="{FF2B5EF4-FFF2-40B4-BE49-F238E27FC236}">
                <a16:creationId xmlns:a16="http://schemas.microsoft.com/office/drawing/2014/main" id="{861F23B3-5D2D-B1CA-E42E-1224ED07F824}"/>
              </a:ext>
            </a:extLst>
          </p:cNvPr>
          <p:cNvCxnSpPr>
            <a:cxnSpLocks/>
          </p:cNvCxnSpPr>
          <p:nvPr/>
        </p:nvCxnSpPr>
        <p:spPr>
          <a:xfrm flipH="1">
            <a:off x="2720340" y="3410609"/>
            <a:ext cx="1318260" cy="784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3A43601-9F93-A574-E5E1-9845D32F98A4}"/>
              </a:ext>
            </a:extLst>
          </p:cNvPr>
          <p:cNvSpPr txBox="1"/>
          <p:nvPr/>
        </p:nvSpPr>
        <p:spPr>
          <a:xfrm>
            <a:off x="3215883" y="3914373"/>
            <a:ext cx="2552122" cy="707886"/>
          </a:xfrm>
          <a:prstGeom prst="rect">
            <a:avLst/>
          </a:prstGeom>
          <a:noFill/>
        </p:spPr>
        <p:txBody>
          <a:bodyPr wrap="square">
            <a:spAutoFit/>
          </a:bodyPr>
          <a:lstStyle/>
          <a:p>
            <a:r>
              <a:rPr lang="en-US" sz="1000">
                <a:latin typeface="Times New Roman" panose="02020603050405020304" pitchFamily="18" charset="0"/>
                <a:cs typeface="Times New Roman" panose="02020603050405020304" pitchFamily="18" charset="0"/>
              </a:rPr>
              <a:t>Complete transparency — every dropped row has a named reason, with counts and percentages. Ready for your methods and results section.</a:t>
            </a:r>
          </a:p>
        </p:txBody>
      </p:sp>
      <p:sp>
        <p:nvSpPr>
          <p:cNvPr id="33" name="TextBox 32">
            <a:extLst>
              <a:ext uri="{FF2B5EF4-FFF2-40B4-BE49-F238E27FC236}">
                <a16:creationId xmlns:a16="http://schemas.microsoft.com/office/drawing/2014/main" id="{4D058370-16BA-CD8E-5BE4-F72C5B1E9594}"/>
              </a:ext>
            </a:extLst>
          </p:cNvPr>
          <p:cNvSpPr txBox="1"/>
          <p:nvPr/>
        </p:nvSpPr>
        <p:spPr>
          <a:xfrm>
            <a:off x="4405407" y="3076569"/>
            <a:ext cx="2922815" cy="276999"/>
          </a:xfrm>
          <a:custGeom>
            <a:avLst/>
            <a:gdLst>
              <a:gd name="csX0" fmla="*/ 0 w 2922815"/>
              <a:gd name="csY0" fmla="*/ 0 h 276999"/>
              <a:gd name="csX1" fmla="*/ 2922815 w 2922815"/>
              <a:gd name="csY1" fmla="*/ 0 h 276999"/>
              <a:gd name="csX2" fmla="*/ 2922815 w 2922815"/>
              <a:gd name="csY2" fmla="*/ 276999 h 276999"/>
              <a:gd name="csX3" fmla="*/ 0 w 2922815"/>
              <a:gd name="csY3" fmla="*/ 276999 h 276999"/>
              <a:gd name="csX4" fmla="*/ 0 w 2922815"/>
              <a:gd name="csY4" fmla="*/ 0 h 276999"/>
            </a:gdLst>
            <a:ahLst/>
            <a:cxnLst>
              <a:cxn ang="0">
                <a:pos x="csX0" y="csY0"/>
              </a:cxn>
              <a:cxn ang="0">
                <a:pos x="csX1" y="csY1"/>
              </a:cxn>
              <a:cxn ang="0">
                <a:pos x="csX2" y="csY2"/>
              </a:cxn>
              <a:cxn ang="0">
                <a:pos x="csX3" y="csY3"/>
              </a:cxn>
              <a:cxn ang="0">
                <a:pos x="csX4" y="csY4"/>
              </a:cxn>
            </a:cxnLst>
            <a:rect l="l" t="t" r="r" b="b"/>
            <a:pathLst>
              <a:path w="2922815" h="276999" fill="none" extrusionOk="0">
                <a:moveTo>
                  <a:pt x="0" y="0"/>
                </a:moveTo>
                <a:cubicBezTo>
                  <a:pt x="355566" y="-130955"/>
                  <a:pt x="1815757" y="60629"/>
                  <a:pt x="2922815" y="0"/>
                </a:cubicBezTo>
                <a:cubicBezTo>
                  <a:pt x="2917705" y="61300"/>
                  <a:pt x="2912748" y="153708"/>
                  <a:pt x="2922815" y="276999"/>
                </a:cubicBezTo>
                <a:cubicBezTo>
                  <a:pt x="2415729" y="244168"/>
                  <a:pt x="508035" y="187355"/>
                  <a:pt x="0" y="276999"/>
                </a:cubicBezTo>
                <a:cubicBezTo>
                  <a:pt x="-8774" y="238354"/>
                  <a:pt x="11105" y="69729"/>
                  <a:pt x="0" y="0"/>
                </a:cubicBezTo>
                <a:close/>
              </a:path>
              <a:path w="2922815" h="276999" stroke="0" extrusionOk="0">
                <a:moveTo>
                  <a:pt x="0" y="0"/>
                </a:moveTo>
                <a:cubicBezTo>
                  <a:pt x="1326380" y="-145685"/>
                  <a:pt x="1476772" y="120332"/>
                  <a:pt x="2922815" y="0"/>
                </a:cubicBezTo>
                <a:cubicBezTo>
                  <a:pt x="2929541" y="58512"/>
                  <a:pt x="2933659" y="185972"/>
                  <a:pt x="2922815" y="276999"/>
                </a:cubicBezTo>
                <a:cubicBezTo>
                  <a:pt x="2105533" y="134500"/>
                  <a:pt x="437425" y="427977"/>
                  <a:pt x="0" y="276999"/>
                </a:cubicBezTo>
                <a:cubicBezTo>
                  <a:pt x="6173" y="189448"/>
                  <a:pt x="-16538" y="126583"/>
                  <a:pt x="0" y="0"/>
                </a:cubicBezTo>
                <a:close/>
              </a:path>
            </a:pathLst>
          </a:custGeom>
          <a:ln>
            <a:solidFill>
              <a:schemeClr val="bg1"/>
            </a:solidFill>
            <a:extLst>
              <a:ext uri="{C807C97D-BFC1-408E-A445-0C87EB9F89A2}">
                <ask:lineSketchStyleProps xmlns:ask="http://schemas.microsoft.com/office/drawing/2018/sketchyshapes" sd="1730981762">
                  <a:prstGeom prst="rect">
                    <a:avLst/>
                  </a:prstGeom>
                  <ask:type>
                    <ask:lineSketchCurved/>
                  </ask:type>
                </ask:lineSketchStyleProps>
              </a:ext>
            </a:extLst>
          </a:ln>
          <a:effectLst>
            <a:glow rad="101600">
              <a:srgbClr val="C0000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EventsCleaner</a:t>
            </a:r>
          </a:p>
        </p:txBody>
      </p:sp>
      <p:pic>
        <p:nvPicPr>
          <p:cNvPr id="3" name="Picture 2">
            <a:extLst>
              <a:ext uri="{FF2B5EF4-FFF2-40B4-BE49-F238E27FC236}">
                <a16:creationId xmlns:a16="http://schemas.microsoft.com/office/drawing/2014/main" id="{BAC41AFB-33DE-909A-309B-773BDB66A788}"/>
              </a:ext>
            </a:extLst>
          </p:cNvPr>
          <p:cNvPicPr>
            <a:picLocks noChangeAspect="1"/>
          </p:cNvPicPr>
          <p:nvPr/>
        </p:nvPicPr>
        <p:blipFill>
          <a:blip r:embed="rId2"/>
          <a:stretch>
            <a:fillRect/>
          </a:stretch>
        </p:blipFill>
        <p:spPr>
          <a:xfrm>
            <a:off x="106155" y="33912"/>
            <a:ext cx="3408118" cy="1291855"/>
          </a:xfrm>
          <a:prstGeom prst="rect">
            <a:avLst/>
          </a:prstGeom>
        </p:spPr>
      </p:pic>
      <p:pic>
        <p:nvPicPr>
          <p:cNvPr id="4" name="Picture 3">
            <a:extLst>
              <a:ext uri="{FF2B5EF4-FFF2-40B4-BE49-F238E27FC236}">
                <a16:creationId xmlns:a16="http://schemas.microsoft.com/office/drawing/2014/main" id="{B21DA7FD-7319-F782-59CA-8D44FA029602}"/>
              </a:ext>
            </a:extLst>
          </p:cNvPr>
          <p:cNvPicPr>
            <a:picLocks noChangeAspect="1"/>
          </p:cNvPicPr>
          <p:nvPr/>
        </p:nvPicPr>
        <p:blipFill>
          <a:blip r:embed="rId3"/>
          <a:srcRect t="36833"/>
          <a:stretch>
            <a:fillRect/>
          </a:stretch>
        </p:blipFill>
        <p:spPr>
          <a:xfrm>
            <a:off x="-7004" y="3802787"/>
            <a:ext cx="2395733" cy="1291856"/>
          </a:xfrm>
          <a:prstGeom prst="rect">
            <a:avLst/>
          </a:prstGeom>
        </p:spPr>
      </p:pic>
      <p:sp>
        <p:nvSpPr>
          <p:cNvPr id="6" name="TextBox 5">
            <a:extLst>
              <a:ext uri="{FF2B5EF4-FFF2-40B4-BE49-F238E27FC236}">
                <a16:creationId xmlns:a16="http://schemas.microsoft.com/office/drawing/2014/main" id="{70C30D90-97A8-97A0-5F73-057633CF0278}"/>
              </a:ext>
            </a:extLst>
          </p:cNvPr>
          <p:cNvSpPr txBox="1"/>
          <p:nvPr/>
        </p:nvSpPr>
        <p:spPr>
          <a:xfrm>
            <a:off x="3095864" y="961268"/>
            <a:ext cx="3382233" cy="553998"/>
          </a:xfrm>
          <a:prstGeom prst="rect">
            <a:avLst/>
          </a:prstGeom>
          <a:noFill/>
        </p:spPr>
        <p:txBody>
          <a:bodyPr wrap="square">
            <a:spAutoFit/>
          </a:bodyPr>
          <a:lstStyle/>
          <a:p>
            <a:r>
              <a:rPr lang="en-US" sz="1000">
                <a:latin typeface="Times New Roman" panose="02020603050405020304" pitchFamily="18" charset="0"/>
                <a:cs typeface="Times New Roman" panose="02020603050405020304" pitchFamily="18" charset="0"/>
              </a:rPr>
              <a:t>Declarative construction. Unknown keys and invalid options raise immediately — your cleaning choices are explicit, versioned, and reproducible</a:t>
            </a:r>
          </a:p>
        </p:txBody>
      </p:sp>
      <p:sp>
        <p:nvSpPr>
          <p:cNvPr id="8" name="TextBox 7">
            <a:extLst>
              <a:ext uri="{FF2B5EF4-FFF2-40B4-BE49-F238E27FC236}">
                <a16:creationId xmlns:a16="http://schemas.microsoft.com/office/drawing/2014/main" id="{9F1EF0BF-33B4-B5BE-86E5-25D4C1977232}"/>
              </a:ext>
            </a:extLst>
          </p:cNvPr>
          <p:cNvSpPr txBox="1"/>
          <p:nvPr/>
        </p:nvSpPr>
        <p:spPr>
          <a:xfrm>
            <a:off x="3415269" y="2027195"/>
            <a:ext cx="3016800" cy="738664"/>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The cleaner then consumes a dataframe and the configuration object</a:t>
            </a:r>
          </a:p>
        </p:txBody>
      </p:sp>
      <p:sp>
        <p:nvSpPr>
          <p:cNvPr id="13" name="TextBox 12">
            <a:extLst>
              <a:ext uri="{FF2B5EF4-FFF2-40B4-BE49-F238E27FC236}">
                <a16:creationId xmlns:a16="http://schemas.microsoft.com/office/drawing/2014/main" id="{C3A68A82-7E17-3425-D869-023C8C50930F}"/>
              </a:ext>
            </a:extLst>
          </p:cNvPr>
          <p:cNvSpPr txBox="1"/>
          <p:nvPr/>
        </p:nvSpPr>
        <p:spPr>
          <a:xfrm>
            <a:off x="2388729" y="49219"/>
            <a:ext cx="4581796"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A YAML can create a configuration object</a:t>
            </a:r>
          </a:p>
        </p:txBody>
      </p:sp>
    </p:spTree>
    <p:extLst>
      <p:ext uri="{BB962C8B-B14F-4D97-AF65-F5344CB8AC3E}">
        <p14:creationId xmlns:p14="http://schemas.microsoft.com/office/powerpoint/2010/main" val="1797076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0075B-BD41-D2E6-3846-891E48C585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EC86F6A-2D08-2CD3-14B3-7960846FF045}"/>
              </a:ext>
            </a:extLst>
          </p:cNvPr>
          <p:cNvSpPr txBox="1"/>
          <p:nvPr/>
        </p:nvSpPr>
        <p:spPr>
          <a:xfrm>
            <a:off x="209005" y="2961550"/>
            <a:ext cx="2922815" cy="830997"/>
          </a:xfrm>
          <a:custGeom>
            <a:avLst/>
            <a:gdLst>
              <a:gd name="csX0" fmla="*/ 0 w 2922815"/>
              <a:gd name="csY0" fmla="*/ 0 h 830997"/>
              <a:gd name="csX1" fmla="*/ 2922815 w 2922815"/>
              <a:gd name="csY1" fmla="*/ 0 h 830997"/>
              <a:gd name="csX2" fmla="*/ 2922815 w 2922815"/>
              <a:gd name="csY2" fmla="*/ 830997 h 830997"/>
              <a:gd name="csX3" fmla="*/ 0 w 2922815"/>
              <a:gd name="csY3" fmla="*/ 830997 h 830997"/>
              <a:gd name="csX4" fmla="*/ 0 w 2922815"/>
              <a:gd name="csY4" fmla="*/ 0 h 830997"/>
            </a:gdLst>
            <a:ahLst/>
            <a:cxnLst>
              <a:cxn ang="0">
                <a:pos x="csX0" y="csY0"/>
              </a:cxn>
              <a:cxn ang="0">
                <a:pos x="csX1" y="csY1"/>
              </a:cxn>
              <a:cxn ang="0">
                <a:pos x="csX2" y="csY2"/>
              </a:cxn>
              <a:cxn ang="0">
                <a:pos x="csX3" y="csY3"/>
              </a:cxn>
              <a:cxn ang="0">
                <a:pos x="csX4" y="csY4"/>
              </a:cxn>
            </a:cxnLst>
            <a:rect l="l" t="t" r="r" b="b"/>
            <a:pathLst>
              <a:path w="2922815" h="830997" fill="none" extrusionOk="0">
                <a:moveTo>
                  <a:pt x="0" y="0"/>
                </a:moveTo>
                <a:cubicBezTo>
                  <a:pt x="355566" y="-130955"/>
                  <a:pt x="1815757" y="60629"/>
                  <a:pt x="2922815" y="0"/>
                </a:cubicBezTo>
                <a:cubicBezTo>
                  <a:pt x="2917705" y="121524"/>
                  <a:pt x="2862889" y="451653"/>
                  <a:pt x="2922815" y="830997"/>
                </a:cubicBezTo>
                <a:cubicBezTo>
                  <a:pt x="2415729" y="798166"/>
                  <a:pt x="508035" y="741353"/>
                  <a:pt x="0" y="830997"/>
                </a:cubicBezTo>
                <a:cubicBezTo>
                  <a:pt x="41085" y="721302"/>
                  <a:pt x="11105" y="326204"/>
                  <a:pt x="0" y="0"/>
                </a:cubicBezTo>
                <a:close/>
              </a:path>
              <a:path w="2922815" h="830997" stroke="0" extrusionOk="0">
                <a:moveTo>
                  <a:pt x="0" y="0"/>
                </a:moveTo>
                <a:cubicBezTo>
                  <a:pt x="1326380" y="-145685"/>
                  <a:pt x="1476772" y="120332"/>
                  <a:pt x="2922815" y="0"/>
                </a:cubicBezTo>
                <a:cubicBezTo>
                  <a:pt x="2979401" y="341217"/>
                  <a:pt x="2883799" y="468452"/>
                  <a:pt x="2922815" y="830997"/>
                </a:cubicBezTo>
                <a:cubicBezTo>
                  <a:pt x="2105533" y="688498"/>
                  <a:pt x="437425" y="981975"/>
                  <a:pt x="0" y="830997"/>
                </a:cubicBezTo>
                <a:cubicBezTo>
                  <a:pt x="6173" y="664514"/>
                  <a:pt x="-16538" y="379586"/>
                  <a:pt x="0" y="0"/>
                </a:cubicBezTo>
                <a:close/>
              </a:path>
            </a:pathLst>
          </a:custGeom>
          <a:solidFill>
            <a:schemeClr val="bg1"/>
          </a:solidFill>
          <a:ln>
            <a:solidFill>
              <a:schemeClr val="bg1"/>
            </a:solidFill>
            <a:extLst>
              <a:ext uri="{C807C97D-BFC1-408E-A445-0C87EB9F89A2}">
                <ask:lineSketchStyleProps xmlns:ask="http://schemas.microsoft.com/office/drawing/2018/sketchyshapes" sd="1730981762">
                  <a:prstGeom prst="rect">
                    <a:avLst/>
                  </a:prstGeom>
                  <ask:type>
                    <ask:lineSketchCurved/>
                  </ask:type>
                </ask:lineSketchStyleProps>
              </a:ext>
            </a:extLst>
          </a:ln>
          <a:effectLst>
            <a:glow rad="101600">
              <a:srgbClr val="C0000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EventsCleaner</a:t>
            </a:r>
          </a:p>
          <a:p>
            <a:pPr algn="ctr"/>
            <a:r>
              <a:rPr lang="en-US" sz="1200">
                <a:latin typeface="Consolas" panose="020B0609020204030204" pitchFamily="49" charset="0"/>
                <a:cs typeface="Times New Roman" panose="02020603050405020304" pitchFamily="18" charset="0"/>
              </a:rPr>
              <a:t>data: pd.DataFrame</a:t>
            </a:r>
          </a:p>
          <a:p>
            <a:pPr algn="ctr"/>
            <a:r>
              <a:rPr lang="en-US" sz="1200">
                <a:latin typeface="Consolas" panose="020B0609020204030204" pitchFamily="49" charset="0"/>
                <a:cs typeface="Times New Roman" panose="02020603050405020304" pitchFamily="18" charset="0"/>
              </a:rPr>
              <a:t>semantics: EventSemantics</a:t>
            </a:r>
          </a:p>
          <a:p>
            <a:pPr algn="ctr"/>
            <a:r>
              <a:rPr lang="en-US" sz="1200">
                <a:latin typeface="Consolas" panose="020B0609020204030204" pitchFamily="49" charset="0"/>
                <a:cs typeface="Times New Roman" panose="02020603050405020304" pitchFamily="18" charset="0"/>
              </a:rPr>
              <a:t>config: EventsCleanerConfig|None</a:t>
            </a:r>
          </a:p>
        </p:txBody>
      </p:sp>
      <p:sp>
        <p:nvSpPr>
          <p:cNvPr id="4" name="TextBox 3">
            <a:extLst>
              <a:ext uri="{FF2B5EF4-FFF2-40B4-BE49-F238E27FC236}">
                <a16:creationId xmlns:a16="http://schemas.microsoft.com/office/drawing/2014/main" id="{A03A41F1-3A6A-4945-F046-F079500918C9}"/>
              </a:ext>
            </a:extLst>
          </p:cNvPr>
          <p:cNvSpPr txBox="1"/>
          <p:nvPr/>
        </p:nvSpPr>
        <p:spPr>
          <a:xfrm>
            <a:off x="3424646" y="172630"/>
            <a:ext cx="5882640" cy="1384995"/>
          </a:xfrm>
          <a:prstGeom prst="rect">
            <a:avLst/>
          </a:prstGeom>
          <a:noFill/>
        </p:spPr>
        <p:txBody>
          <a:bodyPr wrap="square" rtlCol="0">
            <a:spAutoFit/>
          </a:bodyPr>
          <a:lstStyle/>
          <a:p>
            <a:r>
              <a:rPr lang="en-US" sz="1200" b="1">
                <a:latin typeface="Consolas" panose="020B0609020204030204" pitchFamily="49" charset="0"/>
              </a:rPr>
              <a:t>Constructors as Class Methods</a:t>
            </a:r>
          </a:p>
          <a:p>
            <a:r>
              <a:rPr lang="en-US" sz="1200" i="1">
                <a:latin typeface="Consolas" panose="020B0609020204030204" pitchFamily="49" charset="0"/>
              </a:rPr>
              <a:t>build_from_yaml</a:t>
            </a:r>
            <a:r>
              <a:rPr lang="en-US" sz="1200">
                <a:latin typeface="Consolas" panose="020B0609020204030204" pitchFamily="49" charset="0"/>
              </a:rPr>
              <a:t>(path) -&gt; EventsCleanerConfig</a:t>
            </a:r>
          </a:p>
          <a:p>
            <a:r>
              <a:rPr lang="en-US" sz="1200">
                <a:latin typeface="Consolas" panose="020B0609020204030204" pitchFamily="49" charset="0"/>
              </a:rPr>
              <a:t>build_with_defaults() -&gt; EventsCleanerConfig</a:t>
            </a:r>
          </a:p>
          <a:p>
            <a:endParaRPr lang="en-US" sz="1200">
              <a:latin typeface="Consolas" panose="020B0609020204030204" pitchFamily="49" charset="0"/>
            </a:endParaRPr>
          </a:p>
          <a:p>
            <a:r>
              <a:rPr lang="en-US" sz="1200" b="1">
                <a:latin typeface="Consolas" panose="020B0609020204030204" pitchFamily="49" charset="0"/>
              </a:rPr>
              <a:t>Methods</a:t>
            </a:r>
          </a:p>
          <a:p>
            <a:r>
              <a:rPr lang="en-US" sz="1200">
                <a:latin typeface="Consolas" panose="020B0609020204030204" pitchFamily="49" charset="0"/>
              </a:rPr>
              <a:t>to_yaml(path) -&gt; None</a:t>
            </a:r>
          </a:p>
          <a:p>
            <a:r>
              <a:rPr lang="en-US" sz="1200">
                <a:latin typeface="Consolas" panose="020B0609020204030204" pitchFamily="49" charset="0"/>
              </a:rPr>
              <a:t>__repr__() -&gt; str</a:t>
            </a:r>
          </a:p>
        </p:txBody>
      </p:sp>
      <p:sp>
        <p:nvSpPr>
          <p:cNvPr id="2" name="TextBox 1">
            <a:extLst>
              <a:ext uri="{FF2B5EF4-FFF2-40B4-BE49-F238E27FC236}">
                <a16:creationId xmlns:a16="http://schemas.microsoft.com/office/drawing/2014/main" id="{4F674944-ABAD-1C25-36A6-3DDEE6FF7A9D}"/>
              </a:ext>
            </a:extLst>
          </p:cNvPr>
          <p:cNvSpPr txBox="1"/>
          <p:nvPr/>
        </p:nvSpPr>
        <p:spPr>
          <a:xfrm>
            <a:off x="209005" y="172630"/>
            <a:ext cx="2922815" cy="2123658"/>
          </a:xfrm>
          <a:prstGeom prst="rect">
            <a:avLst/>
          </a:prstGeom>
          <a:ln w="38100">
            <a:solidFill>
              <a:schemeClr val="bg1"/>
            </a:solidFill>
          </a:ln>
          <a:effectLst>
            <a:glow rad="139700">
              <a:schemeClr val="accent2">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EventsCleanerConfig</a:t>
            </a:r>
          </a:p>
          <a:p>
            <a:pPr algn="ctr"/>
            <a:r>
              <a:rPr lang="en-US" sz="1200">
                <a:latin typeface="Consolas" panose="020B0609020204030204" pitchFamily="49" charset="0"/>
                <a:cs typeface="Times New Roman" panose="02020603050405020304" pitchFamily="18" charset="0"/>
              </a:rPr>
              <a:t>normalize_dates: bool</a:t>
            </a:r>
          </a:p>
          <a:p>
            <a:pPr algn="ctr"/>
            <a:r>
              <a:rPr lang="en-US" sz="1200">
                <a:latin typeface="Consolas" panose="020B0609020204030204" pitchFamily="49" charset="0"/>
                <a:cs typeface="Times New Roman" panose="02020603050405020304" pitchFamily="18" charset="0"/>
              </a:rPr>
              <a:t>coalesce_dates: bool</a:t>
            </a:r>
          </a:p>
          <a:p>
            <a:pPr algn="ctr"/>
            <a:r>
              <a:rPr lang="en-US" sz="1200">
                <a:latin typeface="Consolas" panose="020B0609020204030204" pitchFamily="49" charset="0"/>
                <a:cs typeface="Times New Roman" panose="02020603050405020304" pitchFamily="18" charset="0"/>
              </a:rPr>
              <a:t>causality_check: bool</a:t>
            </a:r>
          </a:p>
          <a:p>
            <a:pPr algn="ctr"/>
            <a:r>
              <a:rPr lang="en-US" sz="1200">
                <a:latin typeface="Consolas" panose="020B0609020204030204" pitchFamily="49" charset="0"/>
                <a:cs typeface="Times New Roman" panose="02020603050405020304" pitchFamily="18" charset="0"/>
              </a:rPr>
              <a:t>parse_dates: bool</a:t>
            </a:r>
          </a:p>
          <a:p>
            <a:pPr algn="ctr"/>
            <a:r>
              <a:rPr lang="en-US" sz="1200">
                <a:latin typeface="Consolas" panose="020B0609020204030204" pitchFamily="49" charset="0"/>
                <a:cs typeface="Times New Roman" panose="02020603050405020304" pitchFamily="18" charset="0"/>
              </a:rPr>
              <a:t>drop_duplicates: bool</a:t>
            </a:r>
          </a:p>
          <a:p>
            <a:pPr algn="ctr"/>
            <a:r>
              <a:rPr lang="en-US" sz="1200">
                <a:latin typeface="Consolas" panose="020B0609020204030204" pitchFamily="49" charset="0"/>
                <a:cs typeface="Times New Roman" panose="02020603050405020304" pitchFamily="18" charset="0"/>
              </a:rPr>
              <a:t>merge_overlapping: bool</a:t>
            </a:r>
          </a:p>
          <a:p>
            <a:pPr algn="ctr"/>
            <a:r>
              <a:rPr lang="en-US" sz="1200">
                <a:latin typeface="Consolas" panose="020B0609020204030204" pitchFamily="49" charset="0"/>
                <a:cs typeface="Times New Roman" panose="02020603050405020304" pitchFamily="18" charset="0"/>
              </a:rPr>
              <a:t>meaningful_gap: int</a:t>
            </a:r>
          </a:p>
          <a:p>
            <a:pPr algn="ctr"/>
            <a:r>
              <a:rPr lang="en-US" sz="1200">
                <a:latin typeface="Consolas" panose="020B0609020204030204" pitchFamily="49" charset="0"/>
                <a:cs typeface="Times New Roman" panose="02020603050405020304" pitchFamily="18" charset="0"/>
              </a:rPr>
              <a:t>date_floor: str</a:t>
            </a:r>
          </a:p>
          <a:p>
            <a:pPr algn="ctr"/>
            <a:r>
              <a:rPr lang="en-US" sz="1200">
                <a:latin typeface="Consolas" panose="020B0609020204030204" pitchFamily="49" charset="0"/>
                <a:cs typeface="Times New Roman" panose="02020603050405020304" pitchFamily="18" charset="0"/>
              </a:rPr>
              <a:t>date_celing: str</a:t>
            </a:r>
          </a:p>
          <a:p>
            <a:pPr algn="ctr"/>
            <a:endParaRPr lang="en-US" sz="1200" b="1">
              <a:latin typeface="Consolas" panose="020B0609020204030204" pitchFamily="49" charset="0"/>
              <a:cs typeface="Times New Roman" panose="02020603050405020304" pitchFamily="18" charset="0"/>
            </a:endParaRPr>
          </a:p>
        </p:txBody>
      </p:sp>
      <p:sp>
        <p:nvSpPr>
          <p:cNvPr id="5" name="TextBox 4">
            <a:extLst>
              <a:ext uri="{FF2B5EF4-FFF2-40B4-BE49-F238E27FC236}">
                <a16:creationId xmlns:a16="http://schemas.microsoft.com/office/drawing/2014/main" id="{5D105680-9BEB-6204-9EBE-CE24059395C3}"/>
              </a:ext>
            </a:extLst>
          </p:cNvPr>
          <p:cNvSpPr txBox="1"/>
          <p:nvPr/>
        </p:nvSpPr>
        <p:spPr>
          <a:xfrm>
            <a:off x="3424646" y="2943680"/>
            <a:ext cx="5882640" cy="1938992"/>
          </a:xfrm>
          <a:prstGeom prst="rect">
            <a:avLst/>
          </a:prstGeom>
          <a:noFill/>
        </p:spPr>
        <p:txBody>
          <a:bodyPr wrap="square" rtlCol="0">
            <a:spAutoFit/>
          </a:bodyPr>
          <a:lstStyle/>
          <a:p>
            <a:r>
              <a:rPr lang="en-US" sz="1200" b="1">
                <a:latin typeface="Consolas" panose="020B0609020204030204" pitchFamily="49" charset="0"/>
              </a:rPr>
              <a:t>Constructor</a:t>
            </a:r>
          </a:p>
          <a:p>
            <a:r>
              <a:rPr lang="en-US" sz="1200">
                <a:latin typeface="Consolas" panose="020B0609020204030204" pitchFamily="49" charset="0"/>
              </a:rPr>
              <a:t>__init__(dataframe, semantics, config|None) -&gt; EventsCleaner</a:t>
            </a:r>
          </a:p>
          <a:p>
            <a:endParaRPr lang="en-US" sz="1200">
              <a:latin typeface="Consolas" panose="020B0609020204030204" pitchFamily="49" charset="0"/>
            </a:endParaRPr>
          </a:p>
          <a:p>
            <a:r>
              <a:rPr lang="en-US" sz="1200" b="1">
                <a:latin typeface="Consolas" panose="020B0609020204030204" pitchFamily="49" charset="0"/>
              </a:rPr>
              <a:t>Methods</a:t>
            </a:r>
          </a:p>
          <a:p>
            <a:r>
              <a:rPr lang="en-US" sz="1200">
                <a:latin typeface="Consolas" panose="020B0609020204030204" pitchFamily="49" charset="0"/>
              </a:rPr>
              <a:t>clean() -&gt; Events</a:t>
            </a:r>
          </a:p>
          <a:p>
            <a:r>
              <a:rPr lang="en-US" sz="1200">
                <a:latin typeface="Consolas" panose="020B0609020204030204" pitchFamily="49" charset="0"/>
              </a:rPr>
              <a:t>calc_report() -&gt; dict</a:t>
            </a:r>
          </a:p>
          <a:p>
            <a:r>
              <a:rPr lang="en-US" sz="1200">
                <a:latin typeface="Consolas" panose="020B0609020204030204" pitchFamily="49" charset="0"/>
              </a:rPr>
              <a:t>print_report() -&gt; None</a:t>
            </a:r>
          </a:p>
          <a:p>
            <a:r>
              <a:rPr lang="en-US" sz="1200">
                <a:latin typeface="Consolas" panose="020B0609020204030204" pitchFamily="49" charset="0"/>
              </a:rPr>
              <a:t>__repr__() -&gt; str</a:t>
            </a:r>
          </a:p>
          <a:p>
            <a:endParaRPr lang="en-US" sz="1200">
              <a:latin typeface="Consolas" panose="020B0609020204030204" pitchFamily="49" charset="0"/>
            </a:endParaRPr>
          </a:p>
          <a:p>
            <a:endParaRPr lang="en-US" sz="1200">
              <a:latin typeface="Consolas" panose="020B0609020204030204" pitchFamily="49" charset="0"/>
            </a:endParaRPr>
          </a:p>
        </p:txBody>
      </p:sp>
    </p:spTree>
    <p:extLst>
      <p:ext uri="{BB962C8B-B14F-4D97-AF65-F5344CB8AC3E}">
        <p14:creationId xmlns:p14="http://schemas.microsoft.com/office/powerpoint/2010/main" val="2554045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7DC08-0AD7-16E9-CAF2-67CEE3B76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148FAF-6B8E-5BC9-B42F-9B1D46B6FCE1}"/>
              </a:ext>
            </a:extLst>
          </p:cNvPr>
          <p:cNvSpPr>
            <a:spLocks noGrp="1"/>
          </p:cNvSpPr>
          <p:nvPr>
            <p:ph type="ctrTitle"/>
          </p:nvPr>
        </p:nvSpPr>
        <p:spPr/>
        <p:txBody>
          <a:bodyPr/>
          <a:lstStyle/>
          <a:p>
            <a:r>
              <a:rPr lang="en-US"/>
              <a:t>Vignette 2</a:t>
            </a:r>
          </a:p>
        </p:txBody>
      </p:sp>
      <p:sp>
        <p:nvSpPr>
          <p:cNvPr id="5" name="Subtitle 4">
            <a:extLst>
              <a:ext uri="{FF2B5EF4-FFF2-40B4-BE49-F238E27FC236}">
                <a16:creationId xmlns:a16="http://schemas.microsoft.com/office/drawing/2014/main" id="{36A79531-8A5C-04A9-23D4-455CA140F732}"/>
              </a:ext>
            </a:extLst>
          </p:cNvPr>
          <p:cNvSpPr>
            <a:spLocks noGrp="1"/>
          </p:cNvSpPr>
          <p:nvPr>
            <p:ph type="subTitle" idx="1"/>
          </p:nvPr>
        </p:nvSpPr>
        <p:spPr/>
        <p:txBody>
          <a:bodyPr/>
          <a:lstStyle/>
          <a:p>
            <a:r>
              <a:rPr lang="en-US"/>
              <a:t>Cleaning with Aggregation</a:t>
            </a:r>
          </a:p>
        </p:txBody>
      </p:sp>
    </p:spTree>
    <p:extLst>
      <p:ext uri="{BB962C8B-B14F-4D97-AF65-F5344CB8AC3E}">
        <p14:creationId xmlns:p14="http://schemas.microsoft.com/office/powerpoint/2010/main" val="834565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AC0BB-C196-8616-EF7C-DFB70A4475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970774-72E3-3CD5-D1F0-AE37C0A0184C}"/>
              </a:ext>
            </a:extLst>
          </p:cNvPr>
          <p:cNvSpPr txBox="1"/>
          <p:nvPr/>
        </p:nvSpPr>
        <p:spPr>
          <a:xfrm>
            <a:off x="53340" y="114300"/>
            <a:ext cx="8831580" cy="4401205"/>
          </a:xfrm>
          <a:prstGeom prst="rect">
            <a:avLst/>
          </a:prstGeom>
          <a:noFill/>
        </p:spPr>
        <p:txBody>
          <a:bodyPr wrap="square" rtlCol="0">
            <a:spAutoFit/>
          </a:bodyPr>
          <a:lstStyle/>
          <a:p>
            <a:r>
              <a:rPr lang="en-US" sz="1400" b="1" dirty="0"/>
              <a:t>Vignette </a:t>
            </a:r>
            <a:r>
              <a:rPr lang="en-US" sz="1400" b="1"/>
              <a:t># 2:</a:t>
            </a:r>
            <a:endParaRPr lang="en-US" sz="1400" b="1" dirty="0"/>
          </a:p>
          <a:p>
            <a:r>
              <a:rPr lang="en-US" sz="1400"/>
              <a:t>You are analyzing residents of a long-term nursing facility. Eachresident has monthly clinical assessments — blood pressure, BMI, andmobility status recorded by nursing staff. Your data warehouse givesyou one row per assessment, not one row per stay.Before you can analyze anything, you need to collapse the assessmentsinto one row per resident per stay. This sounds like a groupby. It isnot that simple.</a:t>
            </a:r>
          </a:p>
          <a:p>
            <a:endParaRPr lang="en-US" sz="1400" dirty="0"/>
          </a:p>
          <a:p>
            <a:r>
              <a:rPr lang="en-US" sz="1400" b="1"/>
              <a:t>Problem 1 — Every column needs its own aggregation rule. </a:t>
            </a:r>
            <a:r>
              <a:rPr lang="en-US" sz="1400"/>
              <a:t>BMI mightneed median. Systolic BP might need mean. Mobility status is categorical— averaging it makes no sense. A script that hardcodes these rulesburies each decision in a different line of a groupby block.</a:t>
            </a:r>
          </a:p>
          <a:p>
            <a:r>
              <a:rPr lang="en-US" sz="1400" b="1"/>
              <a:t>Problem 2 — Category and numeric columns are fundamentally different. </a:t>
            </a:r>
            <a:r>
              <a:rPr lang="en-US" sz="1400"/>
              <a:t>Nothing in a pandas script stops you from accidentally applying mean to mobility_status. The error won't surface until the output looks wrong — if you notice at all.</a:t>
            </a:r>
          </a:p>
          <a:p>
            <a:r>
              <a:rPr lang="en-US" sz="1400" b="1"/>
              <a:t>Problem 3 — "Sequence" and "unique" are different scientific claims. </a:t>
            </a:r>
            <a:r>
              <a:rPr lang="en-US" sz="1400"/>
              <a:t>A sequence of "independent" | "assisted" | dependent tells a story of decline. A unique set "assisted" | "dependent" | "independent" loses the order entirely. Which one did you use? If it's buried in a lambda on line 89, your co-author cannot tell</a:t>
            </a:r>
            <a:r>
              <a:rPr lang="en-US" sz="1400" b="1"/>
              <a:t>.</a:t>
            </a:r>
          </a:p>
          <a:p>
            <a:r>
              <a:rPr lang="en-US" sz="1400" b="1"/>
              <a:t>Problem 4 — Changing one rule requires finding the right line. </a:t>
            </a:r>
            <a:r>
              <a:rPr lang="en-US" sz="1400"/>
              <a:t>When your statistician asks you to use median instead of mean for systolic BP, you go hunting through the script. When they ask you to add a fourth column with a different rule, you add another aggregation block. Each change is a surgery on the code.</a:t>
            </a:r>
            <a:endParaRPr lang="en-US" sz="1400" b="1"/>
          </a:p>
          <a:p>
            <a:r>
              <a:rPr lang="en-US" sz="1400" b="1"/>
              <a:t>Problem 5 — A facility transfer is not a merged stay. </a:t>
            </a:r>
            <a:r>
              <a:rPr lang="en-US" sz="1400"/>
              <a:t>ResidentNF0023 spent 90 days at Facility A and then 60 days at Facility B.Those are two different stays and must not be merged. The facility ispart of what defines a nursing facility stay.</a:t>
            </a:r>
            <a:endParaRPr lang="en-US" sz="1400" dirty="0"/>
          </a:p>
        </p:txBody>
      </p:sp>
    </p:spTree>
    <p:extLst>
      <p:ext uri="{BB962C8B-B14F-4D97-AF65-F5344CB8AC3E}">
        <p14:creationId xmlns:p14="http://schemas.microsoft.com/office/powerpoint/2010/main" val="765806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3703-89DC-77D3-A6F1-8F81EEDDC7C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166F5E-AA0F-445A-3CFA-56674F84879E}"/>
              </a:ext>
            </a:extLst>
          </p:cNvPr>
          <p:cNvSpPr txBox="1"/>
          <p:nvPr/>
        </p:nvSpPr>
        <p:spPr>
          <a:xfrm>
            <a:off x="-34290" y="-8405"/>
            <a:ext cx="4606290" cy="369332"/>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With Eventus:</a:t>
            </a:r>
          </a:p>
        </p:txBody>
      </p:sp>
      <p:sp>
        <p:nvSpPr>
          <p:cNvPr id="46" name="TextBox 45">
            <a:extLst>
              <a:ext uri="{FF2B5EF4-FFF2-40B4-BE49-F238E27FC236}">
                <a16:creationId xmlns:a16="http://schemas.microsoft.com/office/drawing/2014/main" id="{23DAA14F-E046-011B-9FA0-CF8802CA4028}"/>
              </a:ext>
            </a:extLst>
          </p:cNvPr>
          <p:cNvSpPr txBox="1"/>
          <p:nvPr/>
        </p:nvSpPr>
        <p:spPr>
          <a:xfrm>
            <a:off x="4362994" y="232596"/>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Cleaner Config</a:t>
            </a:r>
          </a:p>
        </p:txBody>
      </p:sp>
      <p:pic>
        <p:nvPicPr>
          <p:cNvPr id="26" name="Picture 25">
            <a:extLst>
              <a:ext uri="{FF2B5EF4-FFF2-40B4-BE49-F238E27FC236}">
                <a16:creationId xmlns:a16="http://schemas.microsoft.com/office/drawing/2014/main" id="{949856E1-06C5-0D7C-A10A-F36E2932BEBE}"/>
              </a:ext>
            </a:extLst>
          </p:cNvPr>
          <p:cNvPicPr>
            <a:picLocks noChangeAspect="1"/>
          </p:cNvPicPr>
          <p:nvPr/>
        </p:nvPicPr>
        <p:blipFill>
          <a:blip r:embed="rId2"/>
          <a:stretch>
            <a:fillRect/>
          </a:stretch>
        </p:blipFill>
        <p:spPr>
          <a:xfrm>
            <a:off x="279624" y="1583753"/>
            <a:ext cx="5410478" cy="1206562"/>
          </a:xfrm>
          <a:prstGeom prst="rect">
            <a:avLst/>
          </a:prstGeom>
        </p:spPr>
      </p:pic>
      <p:pic>
        <p:nvPicPr>
          <p:cNvPr id="28" name="Picture 27">
            <a:extLst>
              <a:ext uri="{FF2B5EF4-FFF2-40B4-BE49-F238E27FC236}">
                <a16:creationId xmlns:a16="http://schemas.microsoft.com/office/drawing/2014/main" id="{773169CB-E0C5-023A-288B-A778EA181243}"/>
              </a:ext>
            </a:extLst>
          </p:cNvPr>
          <p:cNvPicPr>
            <a:picLocks noChangeAspect="1"/>
          </p:cNvPicPr>
          <p:nvPr/>
        </p:nvPicPr>
        <p:blipFill>
          <a:blip r:embed="rId3"/>
          <a:stretch>
            <a:fillRect/>
          </a:stretch>
        </p:blipFill>
        <p:spPr>
          <a:xfrm>
            <a:off x="6080760" y="-8405"/>
            <a:ext cx="3013227" cy="2184429"/>
          </a:xfrm>
          <a:prstGeom prst="rect">
            <a:avLst/>
          </a:prstGeom>
        </p:spPr>
      </p:pic>
      <p:pic>
        <p:nvPicPr>
          <p:cNvPr id="30" name="Picture 29">
            <a:extLst>
              <a:ext uri="{FF2B5EF4-FFF2-40B4-BE49-F238E27FC236}">
                <a16:creationId xmlns:a16="http://schemas.microsoft.com/office/drawing/2014/main" id="{CBE312F6-BC96-DA91-31A5-6C11546CA49D}"/>
              </a:ext>
            </a:extLst>
          </p:cNvPr>
          <p:cNvPicPr>
            <a:picLocks noChangeAspect="1"/>
          </p:cNvPicPr>
          <p:nvPr/>
        </p:nvPicPr>
        <p:blipFill>
          <a:blip r:embed="rId4"/>
          <a:stretch>
            <a:fillRect/>
          </a:stretch>
        </p:blipFill>
        <p:spPr>
          <a:xfrm>
            <a:off x="3512050" y="3780546"/>
            <a:ext cx="5581937" cy="1130358"/>
          </a:xfrm>
          <a:prstGeom prst="rect">
            <a:avLst/>
          </a:prstGeom>
        </p:spPr>
      </p:pic>
      <p:sp>
        <p:nvSpPr>
          <p:cNvPr id="31" name="TextBox 30">
            <a:extLst>
              <a:ext uri="{FF2B5EF4-FFF2-40B4-BE49-F238E27FC236}">
                <a16:creationId xmlns:a16="http://schemas.microsoft.com/office/drawing/2014/main" id="{199589ED-62A4-C423-2492-BFF940AB38D7}"/>
              </a:ext>
            </a:extLst>
          </p:cNvPr>
          <p:cNvSpPr txBox="1"/>
          <p:nvPr/>
        </p:nvSpPr>
        <p:spPr>
          <a:xfrm>
            <a:off x="-108857" y="1250418"/>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spTree>
    <p:extLst>
      <p:ext uri="{BB962C8B-B14F-4D97-AF65-F5344CB8AC3E}">
        <p14:creationId xmlns:p14="http://schemas.microsoft.com/office/powerpoint/2010/main" val="648786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96B699-9287-5895-B6B9-E648657AFF32}"/>
              </a:ext>
            </a:extLst>
          </p:cNvPr>
          <p:cNvPicPr>
            <a:picLocks noChangeAspect="1"/>
          </p:cNvPicPr>
          <p:nvPr/>
        </p:nvPicPr>
        <p:blipFill>
          <a:blip r:embed="rId2"/>
          <a:stretch>
            <a:fillRect/>
          </a:stretch>
        </p:blipFill>
        <p:spPr>
          <a:xfrm>
            <a:off x="2840619" y="1333310"/>
            <a:ext cx="3854648" cy="3695890"/>
          </a:xfrm>
          <a:prstGeom prst="rect">
            <a:avLst/>
          </a:prstGeom>
        </p:spPr>
      </p:pic>
      <p:sp>
        <p:nvSpPr>
          <p:cNvPr id="4" name="TextBox 3">
            <a:extLst>
              <a:ext uri="{FF2B5EF4-FFF2-40B4-BE49-F238E27FC236}">
                <a16:creationId xmlns:a16="http://schemas.microsoft.com/office/drawing/2014/main" id="{EB83C69D-8A09-7617-599D-6E05D76AE55D}"/>
              </a:ext>
            </a:extLst>
          </p:cNvPr>
          <p:cNvSpPr txBox="1"/>
          <p:nvPr/>
        </p:nvSpPr>
        <p:spPr>
          <a:xfrm>
            <a:off x="0" y="114300"/>
            <a:ext cx="8831580" cy="954107"/>
          </a:xfrm>
          <a:prstGeom prst="rect">
            <a:avLst/>
          </a:prstGeom>
          <a:noFill/>
        </p:spPr>
        <p:txBody>
          <a:bodyPr wrap="square" rtlCol="0">
            <a:spAutoFit/>
          </a:bodyPr>
          <a:lstStyle/>
          <a:p>
            <a:r>
              <a:rPr lang="en-US" sz="1400" b="1">
                <a:latin typeface="Times New Roman" panose="02020603050405020304" pitchFamily="18" charset="0"/>
                <a:cs typeface="Times New Roman" panose="02020603050405020304" pitchFamily="18" charset="0"/>
              </a:rPr>
              <a:t>Without Eventus:</a:t>
            </a:r>
          </a:p>
          <a:p>
            <a:endParaRPr lang="en-US"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To illustrate the limitations of the script-based paradigm, we askeda large language model to implement the same cleaning pipeline. </a:t>
            </a:r>
          </a:p>
        </p:txBody>
      </p:sp>
    </p:spTree>
    <p:extLst>
      <p:ext uri="{BB962C8B-B14F-4D97-AF65-F5344CB8AC3E}">
        <p14:creationId xmlns:p14="http://schemas.microsoft.com/office/powerpoint/2010/main" val="3791537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9BA1-EA5C-4054-D548-FF9249FC4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4BDCC-7010-52AF-99A4-908F50AAAB03}"/>
              </a:ext>
            </a:extLst>
          </p:cNvPr>
          <p:cNvSpPr>
            <a:spLocks noGrp="1"/>
          </p:cNvSpPr>
          <p:nvPr>
            <p:ph type="ctrTitle"/>
          </p:nvPr>
        </p:nvSpPr>
        <p:spPr/>
        <p:txBody>
          <a:bodyPr/>
          <a:lstStyle/>
          <a:p>
            <a:r>
              <a:rPr lang="en-US"/>
              <a:t>Vignette 3</a:t>
            </a:r>
          </a:p>
        </p:txBody>
      </p:sp>
      <p:sp>
        <p:nvSpPr>
          <p:cNvPr id="5" name="Subtitle 4">
            <a:extLst>
              <a:ext uri="{FF2B5EF4-FFF2-40B4-BE49-F238E27FC236}">
                <a16:creationId xmlns:a16="http://schemas.microsoft.com/office/drawing/2014/main" id="{B8ECFF57-A490-B217-B420-B6D11962CE27}"/>
              </a:ext>
            </a:extLst>
          </p:cNvPr>
          <p:cNvSpPr>
            <a:spLocks noGrp="1"/>
          </p:cNvSpPr>
          <p:nvPr>
            <p:ph type="subTitle" idx="1"/>
          </p:nvPr>
        </p:nvSpPr>
        <p:spPr/>
        <p:txBody>
          <a:bodyPr/>
          <a:lstStyle/>
          <a:p>
            <a:r>
              <a:rPr lang="en-US"/>
              <a:t>Calculate and visualize events duration</a:t>
            </a:r>
          </a:p>
        </p:txBody>
      </p:sp>
    </p:spTree>
    <p:extLst>
      <p:ext uri="{BB962C8B-B14F-4D97-AF65-F5344CB8AC3E}">
        <p14:creationId xmlns:p14="http://schemas.microsoft.com/office/powerpoint/2010/main" val="205726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9D45B-602C-6A14-57FD-8DFBC4C3526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9C38CE3-D1D3-E9D6-3CD7-0E62FCF64D73}"/>
              </a:ext>
            </a:extLst>
          </p:cNvPr>
          <p:cNvSpPr txBox="1"/>
          <p:nvPr/>
        </p:nvSpPr>
        <p:spPr>
          <a:xfrm>
            <a:off x="53340" y="114300"/>
            <a:ext cx="8831580" cy="4185761"/>
          </a:xfrm>
          <a:prstGeom prst="rect">
            <a:avLst/>
          </a:prstGeom>
          <a:noFill/>
        </p:spPr>
        <p:txBody>
          <a:bodyPr wrap="square" rtlCol="0">
            <a:spAutoFit/>
          </a:bodyPr>
          <a:lstStyle/>
          <a:p>
            <a:r>
              <a:rPr lang="en-US" sz="1400" b="1" dirty="0"/>
              <a:t>Vignette </a:t>
            </a:r>
            <a:r>
              <a:rPr lang="en-US" sz="1400" b="1"/>
              <a:t># 3:</a:t>
            </a:r>
            <a:endParaRPr lang="en-US" sz="1400" b="1" dirty="0"/>
          </a:p>
          <a:p>
            <a:r>
              <a:rPr lang="en-US" sz="1400"/>
              <a:t>You have 227 clean nursing facility stays across 200 residents. Thefirst question your clinical collaborator asks is: "How long were the stays?" You reach for matplotlib. Before you write a single line of plotting code, you need to answer a question that sounds trivial: "What exactly am I plotting, and will I be able to reproduce it?"</a:t>
            </a:r>
          </a:p>
          <a:p>
            <a:endParaRPr lang="en-US" sz="1400" dirty="0"/>
          </a:p>
          <a:p>
            <a:r>
              <a:rPr lang="en-US" sz="1400" b="1" dirty="0"/>
              <a:t>Problem 1</a:t>
            </a:r>
            <a:r>
              <a:rPr lang="en-US" sz="1400" dirty="0"/>
              <a:t> </a:t>
            </a:r>
            <a:r>
              <a:rPr lang="en-US" sz="1400"/>
              <a:t>—  </a:t>
            </a:r>
            <a:r>
              <a:rPr lang="en-US" sz="1400" b="1"/>
              <a:t>Bin width is a scientific choice</a:t>
            </a:r>
            <a:r>
              <a:rPr lang="en-US" sz="1400"/>
              <a:t>. A 7-day bin alignswith clinical discharge patterns. A 30-day bin hides variation. A 1-daybin shows noise. That choice belongs in your methods section — not buried in bins=range(0, 200, 7) on line 34 of a script.</a:t>
            </a:r>
          </a:p>
          <a:p>
            <a:endParaRPr lang="en-US" sz="1400" dirty="0"/>
          </a:p>
          <a:p>
            <a:r>
              <a:rPr lang="en-US" sz="1400" b="1" dirty="0"/>
              <a:t>Problem 2</a:t>
            </a:r>
            <a:r>
              <a:rPr lang="en-US" sz="1400" dirty="0"/>
              <a:t> </a:t>
            </a:r>
            <a:r>
              <a:rPr lang="en-US" sz="1400"/>
              <a:t>— </a:t>
            </a:r>
            <a:r>
              <a:rPr lang="en-US" sz="1400" b="1"/>
              <a:t>Percentile lines require decisions too</a:t>
            </a:r>
            <a:r>
              <a:rPr lang="en-US" sz="1400"/>
              <a:t>. Whichpercentiles — 25th, 50th, 75th, 90th? Do you label them? At what fontsize? A script that hardcodes np.percentile(durations, [25, 50, 75])has made all of these choices silently.</a:t>
            </a:r>
            <a:endParaRPr lang="en-US" sz="1400" dirty="0"/>
          </a:p>
          <a:p>
            <a:endParaRPr lang="en-US" sz="1400" b="1"/>
          </a:p>
          <a:p>
            <a:r>
              <a:rPr lang="en-US" sz="1400" b="1"/>
              <a:t>Problem </a:t>
            </a:r>
            <a:r>
              <a:rPr lang="en-US" sz="1400" b="1" dirty="0"/>
              <a:t>3</a:t>
            </a:r>
            <a:r>
              <a:rPr lang="en-US" sz="1400" dirty="0"/>
              <a:t> </a:t>
            </a:r>
            <a:r>
              <a:rPr lang="en-US" sz="1400"/>
              <a:t>— </a:t>
            </a:r>
            <a:r>
              <a:rPr lang="en-US" sz="1400" b="1"/>
              <a:t>The KDE bandwidth is a choice</a:t>
            </a:r>
            <a:r>
              <a:rPr lang="en-US" sz="1400"/>
              <a:t>. Scott's rule and Silverman's rule produce different curves. That choice is invisible ina script.</a:t>
            </a:r>
          </a:p>
          <a:p>
            <a:endParaRPr lang="en-US" sz="1400" dirty="0"/>
          </a:p>
          <a:p>
            <a:r>
              <a:rPr lang="en-US" sz="1400" b="1" dirty="0"/>
              <a:t>Problem 4</a:t>
            </a:r>
            <a:r>
              <a:rPr lang="en-US" sz="1400" dirty="0"/>
              <a:t> </a:t>
            </a:r>
            <a:r>
              <a:rPr lang="en-US" sz="1400"/>
              <a:t>— </a:t>
            </a:r>
            <a:r>
              <a:rPr lang="en-US" sz="1400" b="1"/>
              <a:t>Stratification multiplies the problem. </a:t>
            </a:r>
            <a:r>
              <a:rPr lang="en-US" sz="1400"/>
              <a:t>When yourcollaborator asks for duration by facility, you need consistent bins,consistent colors, and consistent percentile lines across bothfacilities. A script hardcoded for the unstratified case has to berewritten.</a:t>
            </a:r>
            <a:endParaRPr lang="en-US" sz="1400" dirty="0"/>
          </a:p>
          <a:p>
            <a:endParaRPr lang="en-US" sz="1400" dirty="0"/>
          </a:p>
        </p:txBody>
      </p:sp>
    </p:spTree>
    <p:extLst>
      <p:ext uri="{BB962C8B-B14F-4D97-AF65-F5344CB8AC3E}">
        <p14:creationId xmlns:p14="http://schemas.microsoft.com/office/powerpoint/2010/main" val="3051702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287E3F-6A17-5FE6-E26D-81AB723EBA3C}"/>
              </a:ext>
            </a:extLst>
          </p:cNvPr>
          <p:cNvSpPr txBox="1"/>
          <p:nvPr/>
        </p:nvSpPr>
        <p:spPr>
          <a:xfrm>
            <a:off x="5152973" y="56208"/>
            <a:ext cx="1317540"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Plot Config</a:t>
            </a:r>
          </a:p>
        </p:txBody>
      </p:sp>
      <p:pic>
        <p:nvPicPr>
          <p:cNvPr id="6" name="Picture 5">
            <a:extLst>
              <a:ext uri="{FF2B5EF4-FFF2-40B4-BE49-F238E27FC236}">
                <a16:creationId xmlns:a16="http://schemas.microsoft.com/office/drawing/2014/main" id="{A5EEC740-32EA-BE80-46AD-C1B2EC41C46B}"/>
              </a:ext>
            </a:extLst>
          </p:cNvPr>
          <p:cNvPicPr>
            <a:picLocks noChangeAspect="1"/>
          </p:cNvPicPr>
          <p:nvPr/>
        </p:nvPicPr>
        <p:blipFill>
          <a:blip r:embed="rId2"/>
          <a:stretch>
            <a:fillRect/>
          </a:stretch>
        </p:blipFill>
        <p:spPr>
          <a:xfrm>
            <a:off x="6470513" y="0"/>
            <a:ext cx="2673487" cy="3740342"/>
          </a:xfrm>
          <a:prstGeom prst="rect">
            <a:avLst/>
          </a:prstGeom>
        </p:spPr>
      </p:pic>
      <p:pic>
        <p:nvPicPr>
          <p:cNvPr id="8" name="Picture 7">
            <a:extLst>
              <a:ext uri="{FF2B5EF4-FFF2-40B4-BE49-F238E27FC236}">
                <a16:creationId xmlns:a16="http://schemas.microsoft.com/office/drawing/2014/main" id="{91E3E607-BD32-7740-5371-61CCA65274EC}"/>
              </a:ext>
            </a:extLst>
          </p:cNvPr>
          <p:cNvPicPr>
            <a:picLocks noChangeAspect="1"/>
          </p:cNvPicPr>
          <p:nvPr/>
        </p:nvPicPr>
        <p:blipFill>
          <a:blip r:embed="rId3"/>
          <a:stretch>
            <a:fillRect/>
          </a:stretch>
        </p:blipFill>
        <p:spPr>
          <a:xfrm>
            <a:off x="-1" y="973182"/>
            <a:ext cx="5438437" cy="1835332"/>
          </a:xfrm>
          <a:prstGeom prst="rect">
            <a:avLst/>
          </a:prstGeom>
        </p:spPr>
      </p:pic>
      <p:sp>
        <p:nvSpPr>
          <p:cNvPr id="9" name="TextBox 8">
            <a:extLst>
              <a:ext uri="{FF2B5EF4-FFF2-40B4-BE49-F238E27FC236}">
                <a16:creationId xmlns:a16="http://schemas.microsoft.com/office/drawing/2014/main" id="{C18B24BD-4959-8337-5E8D-F7A39B5B4550}"/>
              </a:ext>
            </a:extLst>
          </p:cNvPr>
          <p:cNvSpPr txBox="1"/>
          <p:nvPr/>
        </p:nvSpPr>
        <p:spPr>
          <a:xfrm>
            <a:off x="1784934" y="604159"/>
            <a:ext cx="1317540"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pic>
        <p:nvPicPr>
          <p:cNvPr id="11" name="Picture 10">
            <a:extLst>
              <a:ext uri="{FF2B5EF4-FFF2-40B4-BE49-F238E27FC236}">
                <a16:creationId xmlns:a16="http://schemas.microsoft.com/office/drawing/2014/main" id="{EB00D1A2-67E9-C494-613F-75CBCC2F3413}"/>
              </a:ext>
            </a:extLst>
          </p:cNvPr>
          <p:cNvPicPr>
            <a:picLocks noChangeAspect="1"/>
          </p:cNvPicPr>
          <p:nvPr/>
        </p:nvPicPr>
        <p:blipFill>
          <a:blip r:embed="rId4"/>
          <a:stretch>
            <a:fillRect/>
          </a:stretch>
        </p:blipFill>
        <p:spPr>
          <a:xfrm>
            <a:off x="2205030" y="3190921"/>
            <a:ext cx="3297118" cy="1958794"/>
          </a:xfrm>
          <a:prstGeom prst="rect">
            <a:avLst/>
          </a:prstGeom>
        </p:spPr>
      </p:pic>
    </p:spTree>
    <p:extLst>
      <p:ext uri="{BB962C8B-B14F-4D97-AF65-F5344CB8AC3E}">
        <p14:creationId xmlns:p14="http://schemas.microsoft.com/office/powerpoint/2010/main" val="1476121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24DB5-C5C8-E7A0-EC97-1410D47534A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D7A911-EB2D-BCAA-45D6-627F638DC005}"/>
              </a:ext>
            </a:extLst>
          </p:cNvPr>
          <p:cNvSpPr txBox="1"/>
          <p:nvPr/>
        </p:nvSpPr>
        <p:spPr>
          <a:xfrm>
            <a:off x="4723988" y="234827"/>
            <a:ext cx="1317540" cy="738664"/>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Additional KDE info on Config</a:t>
            </a:r>
          </a:p>
        </p:txBody>
      </p:sp>
      <p:sp>
        <p:nvSpPr>
          <p:cNvPr id="9" name="TextBox 8">
            <a:extLst>
              <a:ext uri="{FF2B5EF4-FFF2-40B4-BE49-F238E27FC236}">
                <a16:creationId xmlns:a16="http://schemas.microsoft.com/office/drawing/2014/main" id="{40DA1E39-C1F9-77DB-751D-B45894917A8F}"/>
              </a:ext>
            </a:extLst>
          </p:cNvPr>
          <p:cNvSpPr txBox="1"/>
          <p:nvPr/>
        </p:nvSpPr>
        <p:spPr>
          <a:xfrm>
            <a:off x="1784934" y="604159"/>
            <a:ext cx="1317540"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pic>
        <p:nvPicPr>
          <p:cNvPr id="3" name="Picture 2">
            <a:extLst>
              <a:ext uri="{FF2B5EF4-FFF2-40B4-BE49-F238E27FC236}">
                <a16:creationId xmlns:a16="http://schemas.microsoft.com/office/drawing/2014/main" id="{22127E73-8174-D2F2-8281-5BC70D96BCC3}"/>
              </a:ext>
            </a:extLst>
          </p:cNvPr>
          <p:cNvPicPr>
            <a:picLocks noChangeAspect="1"/>
          </p:cNvPicPr>
          <p:nvPr/>
        </p:nvPicPr>
        <p:blipFill>
          <a:blip r:embed="rId2"/>
          <a:stretch>
            <a:fillRect/>
          </a:stretch>
        </p:blipFill>
        <p:spPr>
          <a:xfrm>
            <a:off x="6178731" y="0"/>
            <a:ext cx="2965269" cy="2279574"/>
          </a:xfrm>
          <a:prstGeom prst="rect">
            <a:avLst/>
          </a:prstGeom>
        </p:spPr>
      </p:pic>
      <p:pic>
        <p:nvPicPr>
          <p:cNvPr id="7" name="Picture 6">
            <a:extLst>
              <a:ext uri="{FF2B5EF4-FFF2-40B4-BE49-F238E27FC236}">
                <a16:creationId xmlns:a16="http://schemas.microsoft.com/office/drawing/2014/main" id="{BD2D7AD7-3DB9-38DE-048F-E0D01F1BF00A}"/>
              </a:ext>
            </a:extLst>
          </p:cNvPr>
          <p:cNvPicPr>
            <a:picLocks noChangeAspect="1"/>
          </p:cNvPicPr>
          <p:nvPr/>
        </p:nvPicPr>
        <p:blipFill>
          <a:blip r:embed="rId3"/>
          <a:stretch>
            <a:fillRect/>
          </a:stretch>
        </p:blipFill>
        <p:spPr>
          <a:xfrm>
            <a:off x="89124" y="911936"/>
            <a:ext cx="4709160" cy="1773123"/>
          </a:xfrm>
          <a:prstGeom prst="rect">
            <a:avLst/>
          </a:prstGeom>
        </p:spPr>
      </p:pic>
      <p:pic>
        <p:nvPicPr>
          <p:cNvPr id="12" name="Picture 11">
            <a:extLst>
              <a:ext uri="{FF2B5EF4-FFF2-40B4-BE49-F238E27FC236}">
                <a16:creationId xmlns:a16="http://schemas.microsoft.com/office/drawing/2014/main" id="{0FBB02E4-960B-5890-ECD8-9678762408DF}"/>
              </a:ext>
            </a:extLst>
          </p:cNvPr>
          <p:cNvPicPr>
            <a:picLocks noChangeAspect="1"/>
          </p:cNvPicPr>
          <p:nvPr/>
        </p:nvPicPr>
        <p:blipFill>
          <a:blip r:embed="rId4"/>
          <a:stretch>
            <a:fillRect/>
          </a:stretch>
        </p:blipFill>
        <p:spPr>
          <a:xfrm>
            <a:off x="2875679" y="3135086"/>
            <a:ext cx="3246840" cy="1930036"/>
          </a:xfrm>
          <a:prstGeom prst="rect">
            <a:avLst/>
          </a:prstGeom>
        </p:spPr>
      </p:pic>
    </p:spTree>
    <p:extLst>
      <p:ext uri="{BB962C8B-B14F-4D97-AF65-F5344CB8AC3E}">
        <p14:creationId xmlns:p14="http://schemas.microsoft.com/office/powerpoint/2010/main" val="2377228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7DF67-1B4C-FFA5-0101-F1A06555E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1CF0B-1F4F-361A-532E-4E07DDC2021D}"/>
              </a:ext>
            </a:extLst>
          </p:cNvPr>
          <p:cNvSpPr>
            <a:spLocks noGrp="1"/>
          </p:cNvSpPr>
          <p:nvPr>
            <p:ph type="title"/>
          </p:nvPr>
        </p:nvSpPr>
        <p:spPr/>
        <p:txBody>
          <a:bodyPr/>
          <a:lstStyle/>
          <a:p>
            <a:pPr algn="l"/>
            <a:r>
              <a:rPr lang="en-US"/>
              <a:t>Stratification with Violin Plots</a:t>
            </a:r>
          </a:p>
        </p:txBody>
      </p:sp>
      <p:sp>
        <p:nvSpPr>
          <p:cNvPr id="5" name="Text Placeholder 4">
            <a:extLst>
              <a:ext uri="{FF2B5EF4-FFF2-40B4-BE49-F238E27FC236}">
                <a16:creationId xmlns:a16="http://schemas.microsoft.com/office/drawing/2014/main" id="{B35C20C9-2FA8-9E8A-80EB-C8331CB3914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57645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0B56-2C1A-1CC0-A8DB-4383F99605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B6A1AA-6188-7312-E410-8506413AD15D}"/>
              </a:ext>
            </a:extLst>
          </p:cNvPr>
          <p:cNvSpPr txBox="1"/>
          <p:nvPr/>
        </p:nvSpPr>
        <p:spPr>
          <a:xfrm>
            <a:off x="5152973" y="56208"/>
            <a:ext cx="1317540" cy="523220"/>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Violin Config</a:t>
            </a:r>
          </a:p>
        </p:txBody>
      </p:sp>
      <p:sp>
        <p:nvSpPr>
          <p:cNvPr id="9" name="TextBox 8">
            <a:extLst>
              <a:ext uri="{FF2B5EF4-FFF2-40B4-BE49-F238E27FC236}">
                <a16:creationId xmlns:a16="http://schemas.microsoft.com/office/drawing/2014/main" id="{CF659E09-6A52-FC4D-45CF-CEAEC2656516}"/>
              </a:ext>
            </a:extLst>
          </p:cNvPr>
          <p:cNvSpPr txBox="1"/>
          <p:nvPr/>
        </p:nvSpPr>
        <p:spPr>
          <a:xfrm>
            <a:off x="1784934" y="604159"/>
            <a:ext cx="1317540"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pic>
        <p:nvPicPr>
          <p:cNvPr id="3" name="Picture 2">
            <a:extLst>
              <a:ext uri="{FF2B5EF4-FFF2-40B4-BE49-F238E27FC236}">
                <a16:creationId xmlns:a16="http://schemas.microsoft.com/office/drawing/2014/main" id="{2338D4D1-C295-9B8E-AB1E-E11C8AC0909B}"/>
              </a:ext>
            </a:extLst>
          </p:cNvPr>
          <p:cNvPicPr>
            <a:picLocks noChangeAspect="1"/>
          </p:cNvPicPr>
          <p:nvPr/>
        </p:nvPicPr>
        <p:blipFill>
          <a:blip r:embed="rId2"/>
          <a:stretch>
            <a:fillRect/>
          </a:stretch>
        </p:blipFill>
        <p:spPr>
          <a:xfrm>
            <a:off x="3035518" y="2980657"/>
            <a:ext cx="3072964" cy="2162843"/>
          </a:xfrm>
          <a:prstGeom prst="rect">
            <a:avLst/>
          </a:prstGeom>
        </p:spPr>
      </p:pic>
      <p:pic>
        <p:nvPicPr>
          <p:cNvPr id="7" name="Picture 6">
            <a:extLst>
              <a:ext uri="{FF2B5EF4-FFF2-40B4-BE49-F238E27FC236}">
                <a16:creationId xmlns:a16="http://schemas.microsoft.com/office/drawing/2014/main" id="{C510A18F-B6CC-432B-C953-D65C956F2BB4}"/>
              </a:ext>
            </a:extLst>
          </p:cNvPr>
          <p:cNvPicPr>
            <a:picLocks noChangeAspect="1"/>
          </p:cNvPicPr>
          <p:nvPr/>
        </p:nvPicPr>
        <p:blipFill>
          <a:blip r:embed="rId3"/>
          <a:stretch>
            <a:fillRect/>
          </a:stretch>
        </p:blipFill>
        <p:spPr>
          <a:xfrm>
            <a:off x="6851532" y="0"/>
            <a:ext cx="2292468" cy="4845299"/>
          </a:xfrm>
          <a:prstGeom prst="rect">
            <a:avLst/>
          </a:prstGeom>
        </p:spPr>
      </p:pic>
      <p:pic>
        <p:nvPicPr>
          <p:cNvPr id="14" name="Picture 13">
            <a:extLst>
              <a:ext uri="{FF2B5EF4-FFF2-40B4-BE49-F238E27FC236}">
                <a16:creationId xmlns:a16="http://schemas.microsoft.com/office/drawing/2014/main" id="{F1C739E0-8F27-DA6B-FD5E-CBBA165E35B8}"/>
              </a:ext>
            </a:extLst>
          </p:cNvPr>
          <p:cNvPicPr>
            <a:picLocks noChangeAspect="1"/>
          </p:cNvPicPr>
          <p:nvPr/>
        </p:nvPicPr>
        <p:blipFill>
          <a:blip r:embed="rId4"/>
          <a:stretch>
            <a:fillRect/>
          </a:stretch>
        </p:blipFill>
        <p:spPr>
          <a:xfrm>
            <a:off x="57821" y="984214"/>
            <a:ext cx="4700579" cy="760110"/>
          </a:xfrm>
          <a:prstGeom prst="rect">
            <a:avLst/>
          </a:prstGeom>
        </p:spPr>
      </p:pic>
      <p:pic>
        <p:nvPicPr>
          <p:cNvPr id="16" name="Picture 15">
            <a:extLst>
              <a:ext uri="{FF2B5EF4-FFF2-40B4-BE49-F238E27FC236}">
                <a16:creationId xmlns:a16="http://schemas.microsoft.com/office/drawing/2014/main" id="{3E69A5B4-6442-A148-C192-6B7079207371}"/>
              </a:ext>
            </a:extLst>
          </p:cNvPr>
          <p:cNvPicPr>
            <a:picLocks noChangeAspect="1"/>
          </p:cNvPicPr>
          <p:nvPr/>
        </p:nvPicPr>
        <p:blipFill>
          <a:blip r:embed="rId5"/>
          <a:stretch>
            <a:fillRect/>
          </a:stretch>
        </p:blipFill>
        <p:spPr>
          <a:xfrm>
            <a:off x="28469" y="1856775"/>
            <a:ext cx="4830469" cy="1028268"/>
          </a:xfrm>
          <a:prstGeom prst="rect">
            <a:avLst/>
          </a:prstGeom>
        </p:spPr>
      </p:pic>
    </p:spTree>
    <p:extLst>
      <p:ext uri="{BB962C8B-B14F-4D97-AF65-F5344CB8AC3E}">
        <p14:creationId xmlns:p14="http://schemas.microsoft.com/office/powerpoint/2010/main" val="3829637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EBA9F-9A9B-DCED-23CF-99B55B4A377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1FD5AB-D390-63CD-162C-66BA2D313D5A}"/>
              </a:ext>
            </a:extLst>
          </p:cNvPr>
          <p:cNvSpPr txBox="1"/>
          <p:nvPr/>
        </p:nvSpPr>
        <p:spPr>
          <a:xfrm>
            <a:off x="0" y="114300"/>
            <a:ext cx="8831580" cy="1169551"/>
          </a:xfrm>
          <a:prstGeom prst="rect">
            <a:avLst/>
          </a:prstGeom>
          <a:noFill/>
        </p:spPr>
        <p:txBody>
          <a:bodyPr wrap="square" rtlCol="0">
            <a:spAutoFit/>
          </a:bodyPr>
          <a:lstStyle/>
          <a:p>
            <a:r>
              <a:rPr lang="en-US" sz="1400" b="1">
                <a:latin typeface="Times New Roman" panose="02020603050405020304" pitchFamily="18" charset="0"/>
                <a:cs typeface="Times New Roman" panose="02020603050405020304" pitchFamily="18" charset="0"/>
              </a:rPr>
              <a:t>Without Eventus:</a:t>
            </a:r>
          </a:p>
          <a:p>
            <a:endParaRPr lang="en-US"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A script-based equivalent was not implemented for this chapter. Focusing on only the stratified violin plot with configurable bins, KDE bandwidth,and percentile lines requires ~140 lines of matplotlib code withevery visual decision hardcoded. Instead we summarize the structural differences:</a:t>
            </a:r>
          </a:p>
        </p:txBody>
      </p:sp>
      <p:pic>
        <p:nvPicPr>
          <p:cNvPr id="5" name="Picture 4">
            <a:extLst>
              <a:ext uri="{FF2B5EF4-FFF2-40B4-BE49-F238E27FC236}">
                <a16:creationId xmlns:a16="http://schemas.microsoft.com/office/drawing/2014/main" id="{535CA804-4201-CB1D-D046-95B0E94E758B}"/>
              </a:ext>
            </a:extLst>
          </p:cNvPr>
          <p:cNvPicPr>
            <a:picLocks noChangeAspect="1"/>
          </p:cNvPicPr>
          <p:nvPr/>
        </p:nvPicPr>
        <p:blipFill>
          <a:blip r:embed="rId2"/>
          <a:stretch>
            <a:fillRect/>
          </a:stretch>
        </p:blipFill>
        <p:spPr>
          <a:xfrm>
            <a:off x="2692303" y="1448068"/>
            <a:ext cx="3759393" cy="3645087"/>
          </a:xfrm>
          <a:prstGeom prst="rect">
            <a:avLst/>
          </a:prstGeom>
        </p:spPr>
      </p:pic>
    </p:spTree>
    <p:extLst>
      <p:ext uri="{BB962C8B-B14F-4D97-AF65-F5344CB8AC3E}">
        <p14:creationId xmlns:p14="http://schemas.microsoft.com/office/powerpoint/2010/main" val="1429365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89691-4E0E-6D2F-9FC7-75D2B491F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998AF-3E0C-68F4-E22C-10F20D437B2A}"/>
              </a:ext>
            </a:extLst>
          </p:cNvPr>
          <p:cNvSpPr>
            <a:spLocks noGrp="1"/>
          </p:cNvSpPr>
          <p:nvPr>
            <p:ph type="title"/>
          </p:nvPr>
        </p:nvSpPr>
        <p:spPr/>
        <p:txBody>
          <a:bodyPr/>
          <a:lstStyle/>
          <a:p>
            <a:pPr algn="l"/>
            <a:r>
              <a:rPr lang="en-US"/>
              <a:t>Architecture: Object Honesty</a:t>
            </a:r>
          </a:p>
        </p:txBody>
      </p:sp>
      <p:sp>
        <p:nvSpPr>
          <p:cNvPr id="3" name="Text Placeholder 2">
            <a:extLst>
              <a:ext uri="{FF2B5EF4-FFF2-40B4-BE49-F238E27FC236}">
                <a16:creationId xmlns:a16="http://schemas.microsoft.com/office/drawing/2014/main" id="{163A55C9-6D30-3A4C-97DC-9F3C266E728B}"/>
              </a:ext>
            </a:extLst>
          </p:cNvPr>
          <p:cNvSpPr>
            <a:spLocks noGrp="1"/>
          </p:cNvSpPr>
          <p:nvPr>
            <p:ph type="body" idx="1"/>
          </p:nvPr>
        </p:nvSpPr>
        <p:spPr/>
        <p:txBody>
          <a:bodyPr/>
          <a:lstStyle/>
          <a:p>
            <a:r>
              <a:rPr lang="en-US"/>
              <a:t>If the objects exist, they are already validated</a:t>
            </a:r>
          </a:p>
          <a:p>
            <a:r>
              <a:rPr lang="en-US"/>
              <a:t>Analyzers analyze</a:t>
            </a:r>
          </a:p>
          <a:p>
            <a:r>
              <a:rPr lang="en-US"/>
              <a:t>Plotters plot</a:t>
            </a:r>
          </a:p>
          <a:p>
            <a:endParaRPr lang="en-US"/>
          </a:p>
          <a:p>
            <a:endParaRPr lang="en-US"/>
          </a:p>
        </p:txBody>
      </p:sp>
    </p:spTree>
    <p:extLst>
      <p:ext uri="{BB962C8B-B14F-4D97-AF65-F5344CB8AC3E}">
        <p14:creationId xmlns:p14="http://schemas.microsoft.com/office/powerpoint/2010/main" val="2601351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D93D951-A208-A2A4-1EEB-5FF7E2791949}"/>
              </a:ext>
            </a:extLst>
          </p:cNvPr>
          <p:cNvSpPr txBox="1"/>
          <p:nvPr/>
        </p:nvSpPr>
        <p:spPr>
          <a:xfrm>
            <a:off x="195943" y="460383"/>
            <a:ext cx="2468881" cy="276999"/>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p>
        </p:txBody>
      </p:sp>
      <p:sp>
        <p:nvSpPr>
          <p:cNvPr id="10" name="TextBox 9">
            <a:extLst>
              <a:ext uri="{FF2B5EF4-FFF2-40B4-BE49-F238E27FC236}">
                <a16:creationId xmlns:a16="http://schemas.microsoft.com/office/drawing/2014/main" id="{8143688A-196F-75BF-BADF-0A2693B3D962}"/>
              </a:ext>
            </a:extLst>
          </p:cNvPr>
          <p:cNvSpPr txBox="1"/>
          <p:nvPr/>
        </p:nvSpPr>
        <p:spPr>
          <a:xfrm>
            <a:off x="2237922" y="1696497"/>
            <a:ext cx="3307081" cy="276999"/>
          </a:xfrm>
          <a:prstGeom prst="rect">
            <a:avLst/>
          </a:prstGeom>
          <a:ln>
            <a:solidFill>
              <a:schemeClr val="accent1"/>
            </a:solidFill>
          </a:ln>
          <a:effectLst>
            <a:glow rad="101600">
              <a:srgbClr val="FF000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EventDurationAnalyzer</a:t>
            </a:r>
          </a:p>
        </p:txBody>
      </p:sp>
      <p:cxnSp>
        <p:nvCxnSpPr>
          <p:cNvPr id="14" name="Straight Arrow Connector 13">
            <a:extLst>
              <a:ext uri="{FF2B5EF4-FFF2-40B4-BE49-F238E27FC236}">
                <a16:creationId xmlns:a16="http://schemas.microsoft.com/office/drawing/2014/main" id="{2231FB2C-3DCF-1058-D949-9EB9CA944FC4}"/>
              </a:ext>
            </a:extLst>
          </p:cNvPr>
          <p:cNvCxnSpPr>
            <a:cxnSpLocks/>
            <a:stCxn id="8" idx="2"/>
            <a:endCxn id="10" idx="0"/>
          </p:cNvCxnSpPr>
          <p:nvPr/>
        </p:nvCxnSpPr>
        <p:spPr>
          <a:xfrm>
            <a:off x="1430384" y="737382"/>
            <a:ext cx="2461079" cy="9591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ABAE77F-0AF0-A6AF-25A2-260535EEB8AA}"/>
              </a:ext>
            </a:extLst>
          </p:cNvPr>
          <p:cNvCxnSpPr>
            <a:cxnSpLocks/>
            <a:stCxn id="10" idx="2"/>
          </p:cNvCxnSpPr>
          <p:nvPr/>
        </p:nvCxnSpPr>
        <p:spPr>
          <a:xfrm>
            <a:off x="3891463" y="1973496"/>
            <a:ext cx="0" cy="1344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8C2F4E1-A1DB-0571-EE44-4367B03B2021}"/>
              </a:ext>
            </a:extLst>
          </p:cNvPr>
          <p:cNvSpPr txBox="1"/>
          <p:nvPr/>
        </p:nvSpPr>
        <p:spPr>
          <a:xfrm>
            <a:off x="2970531" y="737382"/>
            <a:ext cx="2986132" cy="646331"/>
          </a:xfrm>
          <a:prstGeom prst="rect">
            <a:avLst/>
          </a:prstGeom>
          <a:noFill/>
        </p:spPr>
        <p:txBody>
          <a:bodyPr wrap="square">
            <a:spAutoFit/>
          </a:bodyPr>
          <a:lstStyle/>
          <a:p>
            <a:r>
              <a:rPr lang="en-US" sz="1200"/>
              <a:t>The analyzer CAN trust the object it receives.</a:t>
            </a:r>
          </a:p>
          <a:p>
            <a:r>
              <a:rPr lang="en-US" sz="1200"/>
              <a:t>It accepts an Events object not a dataframe.</a:t>
            </a:r>
          </a:p>
          <a:p>
            <a:endParaRPr lang="en-US" sz="1200"/>
          </a:p>
        </p:txBody>
      </p:sp>
      <p:sp>
        <p:nvSpPr>
          <p:cNvPr id="23" name="TextBox 22">
            <a:extLst>
              <a:ext uri="{FF2B5EF4-FFF2-40B4-BE49-F238E27FC236}">
                <a16:creationId xmlns:a16="http://schemas.microsoft.com/office/drawing/2014/main" id="{7F777304-8138-87CF-81A2-15A8BE12F032}"/>
              </a:ext>
            </a:extLst>
          </p:cNvPr>
          <p:cNvSpPr txBox="1"/>
          <p:nvPr/>
        </p:nvSpPr>
        <p:spPr>
          <a:xfrm>
            <a:off x="6023793" y="53161"/>
            <a:ext cx="2122714" cy="3170099"/>
          </a:xfrm>
          <a:prstGeom prst="rect">
            <a:avLst/>
          </a:prstGeom>
          <a:noFill/>
        </p:spPr>
        <p:txBody>
          <a:bodyPr wrap="square" rtlCol="0">
            <a:spAutoFit/>
          </a:bodyPr>
          <a:lstStyle/>
          <a:p>
            <a:pPr marL="171450" indent="-171450">
              <a:buFont typeface="Arial" panose="020B0604020202020204" pitchFamily="34" charset="0"/>
              <a:buChar char="•"/>
            </a:pPr>
            <a:r>
              <a:rPr lang="en-US" sz="1000" i="1"/>
              <a:t>It does not check whether the data is clean, does not validate column names, does notverify that dates are parsed. </a:t>
            </a:r>
          </a:p>
          <a:p>
            <a:pPr marL="171450" indent="-171450">
              <a:buFont typeface="Arial" panose="020B0604020202020204" pitchFamily="34" charset="0"/>
              <a:buChar char="•"/>
            </a:pPr>
            <a:r>
              <a:rPr lang="en-US" sz="1000" i="1"/>
              <a:t>It does not need to — if an Events object exists, it passed construction, which means it is structurally sound, fully validated, and semantics-aware. </a:t>
            </a:r>
          </a:p>
          <a:p>
            <a:pPr marL="171450" indent="-171450">
              <a:buFont typeface="Arial" panose="020B0604020202020204" pitchFamily="34" charset="0"/>
              <a:buChar char="•"/>
            </a:pPr>
            <a:r>
              <a:rPr lang="en-US" sz="1000" i="1"/>
              <a:t>The column names, the entity identifier, the start and end dates — all of that is carriedby the object. The analyzer just asks the object what it needs. </a:t>
            </a:r>
          </a:p>
          <a:p>
            <a:pPr marL="171450" indent="-171450">
              <a:buFont typeface="Arial" panose="020B0604020202020204" pitchFamily="34" charset="0"/>
              <a:buChar char="•"/>
            </a:pPr>
            <a:r>
              <a:rPr lang="en-US" sz="1000" i="1"/>
              <a:t>A script that takes a raw DataFrame must either trust it blindly oradd its own validation — and that validation is never as thorough aswhat the data object already guarantees.</a:t>
            </a:r>
          </a:p>
        </p:txBody>
      </p:sp>
      <p:sp>
        <p:nvSpPr>
          <p:cNvPr id="26" name="TextBox 25">
            <a:extLst>
              <a:ext uri="{FF2B5EF4-FFF2-40B4-BE49-F238E27FC236}">
                <a16:creationId xmlns:a16="http://schemas.microsoft.com/office/drawing/2014/main" id="{33D01D6C-AB17-917D-2866-79155DE6E95D}"/>
              </a:ext>
            </a:extLst>
          </p:cNvPr>
          <p:cNvSpPr txBox="1"/>
          <p:nvPr/>
        </p:nvSpPr>
        <p:spPr>
          <a:xfrm>
            <a:off x="2237922" y="3469924"/>
            <a:ext cx="3307081" cy="1015663"/>
          </a:xfrm>
          <a:prstGeom prst="rect">
            <a:avLst/>
          </a:prstGeom>
          <a:ln>
            <a:solidFill>
              <a:schemeClr val="accent1"/>
            </a:solidFill>
          </a:ln>
          <a:effectLst>
            <a:glow rad="139700">
              <a:schemeClr val="accent6">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EventDurationResult</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entity_col: str</a:t>
            </a:r>
          </a:p>
          <a:p>
            <a:pPr algn="ctr"/>
            <a:r>
              <a:rPr lang="en-US" sz="1200">
                <a:latin typeface="Centaur" panose="02030504050205020304" pitchFamily="18" charset="0"/>
                <a:cs typeface="Times New Roman" panose="02020603050405020304" pitchFamily="18" charset="0"/>
              </a:rPr>
              <a:t>identity: str | None</a:t>
            </a:r>
          </a:p>
          <a:p>
            <a:pPr algn="ctr"/>
            <a:r>
              <a:rPr lang="en-US" sz="1200">
                <a:latin typeface="Centaur" panose="02030504050205020304" pitchFamily="18" charset="0"/>
                <a:cs typeface="Times New Roman" panose="02020603050405020304" pitchFamily="18" charset="0"/>
              </a:rPr>
              <a:t>descriptor_cols: List[str] | None</a:t>
            </a:r>
          </a:p>
        </p:txBody>
      </p:sp>
    </p:spTree>
    <p:extLst>
      <p:ext uri="{BB962C8B-B14F-4D97-AF65-F5344CB8AC3E}">
        <p14:creationId xmlns:p14="http://schemas.microsoft.com/office/powerpoint/2010/main" val="3405523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5797-1852-92AC-EB53-CAB37732B12F}"/>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0F57A002-8E17-A9EC-A760-DDD97ACE13E7}"/>
              </a:ext>
            </a:extLst>
          </p:cNvPr>
          <p:cNvCxnSpPr/>
          <p:nvPr/>
        </p:nvCxnSpPr>
        <p:spPr>
          <a:xfrm>
            <a:off x="3202577" y="1096023"/>
            <a:ext cx="16903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65DCC68-D33C-8344-7131-12C2E822E62D}"/>
              </a:ext>
            </a:extLst>
          </p:cNvPr>
          <p:cNvSpPr txBox="1"/>
          <p:nvPr/>
        </p:nvSpPr>
        <p:spPr>
          <a:xfrm>
            <a:off x="5353414" y="957523"/>
            <a:ext cx="3307081" cy="276999"/>
          </a:xfrm>
          <a:prstGeom prst="rect">
            <a:avLst/>
          </a:prstGeom>
          <a:ln w="38100">
            <a:solidFill>
              <a:schemeClr val="tx1"/>
            </a:solidFill>
          </a:ln>
          <a:effectLst>
            <a:glow rad="139700">
              <a:schemeClr val="accent2">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EventDurationPlotConfig</a:t>
            </a:r>
          </a:p>
        </p:txBody>
      </p:sp>
      <p:sp>
        <p:nvSpPr>
          <p:cNvPr id="10" name="TextBox 9">
            <a:extLst>
              <a:ext uri="{FF2B5EF4-FFF2-40B4-BE49-F238E27FC236}">
                <a16:creationId xmlns:a16="http://schemas.microsoft.com/office/drawing/2014/main" id="{F3062090-202B-3239-BE21-4642087FDE8D}"/>
              </a:ext>
            </a:extLst>
          </p:cNvPr>
          <p:cNvSpPr txBox="1"/>
          <p:nvPr/>
        </p:nvSpPr>
        <p:spPr>
          <a:xfrm>
            <a:off x="3058433" y="2161644"/>
            <a:ext cx="3307081" cy="276999"/>
          </a:xfrm>
          <a:prstGeom prst="rect">
            <a:avLst/>
          </a:prstGeom>
          <a:ln>
            <a:solidFill>
              <a:schemeClr val="accent1"/>
            </a:solidFill>
          </a:ln>
          <a:effectLst>
            <a:glow rad="101600">
              <a:srgbClr val="7030A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EventDurationHistogramPlotter</a:t>
            </a:r>
          </a:p>
        </p:txBody>
      </p:sp>
      <p:cxnSp>
        <p:nvCxnSpPr>
          <p:cNvPr id="11" name="Straight Arrow Connector 10">
            <a:extLst>
              <a:ext uri="{FF2B5EF4-FFF2-40B4-BE49-F238E27FC236}">
                <a16:creationId xmlns:a16="http://schemas.microsoft.com/office/drawing/2014/main" id="{52300D47-488F-9C72-640A-E49D41BD6C03}"/>
              </a:ext>
            </a:extLst>
          </p:cNvPr>
          <p:cNvCxnSpPr>
            <a:cxnSpLocks/>
            <a:stCxn id="7" idx="2"/>
            <a:endCxn id="10" idx="0"/>
          </p:cNvCxnSpPr>
          <p:nvPr/>
        </p:nvCxnSpPr>
        <p:spPr>
          <a:xfrm flipH="1">
            <a:off x="4711974" y="1234522"/>
            <a:ext cx="2294981" cy="927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2030FD3-B4F4-4FA5-FD6E-0CCE259B9BD7}"/>
              </a:ext>
            </a:extLst>
          </p:cNvPr>
          <p:cNvCxnSpPr>
            <a:cxnSpLocks/>
            <a:stCxn id="2" idx="0"/>
            <a:endCxn id="10" idx="2"/>
          </p:cNvCxnSpPr>
          <p:nvPr/>
        </p:nvCxnSpPr>
        <p:spPr>
          <a:xfrm flipH="1" flipV="1">
            <a:off x="4711974" y="2438643"/>
            <a:ext cx="2702279" cy="9995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E9B6AC8-5657-4C03-5122-2AD3D14A1CFD}"/>
              </a:ext>
            </a:extLst>
          </p:cNvPr>
          <p:cNvCxnSpPr>
            <a:cxnSpLocks/>
          </p:cNvCxnSpPr>
          <p:nvPr/>
        </p:nvCxnSpPr>
        <p:spPr>
          <a:xfrm flipH="1">
            <a:off x="1691640" y="2932611"/>
            <a:ext cx="1587137" cy="5812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6E2FA0C-43CD-14FB-621F-26289C1E82A0}"/>
              </a:ext>
            </a:extLst>
          </p:cNvPr>
          <p:cNvSpPr txBox="1"/>
          <p:nvPr/>
        </p:nvSpPr>
        <p:spPr>
          <a:xfrm>
            <a:off x="6805569" y="1453758"/>
            <a:ext cx="2400299" cy="707886"/>
          </a:xfrm>
          <a:prstGeom prst="rect">
            <a:avLst/>
          </a:prstGeom>
          <a:noFill/>
        </p:spPr>
        <p:txBody>
          <a:bodyPr wrap="square">
            <a:spAutoFit/>
          </a:bodyPr>
          <a:lstStyle/>
          <a:p>
            <a:r>
              <a:rPr lang="en-US" sz="1000" i="1">
                <a:latin typeface="Times New Roman" panose="02020603050405020304" pitchFamily="18" charset="0"/>
                <a:cs typeface="Times New Roman" panose="02020603050405020304" pitchFamily="18" charset="0"/>
              </a:rPr>
              <a:t>The plotter receives a Config object — not a dictionary, not keyword arguments. If it exists, it passed validation. No defensive checks needed inside the plotter</a:t>
            </a:r>
          </a:p>
        </p:txBody>
      </p:sp>
      <p:sp>
        <p:nvSpPr>
          <p:cNvPr id="30" name="TextBox 29">
            <a:extLst>
              <a:ext uri="{FF2B5EF4-FFF2-40B4-BE49-F238E27FC236}">
                <a16:creationId xmlns:a16="http://schemas.microsoft.com/office/drawing/2014/main" id="{F5DBE385-4C44-864A-6A26-F8256549EEB9}"/>
              </a:ext>
            </a:extLst>
          </p:cNvPr>
          <p:cNvSpPr txBox="1"/>
          <p:nvPr/>
        </p:nvSpPr>
        <p:spPr>
          <a:xfrm>
            <a:off x="5378450" y="3911755"/>
            <a:ext cx="3765550" cy="1169551"/>
          </a:xfrm>
          <a:prstGeom prst="rect">
            <a:avLst/>
          </a:prstGeom>
          <a:noFill/>
        </p:spPr>
        <p:txBody>
          <a:bodyPr wrap="square">
            <a:spAutoFit/>
          </a:bodyPr>
          <a:lstStyle/>
          <a:p>
            <a:r>
              <a:rPr lang="en-US" sz="1000" i="1">
                <a:latin typeface="Times New Roman" panose="02020603050405020304" pitchFamily="18" charset="0"/>
                <a:cs typeface="Times New Roman" panose="02020603050405020304" pitchFamily="18" charset="0"/>
              </a:rPr>
              <a:t>The Plotter consumes an EventDurationResult object. If it exists, it is because it was successfully produced by an analyzer.</a:t>
            </a:r>
          </a:p>
          <a:p>
            <a:r>
              <a:rPr lang="en-US" sz="1000" i="1">
                <a:latin typeface="Times New Roman" panose="02020603050405020304" pitchFamily="18" charset="0"/>
                <a:cs typeface="Times New Roman" panose="02020603050405020304" pitchFamily="18" charset="0"/>
              </a:rPr>
              <a:t>This means: Validated durations, a known entity column, a known identity, and declared descriptor columns. </a:t>
            </a:r>
          </a:p>
          <a:p>
            <a:r>
              <a:rPr lang="en-US" sz="1000" i="1">
                <a:latin typeface="Times New Roman" panose="02020603050405020304" pitchFamily="18" charset="0"/>
                <a:cs typeface="Times New Roman" panose="02020603050405020304" pitchFamily="18" charset="0"/>
              </a:rPr>
              <a:t>The plotter just draws.This is the contract that makes each layer independently testable, independently rerunnable, and independently replaceable.</a:t>
            </a:r>
          </a:p>
        </p:txBody>
      </p:sp>
      <p:pic>
        <p:nvPicPr>
          <p:cNvPr id="4" name="Picture 3">
            <a:extLst>
              <a:ext uri="{FF2B5EF4-FFF2-40B4-BE49-F238E27FC236}">
                <a16:creationId xmlns:a16="http://schemas.microsoft.com/office/drawing/2014/main" id="{06FE5AD1-30BE-5472-D93B-0F302034DA04}"/>
              </a:ext>
            </a:extLst>
          </p:cNvPr>
          <p:cNvPicPr>
            <a:picLocks noChangeAspect="1"/>
          </p:cNvPicPr>
          <p:nvPr/>
        </p:nvPicPr>
        <p:blipFill>
          <a:blip r:embed="rId2"/>
          <a:stretch>
            <a:fillRect/>
          </a:stretch>
        </p:blipFill>
        <p:spPr>
          <a:xfrm>
            <a:off x="0" y="0"/>
            <a:ext cx="2732265" cy="2300144"/>
          </a:xfrm>
          <a:prstGeom prst="rect">
            <a:avLst/>
          </a:prstGeom>
        </p:spPr>
      </p:pic>
      <p:sp>
        <p:nvSpPr>
          <p:cNvPr id="5" name="TextBox 4">
            <a:extLst>
              <a:ext uri="{FF2B5EF4-FFF2-40B4-BE49-F238E27FC236}">
                <a16:creationId xmlns:a16="http://schemas.microsoft.com/office/drawing/2014/main" id="{8241EAD2-5804-9D99-87F5-1CE2F08E69E2}"/>
              </a:ext>
            </a:extLst>
          </p:cNvPr>
          <p:cNvSpPr txBox="1"/>
          <p:nvPr/>
        </p:nvSpPr>
        <p:spPr>
          <a:xfrm>
            <a:off x="1469392" y="337326"/>
            <a:ext cx="4610100" cy="400110"/>
          </a:xfrm>
          <a:prstGeom prst="rect">
            <a:avLst/>
          </a:prstGeom>
          <a:noFill/>
        </p:spPr>
        <p:txBody>
          <a:bodyPr wrap="square">
            <a:spAutoFit/>
          </a:bodyPr>
          <a:lstStyle/>
          <a:p>
            <a:r>
              <a:rPr lang="en-US" sz="1000" i="1">
                <a:latin typeface="Times New Roman" panose="02020603050405020304" pitchFamily="18" charset="0"/>
                <a:cs typeface="Times New Roman" panose="02020603050405020304" pitchFamily="18" charset="0"/>
              </a:rPr>
              <a:t>Every analytical and visual choice lives in the YAML — bin width, percentile lines, colors, figure size. Change one number in one file. Nothing in your code changes</a:t>
            </a:r>
          </a:p>
        </p:txBody>
      </p:sp>
      <p:pic>
        <p:nvPicPr>
          <p:cNvPr id="13" name="Picture 12">
            <a:extLst>
              <a:ext uri="{FF2B5EF4-FFF2-40B4-BE49-F238E27FC236}">
                <a16:creationId xmlns:a16="http://schemas.microsoft.com/office/drawing/2014/main" id="{D00CEBC9-42C7-148E-E809-A5FA6B109181}"/>
              </a:ext>
            </a:extLst>
          </p:cNvPr>
          <p:cNvPicPr>
            <a:picLocks noChangeAspect="1"/>
          </p:cNvPicPr>
          <p:nvPr/>
        </p:nvPicPr>
        <p:blipFill>
          <a:blip r:embed="rId3"/>
          <a:stretch>
            <a:fillRect/>
          </a:stretch>
        </p:blipFill>
        <p:spPr>
          <a:xfrm>
            <a:off x="37018" y="3736047"/>
            <a:ext cx="2369079" cy="1407453"/>
          </a:xfrm>
          <a:prstGeom prst="rect">
            <a:avLst/>
          </a:prstGeom>
        </p:spPr>
      </p:pic>
      <p:sp>
        <p:nvSpPr>
          <p:cNvPr id="2" name="TextBox 1">
            <a:extLst>
              <a:ext uri="{FF2B5EF4-FFF2-40B4-BE49-F238E27FC236}">
                <a16:creationId xmlns:a16="http://schemas.microsoft.com/office/drawing/2014/main" id="{3C3983C5-6465-87FF-E3B5-3580DEF0AFF9}"/>
              </a:ext>
            </a:extLst>
          </p:cNvPr>
          <p:cNvSpPr txBox="1"/>
          <p:nvPr/>
        </p:nvSpPr>
        <p:spPr>
          <a:xfrm>
            <a:off x="5760712" y="3438172"/>
            <a:ext cx="3307081" cy="276999"/>
          </a:xfrm>
          <a:prstGeom prst="rect">
            <a:avLst/>
          </a:prstGeom>
          <a:ln>
            <a:solidFill>
              <a:schemeClr val="accent1"/>
            </a:solidFill>
          </a:ln>
          <a:effectLst>
            <a:glow rad="139700">
              <a:schemeClr val="accent6">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EventDurationResult</a:t>
            </a:r>
          </a:p>
        </p:txBody>
      </p:sp>
    </p:spTree>
    <p:extLst>
      <p:ext uri="{BB962C8B-B14F-4D97-AF65-F5344CB8AC3E}">
        <p14:creationId xmlns:p14="http://schemas.microsoft.com/office/powerpoint/2010/main" val="2300465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405FE-66B9-BAAA-2C0B-1DCD27333B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CCE796-3030-BCD4-2912-9AB98EA9D40C}"/>
              </a:ext>
            </a:extLst>
          </p:cNvPr>
          <p:cNvSpPr txBox="1"/>
          <p:nvPr/>
        </p:nvSpPr>
        <p:spPr>
          <a:xfrm>
            <a:off x="209004" y="159848"/>
            <a:ext cx="2468881" cy="646331"/>
          </a:xfrm>
          <a:prstGeom prst="rect">
            <a:avLst/>
          </a:prstGeom>
          <a:noFill/>
          <a:ln>
            <a:solidFill>
              <a:schemeClr val="accent5">
                <a:lumMod val="20000"/>
                <a:lumOff val="80000"/>
              </a:schemeClr>
            </a:solidFill>
          </a:ln>
          <a:effectLst>
            <a:glow rad="1397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EventSemantics</a:t>
            </a:r>
          </a:p>
        </p:txBody>
      </p:sp>
      <p:sp>
        <p:nvSpPr>
          <p:cNvPr id="4" name="TextBox 3">
            <a:extLst>
              <a:ext uri="{FF2B5EF4-FFF2-40B4-BE49-F238E27FC236}">
                <a16:creationId xmlns:a16="http://schemas.microsoft.com/office/drawing/2014/main" id="{D9AA9C49-8692-6E01-D2A5-42F498DDBBB9}"/>
              </a:ext>
            </a:extLst>
          </p:cNvPr>
          <p:cNvSpPr txBox="1"/>
          <p:nvPr/>
        </p:nvSpPr>
        <p:spPr>
          <a:xfrm>
            <a:off x="2761596" y="34918"/>
            <a:ext cx="5882640" cy="1446550"/>
          </a:xfrm>
          <a:prstGeom prst="rect">
            <a:avLst/>
          </a:prstGeom>
          <a:noFill/>
        </p:spPr>
        <p:txBody>
          <a:bodyPr wrap="square" rtlCol="0">
            <a:spAutoFit/>
          </a:bodyPr>
          <a:lstStyle/>
          <a:p>
            <a:r>
              <a:rPr lang="en-US" sz="1100" b="1">
                <a:latin typeface="Consolas" panose="020B0609020204030204" pitchFamily="49" charset="0"/>
              </a:rPr>
              <a:t>Constructor</a:t>
            </a:r>
          </a:p>
          <a:p>
            <a:r>
              <a:rPr lang="en-US" sz="1100" i="1">
                <a:latin typeface="Consolas" panose="020B0609020204030204" pitchFamily="49" charset="0"/>
              </a:rPr>
              <a:t>__init__</a:t>
            </a:r>
            <a:r>
              <a:rPr lang="en-US" sz="1100">
                <a:latin typeface="Consolas" panose="020B0609020204030204" pitchFamily="49" charset="0"/>
              </a:rPr>
              <a:t>(data, semantics</a:t>
            </a:r>
            <a:endParaRPr lang="en-US" sz="1100" i="1">
              <a:latin typeface="Consolas" panose="020B0609020204030204" pitchFamily="49" charset="0"/>
            </a:endParaRPr>
          </a:p>
          <a:p>
            <a:endParaRPr lang="en-US" sz="1100" i="1">
              <a:latin typeface="Consolas" panose="020B0609020204030204" pitchFamily="49" charset="0"/>
            </a:endParaRPr>
          </a:p>
          <a:p>
            <a:r>
              <a:rPr lang="en-US" sz="1100" b="1">
                <a:latin typeface="Consolas" panose="020B0609020204030204" pitchFamily="49" charset="0"/>
              </a:rPr>
              <a:t>Methods</a:t>
            </a:r>
            <a:br>
              <a:rPr lang="en-US" sz="1100">
                <a:latin typeface="Consolas" panose="020B0609020204030204" pitchFamily="49" charset="0"/>
              </a:rPr>
            </a:br>
            <a:r>
              <a:rPr lang="en-US" sz="1100" i="1">
                <a:latin typeface="Consolas" panose="020B0609020204030204" pitchFamily="49" charset="0"/>
              </a:rPr>
              <a:t>copy</a:t>
            </a:r>
            <a:r>
              <a:rPr lang="en-US" sz="1100">
                <a:latin typeface="Consolas" panose="020B0609020204030204" pitchFamily="49" charset="0"/>
              </a:rPr>
              <a:t>() -&gt; Events</a:t>
            </a:r>
            <a:br>
              <a:rPr lang="en-US" sz="1100">
                <a:latin typeface="Consolas" panose="020B0609020204030204" pitchFamily="49" charset="0"/>
              </a:rPr>
            </a:br>
            <a:r>
              <a:rPr lang="en-US" sz="1100" i="1">
                <a:latin typeface="Consolas" panose="020B0609020204030204" pitchFamily="49" charset="0"/>
              </a:rPr>
              <a:t>__len__ </a:t>
            </a:r>
            <a:r>
              <a:rPr lang="en-US" sz="1100">
                <a:latin typeface="Consolas" panose="020B0609020204030204" pitchFamily="49" charset="0"/>
              </a:rPr>
              <a:t>-&gt; int</a:t>
            </a:r>
          </a:p>
          <a:p>
            <a:r>
              <a:rPr lang="en-US" sz="1100" i="1">
                <a:latin typeface="Consolas" panose="020B0609020204030204" pitchFamily="49" charset="0"/>
              </a:rPr>
              <a:t>__repr__</a:t>
            </a:r>
            <a:r>
              <a:rPr lang="en-US" sz="1100">
                <a:latin typeface="Consolas" panose="020B0609020204030204" pitchFamily="49" charset="0"/>
              </a:rPr>
              <a:t> -&gt; str</a:t>
            </a:r>
          </a:p>
          <a:p>
            <a:endParaRPr lang="en-US" sz="1100">
              <a:latin typeface="Consolas" panose="020B0609020204030204" pitchFamily="49" charset="0"/>
            </a:endParaRPr>
          </a:p>
        </p:txBody>
      </p:sp>
      <p:sp>
        <p:nvSpPr>
          <p:cNvPr id="6" name="TextBox 5">
            <a:extLst>
              <a:ext uri="{FF2B5EF4-FFF2-40B4-BE49-F238E27FC236}">
                <a16:creationId xmlns:a16="http://schemas.microsoft.com/office/drawing/2014/main" id="{8F732A94-693F-8FC5-FB70-97B2CE5E3EEC}"/>
              </a:ext>
            </a:extLst>
          </p:cNvPr>
          <p:cNvSpPr txBox="1"/>
          <p:nvPr/>
        </p:nvSpPr>
        <p:spPr>
          <a:xfrm>
            <a:off x="3282132" y="1481468"/>
            <a:ext cx="3307081" cy="646331"/>
          </a:xfrm>
          <a:prstGeom prst="rect">
            <a:avLst/>
          </a:prstGeom>
          <a:ln>
            <a:solidFill>
              <a:schemeClr val="accent1"/>
            </a:solidFill>
          </a:ln>
          <a:effectLst>
            <a:glow rad="101600">
              <a:srgbClr val="FF000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EventDurationAnalyzer</a:t>
            </a:r>
          </a:p>
          <a:p>
            <a:pPr algn="ctr"/>
            <a:r>
              <a:rPr lang="en-US" sz="1200">
                <a:latin typeface="Centaur" panose="02030504050205020304" pitchFamily="18" charset="0"/>
                <a:cs typeface="Times New Roman" panose="02020603050405020304" pitchFamily="18" charset="0"/>
              </a:rPr>
              <a:t>events: Events</a:t>
            </a:r>
          </a:p>
          <a:p>
            <a:pPr algn="ctr"/>
            <a:r>
              <a:rPr lang="en-US" sz="1200">
                <a:latin typeface="Centaur" panose="02030504050205020304" pitchFamily="18" charset="0"/>
                <a:cs typeface="Times New Roman" panose="02020603050405020304" pitchFamily="18" charset="0"/>
              </a:rPr>
              <a:t>descriptor_cols: list[str] | None</a:t>
            </a:r>
          </a:p>
        </p:txBody>
      </p:sp>
      <p:sp>
        <p:nvSpPr>
          <p:cNvPr id="7" name="TextBox 6">
            <a:extLst>
              <a:ext uri="{FF2B5EF4-FFF2-40B4-BE49-F238E27FC236}">
                <a16:creationId xmlns:a16="http://schemas.microsoft.com/office/drawing/2014/main" id="{B46EA234-519D-74F8-95FA-2AF344582E19}"/>
              </a:ext>
            </a:extLst>
          </p:cNvPr>
          <p:cNvSpPr txBox="1"/>
          <p:nvPr/>
        </p:nvSpPr>
        <p:spPr>
          <a:xfrm>
            <a:off x="6730428" y="1461078"/>
            <a:ext cx="5882640" cy="1277273"/>
          </a:xfrm>
          <a:prstGeom prst="rect">
            <a:avLst/>
          </a:prstGeom>
          <a:noFill/>
        </p:spPr>
        <p:txBody>
          <a:bodyPr wrap="square" rtlCol="0">
            <a:spAutoFit/>
          </a:bodyPr>
          <a:lstStyle/>
          <a:p>
            <a:r>
              <a:rPr lang="en-US" sz="1100" b="1">
                <a:latin typeface="Consolas" panose="020B0609020204030204" pitchFamily="49" charset="0"/>
              </a:rPr>
              <a:t>Constructor</a:t>
            </a:r>
          </a:p>
          <a:p>
            <a:r>
              <a:rPr lang="en-US" sz="1100" i="1">
                <a:latin typeface="Consolas" panose="020B0609020204030204" pitchFamily="49" charset="0"/>
              </a:rPr>
              <a:t>__init__</a:t>
            </a:r>
            <a:r>
              <a:rPr lang="en-US" sz="1100">
                <a:latin typeface="Consolas" panose="020B0609020204030204" pitchFamily="49" charset="0"/>
              </a:rPr>
              <a:t>(events, descriptor_cols</a:t>
            </a:r>
            <a:endParaRPr lang="en-US" sz="1100" i="1">
              <a:latin typeface="Consolas" panose="020B0609020204030204" pitchFamily="49" charset="0"/>
            </a:endParaRPr>
          </a:p>
          <a:p>
            <a:endParaRPr lang="en-US" sz="1100" b="1">
              <a:latin typeface="Consolas" panose="020B0609020204030204" pitchFamily="49" charset="0"/>
            </a:endParaRPr>
          </a:p>
          <a:p>
            <a:r>
              <a:rPr lang="en-US" sz="1100" b="1">
                <a:latin typeface="Consolas" panose="020B0609020204030204" pitchFamily="49" charset="0"/>
              </a:rPr>
              <a:t>Methods</a:t>
            </a:r>
            <a:br>
              <a:rPr lang="en-US" sz="1100">
                <a:latin typeface="Consolas" panose="020B0609020204030204" pitchFamily="49" charset="0"/>
              </a:rPr>
            </a:br>
            <a:r>
              <a:rPr lang="en-US" sz="1100" i="1">
                <a:latin typeface="Consolas" panose="020B0609020204030204" pitchFamily="49" charset="0"/>
              </a:rPr>
              <a:t>calc</a:t>
            </a:r>
            <a:r>
              <a:rPr lang="en-US" sz="1100">
                <a:latin typeface="Consolas" panose="020B0609020204030204" pitchFamily="49" charset="0"/>
              </a:rPr>
              <a:t>() -&gt; EventDurationResult</a:t>
            </a:r>
          </a:p>
          <a:p>
            <a:r>
              <a:rPr lang="en-US" sz="1100" i="1">
                <a:latin typeface="Consolas" panose="020B0609020204030204" pitchFamily="49" charset="0"/>
              </a:rPr>
              <a:t>__repr__</a:t>
            </a:r>
            <a:r>
              <a:rPr lang="en-US" sz="1100">
                <a:latin typeface="Consolas" panose="020B0609020204030204" pitchFamily="49" charset="0"/>
              </a:rPr>
              <a:t> -&gt; str</a:t>
            </a:r>
          </a:p>
          <a:p>
            <a:endParaRPr lang="en-US" sz="1100">
              <a:latin typeface="Consolas" panose="020B0609020204030204" pitchFamily="49" charset="0"/>
            </a:endParaRPr>
          </a:p>
        </p:txBody>
      </p:sp>
      <p:sp>
        <p:nvSpPr>
          <p:cNvPr id="8" name="TextBox 7">
            <a:extLst>
              <a:ext uri="{FF2B5EF4-FFF2-40B4-BE49-F238E27FC236}">
                <a16:creationId xmlns:a16="http://schemas.microsoft.com/office/drawing/2014/main" id="{F6495389-9C54-CCDA-82CD-69F57FFF6C49}"/>
              </a:ext>
            </a:extLst>
          </p:cNvPr>
          <p:cNvSpPr txBox="1"/>
          <p:nvPr/>
        </p:nvSpPr>
        <p:spPr>
          <a:xfrm>
            <a:off x="5765640" y="3169238"/>
            <a:ext cx="3307081" cy="1015663"/>
          </a:xfrm>
          <a:prstGeom prst="rect">
            <a:avLst/>
          </a:prstGeom>
          <a:ln>
            <a:solidFill>
              <a:schemeClr val="accent1"/>
            </a:solidFill>
          </a:ln>
          <a:effectLst>
            <a:glow rad="139700">
              <a:schemeClr val="accent6">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EventDurationResult</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entity_col: str</a:t>
            </a:r>
          </a:p>
          <a:p>
            <a:pPr algn="ctr"/>
            <a:r>
              <a:rPr lang="en-US" sz="1200">
                <a:latin typeface="Centaur" panose="02030504050205020304" pitchFamily="18" charset="0"/>
                <a:cs typeface="Times New Roman" panose="02020603050405020304" pitchFamily="18" charset="0"/>
              </a:rPr>
              <a:t>identity: str | None</a:t>
            </a:r>
          </a:p>
          <a:p>
            <a:pPr algn="ctr"/>
            <a:r>
              <a:rPr lang="en-US" sz="1200">
                <a:latin typeface="Centaur" panose="02030504050205020304" pitchFamily="18" charset="0"/>
                <a:cs typeface="Times New Roman" panose="02020603050405020304" pitchFamily="18" charset="0"/>
              </a:rPr>
              <a:t>descriptor_cols: List[str] | None</a:t>
            </a:r>
          </a:p>
        </p:txBody>
      </p:sp>
      <p:sp>
        <p:nvSpPr>
          <p:cNvPr id="9" name="TextBox 8">
            <a:extLst>
              <a:ext uri="{FF2B5EF4-FFF2-40B4-BE49-F238E27FC236}">
                <a16:creationId xmlns:a16="http://schemas.microsoft.com/office/drawing/2014/main" id="{4AE70CDF-4808-BDD2-997C-F884CF101A76}"/>
              </a:ext>
            </a:extLst>
          </p:cNvPr>
          <p:cNvSpPr txBox="1"/>
          <p:nvPr/>
        </p:nvSpPr>
        <p:spPr>
          <a:xfrm>
            <a:off x="1317557" y="3169238"/>
            <a:ext cx="4331964" cy="1446550"/>
          </a:xfrm>
          <a:prstGeom prst="rect">
            <a:avLst/>
          </a:prstGeom>
          <a:noFill/>
        </p:spPr>
        <p:txBody>
          <a:bodyPr wrap="square" rtlCol="0">
            <a:spAutoFit/>
          </a:bodyPr>
          <a:lstStyle/>
          <a:p>
            <a:pPr algn="r"/>
            <a:r>
              <a:rPr lang="en-US" sz="1100" b="1">
                <a:latin typeface="Consolas" panose="020B0609020204030204" pitchFamily="49" charset="0"/>
              </a:rPr>
              <a:t>Constructor</a:t>
            </a:r>
          </a:p>
          <a:p>
            <a:pPr algn="r"/>
            <a:r>
              <a:rPr lang="en-US" sz="1100" i="1">
                <a:latin typeface="Consolas" panose="020B0609020204030204" pitchFamily="49" charset="0"/>
              </a:rPr>
              <a:t>__init__</a:t>
            </a:r>
            <a:r>
              <a:rPr lang="en-US" sz="1100">
                <a:latin typeface="Consolas" panose="020B0609020204030204" pitchFamily="49" charset="0"/>
              </a:rPr>
              <a:t>(data, entity, identity, descriptor_cols)</a:t>
            </a:r>
            <a:endParaRPr lang="en-US" sz="1100" i="1">
              <a:latin typeface="Consolas" panose="020B0609020204030204" pitchFamily="49" charset="0"/>
            </a:endParaRPr>
          </a:p>
          <a:p>
            <a:pPr algn="r"/>
            <a:endParaRPr lang="en-US" sz="1100" b="1">
              <a:latin typeface="Consolas" panose="020B0609020204030204" pitchFamily="49" charset="0"/>
            </a:endParaRPr>
          </a:p>
          <a:p>
            <a:pPr algn="r"/>
            <a:r>
              <a:rPr lang="en-US" sz="1100" b="1">
                <a:latin typeface="Consolas" panose="020B0609020204030204" pitchFamily="49" charset="0"/>
              </a:rPr>
              <a:t>Methods</a:t>
            </a:r>
            <a:br>
              <a:rPr lang="en-US" sz="1100">
                <a:latin typeface="Consolas" panose="020B0609020204030204" pitchFamily="49" charset="0"/>
              </a:rPr>
            </a:br>
            <a:r>
              <a:rPr lang="en-US" sz="1100" i="1">
                <a:latin typeface="Consolas" panose="020B0609020204030204" pitchFamily="49" charset="0"/>
              </a:rPr>
              <a:t>build_arrays</a:t>
            </a:r>
            <a:r>
              <a:rPr lang="en-US" sz="1100">
                <a:latin typeface="Consolas" panose="020B0609020204030204" pitchFamily="49" charset="0"/>
              </a:rPr>
              <a:t>() -&gt; Dict[str, np.ndarray]</a:t>
            </a:r>
          </a:p>
          <a:p>
            <a:pPr algn="r"/>
            <a:r>
              <a:rPr lang="en-US" sz="1100" i="1">
                <a:latin typeface="Consolas" panose="020B0609020204030204" pitchFamily="49" charset="0"/>
              </a:rPr>
              <a:t>__len__ </a:t>
            </a:r>
            <a:r>
              <a:rPr lang="en-US" sz="1100">
                <a:latin typeface="Consolas" panose="020B0609020204030204" pitchFamily="49" charset="0"/>
              </a:rPr>
              <a:t>-&gt; int</a:t>
            </a:r>
          </a:p>
          <a:p>
            <a:pPr algn="r"/>
            <a:r>
              <a:rPr lang="en-US" sz="1100" i="1">
                <a:latin typeface="Consolas" panose="020B0609020204030204" pitchFamily="49" charset="0"/>
              </a:rPr>
              <a:t>__repr__</a:t>
            </a:r>
            <a:r>
              <a:rPr lang="en-US" sz="1100">
                <a:latin typeface="Consolas" panose="020B0609020204030204" pitchFamily="49" charset="0"/>
              </a:rPr>
              <a:t> -&gt; str</a:t>
            </a:r>
          </a:p>
          <a:p>
            <a:pPr algn="r"/>
            <a:endParaRPr lang="en-US" sz="1100">
              <a:latin typeface="Consolas" panose="020B0609020204030204" pitchFamily="49" charset="0"/>
            </a:endParaRPr>
          </a:p>
        </p:txBody>
      </p:sp>
    </p:spTree>
    <p:extLst>
      <p:ext uri="{BB962C8B-B14F-4D97-AF65-F5344CB8AC3E}">
        <p14:creationId xmlns:p14="http://schemas.microsoft.com/office/powerpoint/2010/main" val="2559188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BAFE-9FC7-E598-1A55-DD2E50C76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8F95D-8B9A-6F71-8266-A013C7991D70}"/>
              </a:ext>
            </a:extLst>
          </p:cNvPr>
          <p:cNvSpPr>
            <a:spLocks noGrp="1"/>
          </p:cNvSpPr>
          <p:nvPr>
            <p:ph type="ctrTitle"/>
          </p:nvPr>
        </p:nvSpPr>
        <p:spPr/>
        <p:txBody>
          <a:bodyPr/>
          <a:lstStyle/>
          <a:p>
            <a:r>
              <a:rPr lang="en-US"/>
              <a:t>Vignette 4</a:t>
            </a:r>
          </a:p>
        </p:txBody>
      </p:sp>
      <p:sp>
        <p:nvSpPr>
          <p:cNvPr id="5" name="Subtitle 4">
            <a:extLst>
              <a:ext uri="{FF2B5EF4-FFF2-40B4-BE49-F238E27FC236}">
                <a16:creationId xmlns:a16="http://schemas.microsoft.com/office/drawing/2014/main" id="{81A83578-D61B-D72F-72FE-A047F5501EFC}"/>
              </a:ext>
            </a:extLst>
          </p:cNvPr>
          <p:cNvSpPr>
            <a:spLocks noGrp="1"/>
          </p:cNvSpPr>
          <p:nvPr>
            <p:ph type="subTitle" idx="1"/>
          </p:nvPr>
        </p:nvSpPr>
        <p:spPr/>
        <p:txBody>
          <a:bodyPr/>
          <a:lstStyle/>
          <a:p>
            <a:r>
              <a:rPr lang="en-US"/>
              <a:t>Handling Observation Periods</a:t>
            </a:r>
          </a:p>
        </p:txBody>
      </p:sp>
    </p:spTree>
    <p:extLst>
      <p:ext uri="{BB962C8B-B14F-4D97-AF65-F5344CB8AC3E}">
        <p14:creationId xmlns:p14="http://schemas.microsoft.com/office/powerpoint/2010/main" val="11874573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378200-6871-541B-180D-80B335EA2BAA}"/>
              </a:ext>
            </a:extLst>
          </p:cNvPr>
          <p:cNvSpPr txBox="1"/>
          <p:nvPr/>
        </p:nvSpPr>
        <p:spPr>
          <a:xfrm>
            <a:off x="312420" y="371147"/>
            <a:ext cx="8831580" cy="4616648"/>
          </a:xfrm>
          <a:prstGeom prst="rect">
            <a:avLst/>
          </a:prstGeom>
          <a:noFill/>
        </p:spPr>
        <p:txBody>
          <a:bodyPr wrap="square" rtlCol="0">
            <a:spAutoFit/>
          </a:bodyPr>
          <a:lstStyle/>
          <a:p>
            <a:r>
              <a:rPr lang="en-US" sz="1400" b="1"/>
              <a:t>Vignette #4</a:t>
            </a:r>
            <a:endParaRPr lang="en-US" sz="1400" b="1" dirty="0"/>
          </a:p>
          <a:p>
            <a:r>
              <a:rPr lang="en-US" sz="1400"/>
              <a:t>You have coverage records for 500 Medicaid members. Before you canask any scientific question — who was covered, for how long, were there gaps — you need to answer a structural one: "What is each member's observation window, and what happened inside it?" This question has two versions. The first is simple: everyone sharesthe same calendar year. The second is harder and more realistic: each member has a different window based on their age.</a:t>
            </a:r>
          </a:p>
          <a:p>
            <a:endParaRPr lang="en-US" sz="1400" b="1"/>
          </a:p>
          <a:p>
            <a:r>
              <a:rPr lang="en-US" sz="1400" b="1"/>
              <a:t>Problem </a:t>
            </a:r>
            <a:r>
              <a:rPr lang="en-US" sz="1400" b="1" dirty="0"/>
              <a:t>1 </a:t>
            </a:r>
            <a:r>
              <a:rPr lang="en-US" sz="1400" b="1"/>
              <a:t>— Coverage records are not the same as coverage withina period</a:t>
            </a:r>
            <a:r>
              <a:rPr lang="en-US" sz="1400"/>
              <a:t>. A member may have a coverage period starting in 2021 and ending in 2023. Their coverage in 2022 is the intersection of that period with the observation window — not the raw record. Computing that intersection correctly for every member requires interval arithmetic that a simple date filter cannot provide.</a:t>
            </a:r>
            <a:endParaRPr lang="en-US" sz="1400" b="1"/>
          </a:p>
          <a:p>
            <a:r>
              <a:rPr lang="en-US" sz="1400" b="1"/>
              <a:t>Problem </a:t>
            </a:r>
            <a:r>
              <a:rPr lang="en-US" sz="1400" b="1" dirty="0"/>
              <a:t>2 </a:t>
            </a:r>
            <a:r>
              <a:rPr lang="en-US" sz="1400" b="1"/>
              <a:t>— Gaps, lapses, and partial coverage require careful denominators.</a:t>
            </a:r>
            <a:r>
              <a:rPr lang="en-US" sz="1400"/>
              <a:t> "19.4% of members had gaps" means 19.4% of members </a:t>
            </a:r>
            <a:r>
              <a:rPr lang="en-US" sz="1400" i="1"/>
              <a:t>with any coverage</a:t>
            </a:r>
            <a:r>
              <a:rPr lang="en-US" sz="1400"/>
              <a:t>. "13.6% had no coverage" means 13.6% of the full cohort. Mixing denominators silently produces wrong statistics. A script that computes these inline has no mechanism to enforce denominator consistency. </a:t>
            </a:r>
            <a:endParaRPr lang="en-US" sz="1400" b="1"/>
          </a:p>
          <a:p>
            <a:r>
              <a:rPr lang="en-US" sz="1400" b="1"/>
              <a:t>Problem 3 — Age-based windows are per-entity.</a:t>
            </a:r>
            <a:r>
              <a:rPr lang="en-US" sz="1400"/>
              <a:t> When the observation window is each member's 18th to 25th birthday, every member has a different start and end date. Members who turned 25 before the data starts, or who turn 18 after the data ends, have zero-length windows. A script that applies a single date filter silently includes or excludes them incorrectly.</a:t>
            </a:r>
            <a:endParaRPr lang="en-US" sz="1400" dirty="0"/>
          </a:p>
          <a:p>
            <a:r>
              <a:rPr lang="en-US" sz="1400" b="1" dirty="0"/>
              <a:t>Problem 4 </a:t>
            </a:r>
            <a:r>
              <a:rPr lang="en-US" sz="1400" b="1"/>
              <a:t>— Carrying calculations forward.</a:t>
            </a:r>
            <a:r>
              <a:rPr lang="en-US" sz="1400"/>
              <a:t> After computing coverage statistics, those columns should be available for every downstream step — sorting, filtering, visualizing — without recomputing. A script that computes them inline must recompute them every time they are needed..</a:t>
            </a:r>
            <a:endParaRPr lang="en-US" sz="1400" dirty="0"/>
          </a:p>
        </p:txBody>
      </p:sp>
    </p:spTree>
    <p:extLst>
      <p:ext uri="{BB962C8B-B14F-4D97-AF65-F5344CB8AC3E}">
        <p14:creationId xmlns:p14="http://schemas.microsoft.com/office/powerpoint/2010/main" val="35491079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24048-702C-C0A8-9A01-DF0B6F609C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6CC6EA-D5FB-9900-43A8-FEB35FB9B62C}"/>
              </a:ext>
            </a:extLst>
          </p:cNvPr>
          <p:cNvSpPr txBox="1"/>
          <p:nvPr/>
        </p:nvSpPr>
        <p:spPr>
          <a:xfrm>
            <a:off x="-34290" y="-8405"/>
            <a:ext cx="4606290" cy="369332"/>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With Eventus:</a:t>
            </a:r>
          </a:p>
        </p:txBody>
      </p:sp>
      <p:sp>
        <p:nvSpPr>
          <p:cNvPr id="46" name="TextBox 45">
            <a:extLst>
              <a:ext uri="{FF2B5EF4-FFF2-40B4-BE49-F238E27FC236}">
                <a16:creationId xmlns:a16="http://schemas.microsoft.com/office/drawing/2014/main" id="{DA9EE0AD-FFF9-ACBA-CF03-8063E8E9D05D}"/>
              </a:ext>
            </a:extLst>
          </p:cNvPr>
          <p:cNvSpPr txBox="1"/>
          <p:nvPr/>
        </p:nvSpPr>
        <p:spPr>
          <a:xfrm>
            <a:off x="-331216" y="394182"/>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pic>
        <p:nvPicPr>
          <p:cNvPr id="21" name="Picture 20">
            <a:extLst>
              <a:ext uri="{FF2B5EF4-FFF2-40B4-BE49-F238E27FC236}">
                <a16:creationId xmlns:a16="http://schemas.microsoft.com/office/drawing/2014/main" id="{7CA1BAB4-2225-5FF0-1B87-CE40266A9D4E}"/>
              </a:ext>
            </a:extLst>
          </p:cNvPr>
          <p:cNvPicPr>
            <a:picLocks noChangeAspect="1"/>
          </p:cNvPicPr>
          <p:nvPr/>
        </p:nvPicPr>
        <p:blipFill>
          <a:blip r:embed="rId2"/>
          <a:stretch>
            <a:fillRect/>
          </a:stretch>
        </p:blipFill>
        <p:spPr>
          <a:xfrm>
            <a:off x="280202" y="735214"/>
            <a:ext cx="4076910" cy="4102311"/>
          </a:xfrm>
          <a:prstGeom prst="rect">
            <a:avLst/>
          </a:prstGeom>
        </p:spPr>
      </p:pic>
      <p:pic>
        <p:nvPicPr>
          <p:cNvPr id="23" name="Picture 22">
            <a:extLst>
              <a:ext uri="{FF2B5EF4-FFF2-40B4-BE49-F238E27FC236}">
                <a16:creationId xmlns:a16="http://schemas.microsoft.com/office/drawing/2014/main" id="{EC105D89-295E-FAD5-F9C5-B503651672CD}"/>
              </a:ext>
            </a:extLst>
          </p:cNvPr>
          <p:cNvPicPr>
            <a:picLocks noChangeAspect="1"/>
          </p:cNvPicPr>
          <p:nvPr/>
        </p:nvPicPr>
        <p:blipFill>
          <a:blip r:embed="rId3"/>
          <a:stretch>
            <a:fillRect/>
          </a:stretch>
        </p:blipFill>
        <p:spPr>
          <a:xfrm>
            <a:off x="5158945" y="2571750"/>
            <a:ext cx="3606985" cy="2292468"/>
          </a:xfrm>
          <a:prstGeom prst="rect">
            <a:avLst/>
          </a:prstGeom>
        </p:spPr>
      </p:pic>
      <p:sp>
        <p:nvSpPr>
          <p:cNvPr id="24" name="TextBox 23">
            <a:extLst>
              <a:ext uri="{FF2B5EF4-FFF2-40B4-BE49-F238E27FC236}">
                <a16:creationId xmlns:a16="http://schemas.microsoft.com/office/drawing/2014/main" id="{A8249136-3C64-B860-66AB-387D2C6BFDEE}"/>
              </a:ext>
            </a:extLst>
          </p:cNvPr>
          <p:cNvSpPr txBox="1"/>
          <p:nvPr/>
        </p:nvSpPr>
        <p:spPr>
          <a:xfrm>
            <a:off x="7384579" y="2138579"/>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Report</a:t>
            </a:r>
          </a:p>
        </p:txBody>
      </p:sp>
      <p:sp>
        <p:nvSpPr>
          <p:cNvPr id="2" name="TextBox 1">
            <a:extLst>
              <a:ext uri="{FF2B5EF4-FFF2-40B4-BE49-F238E27FC236}">
                <a16:creationId xmlns:a16="http://schemas.microsoft.com/office/drawing/2014/main" id="{B9C38A04-AEE2-0D38-5013-7A20B5C18D8F}"/>
              </a:ext>
            </a:extLst>
          </p:cNvPr>
          <p:cNvSpPr txBox="1"/>
          <p:nvPr/>
        </p:nvSpPr>
        <p:spPr>
          <a:xfrm>
            <a:off x="5427617" y="701959"/>
            <a:ext cx="1469572" cy="1200329"/>
          </a:xfrm>
          <a:prstGeom prst="rect">
            <a:avLst/>
          </a:prstGeom>
          <a:noFill/>
        </p:spPr>
        <p:txBody>
          <a:bodyPr wrap="square" rtlCol="0">
            <a:spAutoFit/>
          </a:bodyPr>
          <a:lstStyle/>
          <a:p>
            <a:r>
              <a:rPr lang="en-US"/>
              <a:t>Observation Period is a simple calendar</a:t>
            </a:r>
          </a:p>
        </p:txBody>
      </p:sp>
    </p:spTree>
    <p:extLst>
      <p:ext uri="{BB962C8B-B14F-4D97-AF65-F5344CB8AC3E}">
        <p14:creationId xmlns:p14="http://schemas.microsoft.com/office/powerpoint/2010/main" val="988511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0F005-D286-A51B-9D96-B5260538F3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FFBE7D7-65D4-25C8-287E-5ED23653E179}"/>
              </a:ext>
            </a:extLst>
          </p:cNvPr>
          <p:cNvSpPr txBox="1"/>
          <p:nvPr/>
        </p:nvSpPr>
        <p:spPr>
          <a:xfrm>
            <a:off x="-34290" y="-8405"/>
            <a:ext cx="4606290" cy="369332"/>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With Eventus:</a:t>
            </a:r>
          </a:p>
        </p:txBody>
      </p:sp>
      <p:sp>
        <p:nvSpPr>
          <p:cNvPr id="46" name="TextBox 45">
            <a:extLst>
              <a:ext uri="{FF2B5EF4-FFF2-40B4-BE49-F238E27FC236}">
                <a16:creationId xmlns:a16="http://schemas.microsoft.com/office/drawing/2014/main" id="{9902D167-ED09-B78C-6C56-CF701F84F636}"/>
              </a:ext>
            </a:extLst>
          </p:cNvPr>
          <p:cNvSpPr txBox="1"/>
          <p:nvPr/>
        </p:nvSpPr>
        <p:spPr>
          <a:xfrm>
            <a:off x="-331216" y="394182"/>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sp>
        <p:nvSpPr>
          <p:cNvPr id="24" name="TextBox 23">
            <a:extLst>
              <a:ext uri="{FF2B5EF4-FFF2-40B4-BE49-F238E27FC236}">
                <a16:creationId xmlns:a16="http://schemas.microsoft.com/office/drawing/2014/main" id="{48270B0F-5377-C32B-0362-DC4D242FF3E9}"/>
              </a:ext>
            </a:extLst>
          </p:cNvPr>
          <p:cNvSpPr txBox="1"/>
          <p:nvPr/>
        </p:nvSpPr>
        <p:spPr>
          <a:xfrm>
            <a:off x="7384579" y="2138579"/>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Report</a:t>
            </a:r>
          </a:p>
        </p:txBody>
      </p:sp>
      <p:sp>
        <p:nvSpPr>
          <p:cNvPr id="2" name="TextBox 1">
            <a:extLst>
              <a:ext uri="{FF2B5EF4-FFF2-40B4-BE49-F238E27FC236}">
                <a16:creationId xmlns:a16="http://schemas.microsoft.com/office/drawing/2014/main" id="{A4588132-A277-630D-BEFF-ADA8AF26C7B4}"/>
              </a:ext>
            </a:extLst>
          </p:cNvPr>
          <p:cNvSpPr txBox="1"/>
          <p:nvPr/>
        </p:nvSpPr>
        <p:spPr>
          <a:xfrm>
            <a:off x="4029891" y="548070"/>
            <a:ext cx="2795452" cy="1754326"/>
          </a:xfrm>
          <a:prstGeom prst="rect">
            <a:avLst/>
          </a:prstGeom>
          <a:noFill/>
        </p:spPr>
        <p:txBody>
          <a:bodyPr wrap="square" rtlCol="0">
            <a:spAutoFit/>
          </a:bodyPr>
          <a:lstStyle/>
          <a:p>
            <a:r>
              <a:rPr lang="en-US"/>
              <a:t>Bonus: Observation Period changes per entity</a:t>
            </a:r>
          </a:p>
          <a:p>
            <a:endParaRPr lang="en-US"/>
          </a:p>
          <a:p>
            <a:r>
              <a:rPr lang="en-US"/>
              <a:t>Here is an example where the observation period is chosen by an age window</a:t>
            </a:r>
          </a:p>
        </p:txBody>
      </p:sp>
      <p:pic>
        <p:nvPicPr>
          <p:cNvPr id="5" name="Picture 4">
            <a:extLst>
              <a:ext uri="{FF2B5EF4-FFF2-40B4-BE49-F238E27FC236}">
                <a16:creationId xmlns:a16="http://schemas.microsoft.com/office/drawing/2014/main" id="{479D5FB0-A4DC-8CEA-9FC7-49D3EFEC7AED}"/>
              </a:ext>
            </a:extLst>
          </p:cNvPr>
          <p:cNvPicPr>
            <a:picLocks noChangeAspect="1"/>
          </p:cNvPicPr>
          <p:nvPr/>
        </p:nvPicPr>
        <p:blipFill>
          <a:blip r:embed="rId2"/>
          <a:stretch>
            <a:fillRect/>
          </a:stretch>
        </p:blipFill>
        <p:spPr>
          <a:xfrm>
            <a:off x="124997" y="735214"/>
            <a:ext cx="3454578" cy="4076910"/>
          </a:xfrm>
          <a:prstGeom prst="rect">
            <a:avLst/>
          </a:prstGeom>
        </p:spPr>
      </p:pic>
      <p:pic>
        <p:nvPicPr>
          <p:cNvPr id="7" name="Picture 6">
            <a:extLst>
              <a:ext uri="{FF2B5EF4-FFF2-40B4-BE49-F238E27FC236}">
                <a16:creationId xmlns:a16="http://schemas.microsoft.com/office/drawing/2014/main" id="{1448DABA-C615-D3B6-E0EC-16596AE65446}"/>
              </a:ext>
            </a:extLst>
          </p:cNvPr>
          <p:cNvPicPr>
            <a:picLocks noChangeAspect="1"/>
          </p:cNvPicPr>
          <p:nvPr/>
        </p:nvPicPr>
        <p:blipFill>
          <a:blip r:embed="rId3"/>
          <a:stretch>
            <a:fillRect/>
          </a:stretch>
        </p:blipFill>
        <p:spPr>
          <a:xfrm>
            <a:off x="4845103" y="2644399"/>
            <a:ext cx="4068843" cy="2097418"/>
          </a:xfrm>
          <a:prstGeom prst="rect">
            <a:avLst/>
          </a:prstGeom>
        </p:spPr>
      </p:pic>
    </p:spTree>
    <p:extLst>
      <p:ext uri="{BB962C8B-B14F-4D97-AF65-F5344CB8AC3E}">
        <p14:creationId xmlns:p14="http://schemas.microsoft.com/office/powerpoint/2010/main" val="2693432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747AD-CF2B-B80D-2CEE-BE6A7D06B4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4B4AA3-28F5-51FF-9F3B-0081A3180E8D}"/>
              </a:ext>
            </a:extLst>
          </p:cNvPr>
          <p:cNvSpPr txBox="1"/>
          <p:nvPr/>
        </p:nvSpPr>
        <p:spPr>
          <a:xfrm>
            <a:off x="111034" y="114300"/>
            <a:ext cx="4683035" cy="2246769"/>
          </a:xfrm>
          <a:prstGeom prst="rect">
            <a:avLst/>
          </a:prstGeom>
          <a:noFill/>
        </p:spPr>
        <p:txBody>
          <a:bodyPr wrap="square" rtlCol="0">
            <a:spAutoFit/>
          </a:bodyPr>
          <a:lstStyle/>
          <a:p>
            <a:r>
              <a:rPr lang="en-US" sz="1400" b="1">
                <a:latin typeface="Times New Roman" panose="02020603050405020304" pitchFamily="18" charset="0"/>
                <a:cs typeface="Times New Roman" panose="02020603050405020304" pitchFamily="18" charset="0"/>
              </a:rPr>
              <a:t>Without Eventus:</a:t>
            </a:r>
          </a:p>
          <a:p>
            <a:endParaRPr lang="en-US"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We asked a large language model to implement the equivalent pipelinewithout eventus, attempting full feature parity. The resulting scriptis available at </a:t>
            </a:r>
            <a:r>
              <a:rPr lang="en-US" sz="1400" i="1">
                <a:latin typeface="Times New Roman" panose="02020603050405020304" pitchFamily="18" charset="0"/>
                <a:cs typeface="Times New Roman" panose="02020603050405020304" pitchFamily="18" charset="0"/>
              </a:rPr>
              <a:t>vignettes/without_eventus/without_eventus_observation_periods.py</a:t>
            </a:r>
            <a:r>
              <a:rPr lang="en-US" sz="1400">
                <a:latin typeface="Times New Roman" panose="02020603050405020304" pitchFamily="18" charset="0"/>
                <a:cs typeface="Times New Roman" panose="02020603050405020304" pitchFamily="18" charset="0"/>
              </a:rPr>
              <a:t>. </a:t>
            </a:r>
          </a:p>
          <a:p>
            <a:r>
              <a:rPr lang="en-US" sz="1400">
                <a:latin typeface="Times New Roman" panose="02020603050405020304" pitchFamily="18" charset="0"/>
                <a:cs typeface="Times New Roman" panose="02020603050405020304" pitchFamily="18" charset="0"/>
              </a:rPr>
              <a:t>It required 275 lines and still produced a pandas UserWarning from boolean indexing — a subtle bug that could silently produce wrong results in certain cohort configurations.</a:t>
            </a:r>
          </a:p>
        </p:txBody>
      </p:sp>
      <p:pic>
        <p:nvPicPr>
          <p:cNvPr id="5" name="Picture 4">
            <a:extLst>
              <a:ext uri="{FF2B5EF4-FFF2-40B4-BE49-F238E27FC236}">
                <a16:creationId xmlns:a16="http://schemas.microsoft.com/office/drawing/2014/main" id="{AEC3E062-C54F-05B6-A568-9FF86AB151CF}"/>
              </a:ext>
            </a:extLst>
          </p:cNvPr>
          <p:cNvPicPr>
            <a:picLocks noChangeAspect="1"/>
          </p:cNvPicPr>
          <p:nvPr/>
        </p:nvPicPr>
        <p:blipFill>
          <a:blip r:embed="rId2"/>
          <a:stretch>
            <a:fillRect/>
          </a:stretch>
        </p:blipFill>
        <p:spPr>
          <a:xfrm>
            <a:off x="5257800" y="114300"/>
            <a:ext cx="3724003" cy="4943012"/>
          </a:xfrm>
          <a:prstGeom prst="rect">
            <a:avLst/>
          </a:prstGeom>
        </p:spPr>
      </p:pic>
    </p:spTree>
    <p:extLst>
      <p:ext uri="{BB962C8B-B14F-4D97-AF65-F5344CB8AC3E}">
        <p14:creationId xmlns:p14="http://schemas.microsoft.com/office/powerpoint/2010/main" val="37490428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E6CF1-3CC9-2B8C-ADCA-5BC3D37B2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21C24-FF58-A7DD-EC1A-F66780D83639}"/>
              </a:ext>
            </a:extLst>
          </p:cNvPr>
          <p:cNvSpPr>
            <a:spLocks noGrp="1"/>
          </p:cNvSpPr>
          <p:nvPr>
            <p:ph type="title"/>
          </p:nvPr>
        </p:nvSpPr>
        <p:spPr/>
        <p:txBody>
          <a:bodyPr/>
          <a:lstStyle/>
          <a:p>
            <a:pPr algn="l"/>
            <a:r>
              <a:rPr lang="en-US"/>
              <a:t>Architecture</a:t>
            </a:r>
          </a:p>
        </p:txBody>
      </p:sp>
      <p:sp>
        <p:nvSpPr>
          <p:cNvPr id="3" name="Text Placeholder 2">
            <a:extLst>
              <a:ext uri="{FF2B5EF4-FFF2-40B4-BE49-F238E27FC236}">
                <a16:creationId xmlns:a16="http://schemas.microsoft.com/office/drawing/2014/main" id="{562276F4-1C6E-44DC-904C-77B42F609F92}"/>
              </a:ext>
            </a:extLst>
          </p:cNvPr>
          <p:cNvSpPr>
            <a:spLocks noGrp="1"/>
          </p:cNvSpPr>
          <p:nvPr>
            <p:ph type="body" idx="1"/>
          </p:nvPr>
        </p:nvSpPr>
        <p:spPr/>
        <p:txBody>
          <a:bodyPr/>
          <a:lstStyle/>
          <a:p>
            <a:r>
              <a:rPr lang="en-US"/>
              <a:t>ObservationPeriod objects</a:t>
            </a:r>
          </a:p>
          <a:p>
            <a:r>
              <a:rPr lang="en-US"/>
              <a:t>CohortTimeline objects</a:t>
            </a:r>
          </a:p>
          <a:p>
            <a:endParaRPr lang="en-US"/>
          </a:p>
          <a:p>
            <a:endParaRPr lang="en-US"/>
          </a:p>
        </p:txBody>
      </p:sp>
    </p:spTree>
    <p:extLst>
      <p:ext uri="{BB962C8B-B14F-4D97-AF65-F5344CB8AC3E}">
        <p14:creationId xmlns:p14="http://schemas.microsoft.com/office/powerpoint/2010/main" val="28009130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BA51F2-953E-12A7-54A8-9E6790543D8C}"/>
              </a:ext>
            </a:extLst>
          </p:cNvPr>
          <p:cNvSpPr txBox="1"/>
          <p:nvPr/>
        </p:nvSpPr>
        <p:spPr>
          <a:xfrm>
            <a:off x="391291" y="1294799"/>
            <a:ext cx="2468881" cy="276999"/>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ObsPeriodPerEntity</a:t>
            </a:r>
          </a:p>
        </p:txBody>
      </p:sp>
      <p:sp>
        <p:nvSpPr>
          <p:cNvPr id="3" name="TextBox 2">
            <a:extLst>
              <a:ext uri="{FF2B5EF4-FFF2-40B4-BE49-F238E27FC236}">
                <a16:creationId xmlns:a16="http://schemas.microsoft.com/office/drawing/2014/main" id="{904E8EC5-9CE9-FB60-D9B7-A46DE0860A8A}"/>
              </a:ext>
            </a:extLst>
          </p:cNvPr>
          <p:cNvSpPr txBox="1"/>
          <p:nvPr/>
        </p:nvSpPr>
        <p:spPr>
          <a:xfrm>
            <a:off x="5549013" y="368796"/>
            <a:ext cx="2468881" cy="276999"/>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p>
        </p:txBody>
      </p:sp>
      <p:sp>
        <p:nvSpPr>
          <p:cNvPr id="4" name="TextBox 3">
            <a:extLst>
              <a:ext uri="{FF2B5EF4-FFF2-40B4-BE49-F238E27FC236}">
                <a16:creationId xmlns:a16="http://schemas.microsoft.com/office/drawing/2014/main" id="{49F21042-16D9-768B-CCE1-FB59612C91E2}"/>
              </a:ext>
            </a:extLst>
          </p:cNvPr>
          <p:cNvSpPr txBox="1"/>
          <p:nvPr/>
        </p:nvSpPr>
        <p:spPr>
          <a:xfrm>
            <a:off x="4862306" y="1860701"/>
            <a:ext cx="3370218" cy="276999"/>
          </a:xfrm>
          <a:prstGeom prst="rect">
            <a:avLst/>
          </a:prstGeom>
          <a:noFill/>
          <a:ln>
            <a:solidFill>
              <a:schemeClr val="accent5">
                <a:lumMod val="20000"/>
                <a:lumOff val="80000"/>
              </a:schemeClr>
            </a:solidFill>
          </a:ln>
          <a:effectLst>
            <a:glow rad="101600">
              <a:schemeClr val="accent3">
                <a:lumMod val="75000"/>
                <a:alpha val="40000"/>
              </a:schemeClr>
            </a:glow>
          </a:effectLst>
          <a:scene3d>
            <a:camera prst="orthographicFront"/>
            <a:lightRig rig="threePt" dir="t"/>
          </a:scene3d>
          <a:sp3d>
            <a:bevelT prst="angle"/>
          </a:sp3d>
        </p:spPr>
        <p:txBody>
          <a:bodyPr wrap="square" rtlCol="0">
            <a:spAutoFit/>
          </a:bodyPr>
          <a:lstStyle/>
          <a:p>
            <a:pPr algn="ctr"/>
            <a:r>
              <a:rPr lang="en-US" sz="1200" b="1">
                <a:latin typeface="Consolas" panose="020B0609020204030204" pitchFamily="49" charset="0"/>
                <a:cs typeface="Times New Roman" panose="02020603050405020304" pitchFamily="18" charset="0"/>
              </a:rPr>
              <a:t>CohortTimeline</a:t>
            </a:r>
          </a:p>
        </p:txBody>
      </p:sp>
      <p:sp>
        <p:nvSpPr>
          <p:cNvPr id="5" name="TextBox 4">
            <a:extLst>
              <a:ext uri="{FF2B5EF4-FFF2-40B4-BE49-F238E27FC236}">
                <a16:creationId xmlns:a16="http://schemas.microsoft.com/office/drawing/2014/main" id="{0891ED2C-7CDF-07CE-387C-041E4ECCC4B8}"/>
              </a:ext>
            </a:extLst>
          </p:cNvPr>
          <p:cNvSpPr txBox="1"/>
          <p:nvPr/>
        </p:nvSpPr>
        <p:spPr>
          <a:xfrm>
            <a:off x="289943" y="22621"/>
            <a:ext cx="3765550" cy="1169551"/>
          </a:xfrm>
          <a:prstGeom prst="rect">
            <a:avLst/>
          </a:prstGeom>
          <a:noFill/>
        </p:spPr>
        <p:txBody>
          <a:bodyPr wrap="square">
            <a:spAutoFit/>
          </a:bodyPr>
          <a:lstStyle/>
          <a:p>
            <a:r>
              <a:rPr lang="en-US" sz="1000" b="1">
                <a:latin typeface="Times New Roman" panose="02020603050405020304" pitchFamily="18" charset="0"/>
                <a:cs typeface="Times New Roman" panose="02020603050405020304" pitchFamily="18" charset="0"/>
              </a:rPr>
              <a:t>ObsPeriodPerEntity is a first-class object. </a:t>
            </a:r>
          </a:p>
          <a:p>
            <a:pPr marL="171450" indent="-171450">
              <a:buFont typeface="Arial" panose="020B0604020202020204" pitchFamily="34" charset="0"/>
              <a:buChar char="•"/>
            </a:pPr>
            <a:r>
              <a:rPr lang="en-US" sz="1000" i="1">
                <a:latin typeface="Times New Roman" panose="02020603050405020304" pitchFamily="18" charset="0"/>
                <a:cs typeface="Times New Roman" panose="02020603050405020304" pitchFamily="18" charset="0"/>
              </a:rPr>
              <a:t>Owns construction paths(construct_from_calendar, construct_from_age_window,construct_from_events)</a:t>
            </a:r>
          </a:p>
          <a:p>
            <a:pPr marL="171450" indent="-171450">
              <a:buFont typeface="Arial" panose="020B0604020202020204" pitchFamily="34" charset="0"/>
              <a:buChar char="•"/>
            </a:pPr>
            <a:r>
              <a:rPr lang="en-US" sz="1000" i="1">
                <a:latin typeface="Times New Roman" panose="02020603050405020304" pitchFamily="18" charset="0"/>
                <a:cs typeface="Times New Roman" panose="02020603050405020304" pitchFamily="18" charset="0"/>
              </a:rPr>
              <a:t>Owns validation rules, and a construction_path attribute that records how it was built. </a:t>
            </a:r>
          </a:p>
          <a:p>
            <a:pPr marL="171450" indent="-171450">
              <a:buFont typeface="Arial" panose="020B0604020202020204" pitchFamily="34" charset="0"/>
              <a:buChar char="•"/>
            </a:pPr>
            <a:r>
              <a:rPr lang="en-US" sz="1000" i="1">
                <a:latin typeface="Times New Roman" panose="02020603050405020304" pitchFamily="18" charset="0"/>
                <a:cs typeface="Times New Roman" panose="02020603050405020304" pitchFamily="18" charset="0"/>
              </a:rPr>
              <a:t>You can inspect it, print it, and pass it downstream as a guaranteed-validobject.</a:t>
            </a:r>
          </a:p>
        </p:txBody>
      </p:sp>
      <p:sp>
        <p:nvSpPr>
          <p:cNvPr id="6" name="TextBox 5">
            <a:extLst>
              <a:ext uri="{FF2B5EF4-FFF2-40B4-BE49-F238E27FC236}">
                <a16:creationId xmlns:a16="http://schemas.microsoft.com/office/drawing/2014/main" id="{6DE8463B-FD64-7ED3-62F6-C86A95582B5C}"/>
              </a:ext>
            </a:extLst>
          </p:cNvPr>
          <p:cNvSpPr txBox="1"/>
          <p:nvPr/>
        </p:nvSpPr>
        <p:spPr>
          <a:xfrm>
            <a:off x="5507195" y="2281520"/>
            <a:ext cx="3765550" cy="1015663"/>
          </a:xfrm>
          <a:prstGeom prst="rect">
            <a:avLst/>
          </a:prstGeom>
          <a:noFill/>
        </p:spPr>
        <p:txBody>
          <a:bodyPr wrap="square">
            <a:spAutoFit/>
          </a:bodyPr>
          <a:lstStyle/>
          <a:p>
            <a:r>
              <a:rPr lang="en-US" sz="1000" b="1">
                <a:latin typeface="Times New Roman" panose="02020603050405020304" pitchFamily="18" charset="0"/>
                <a:cs typeface="Times New Roman" panose="02020603050405020304" pitchFamily="18" charset="0"/>
              </a:rPr>
              <a:t>CohortTimeline is a validated intermediate</a:t>
            </a:r>
          </a:p>
          <a:p>
            <a:pPr marL="171450" indent="-171450">
              <a:buFont typeface="Arial" panose="020B0604020202020204" pitchFamily="34" charset="0"/>
              <a:buChar char="•"/>
            </a:pPr>
            <a:r>
              <a:rPr lang="en-US" sz="1000" i="1">
                <a:latin typeface="Times New Roman" panose="02020603050405020304" pitchFamily="18" charset="0"/>
                <a:cs typeface="Times New Roman" panose="02020603050405020304" pitchFamily="18" charset="0"/>
              </a:rPr>
              <a:t>It does not accept raw dataframes, only validated objects</a:t>
            </a:r>
          </a:p>
          <a:p>
            <a:pPr marL="171450" indent="-171450">
              <a:buFont typeface="Arial" panose="020B0604020202020204" pitchFamily="34" charset="0"/>
              <a:buChar char="•"/>
            </a:pPr>
            <a:r>
              <a:rPr lang="en-US" sz="1000" i="1">
                <a:latin typeface="Times New Roman" panose="02020603050405020304" pitchFamily="18" charset="0"/>
                <a:cs typeface="Times New Roman" panose="02020603050405020304" pitchFamily="18" charset="0"/>
              </a:rPr>
              <a:t>By the time CohortTimelien is assembled, every layer has been validated.</a:t>
            </a:r>
          </a:p>
          <a:p>
            <a:pPr marL="171450" indent="-171450">
              <a:buFont typeface="Arial" panose="020B0604020202020204" pitchFamily="34" charset="0"/>
              <a:buChar char="•"/>
            </a:pPr>
            <a:r>
              <a:rPr lang="en-US" sz="1000" i="1">
                <a:latin typeface="Times New Roman" panose="02020603050405020304" pitchFamily="18" charset="0"/>
                <a:cs typeface="Times New Roman" panose="02020603050405020304" pitchFamily="18" charset="0"/>
              </a:rPr>
              <a:t>It knows what it contains: what identies are present and what has been computed</a:t>
            </a:r>
          </a:p>
        </p:txBody>
      </p:sp>
      <p:cxnSp>
        <p:nvCxnSpPr>
          <p:cNvPr id="7" name="Straight Arrow Connector 6">
            <a:extLst>
              <a:ext uri="{FF2B5EF4-FFF2-40B4-BE49-F238E27FC236}">
                <a16:creationId xmlns:a16="http://schemas.microsoft.com/office/drawing/2014/main" id="{7C28EA8B-8087-B64C-995D-7E1AA73F97EB}"/>
              </a:ext>
            </a:extLst>
          </p:cNvPr>
          <p:cNvCxnSpPr>
            <a:cxnSpLocks/>
            <a:stCxn id="2" idx="2"/>
            <a:endCxn id="4" idx="0"/>
          </p:cNvCxnSpPr>
          <p:nvPr/>
        </p:nvCxnSpPr>
        <p:spPr>
          <a:xfrm>
            <a:off x="1625732" y="1571798"/>
            <a:ext cx="4921683" cy="288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A04ADC7-412B-79ED-1A0C-7C7E771ADB09}"/>
              </a:ext>
            </a:extLst>
          </p:cNvPr>
          <p:cNvCxnSpPr>
            <a:cxnSpLocks/>
            <a:stCxn id="3" idx="2"/>
            <a:endCxn id="4" idx="0"/>
          </p:cNvCxnSpPr>
          <p:nvPr/>
        </p:nvCxnSpPr>
        <p:spPr>
          <a:xfrm flipH="1">
            <a:off x="6547415" y="645795"/>
            <a:ext cx="236039" cy="1214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B0ADB28-A8EB-23B1-705C-D97516948F73}"/>
              </a:ext>
            </a:extLst>
          </p:cNvPr>
          <p:cNvSpPr txBox="1"/>
          <p:nvPr/>
        </p:nvSpPr>
        <p:spPr>
          <a:xfrm>
            <a:off x="943045" y="2688765"/>
            <a:ext cx="3307081" cy="276999"/>
          </a:xfrm>
          <a:prstGeom prst="rect">
            <a:avLst/>
          </a:prstGeom>
          <a:ln>
            <a:solidFill>
              <a:schemeClr val="accent1"/>
            </a:solidFill>
          </a:ln>
          <a:effectLst>
            <a:glow rad="101600">
              <a:srgbClr val="FF000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CohortTimelineEventAnalyzer</a:t>
            </a:r>
          </a:p>
        </p:txBody>
      </p:sp>
      <p:cxnSp>
        <p:nvCxnSpPr>
          <p:cNvPr id="16" name="Straight Arrow Connector 15">
            <a:extLst>
              <a:ext uri="{FF2B5EF4-FFF2-40B4-BE49-F238E27FC236}">
                <a16:creationId xmlns:a16="http://schemas.microsoft.com/office/drawing/2014/main" id="{51C38F22-5636-0847-1F6E-BDBE28FB6CB2}"/>
              </a:ext>
            </a:extLst>
          </p:cNvPr>
          <p:cNvCxnSpPr>
            <a:cxnSpLocks/>
            <a:stCxn id="4" idx="2"/>
            <a:endCxn id="15" idx="0"/>
          </p:cNvCxnSpPr>
          <p:nvPr/>
        </p:nvCxnSpPr>
        <p:spPr>
          <a:xfrm flipH="1">
            <a:off x="2596586" y="2137700"/>
            <a:ext cx="3950829" cy="5510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E6055C7-F148-D970-B20C-931A51A7C7A4}"/>
              </a:ext>
            </a:extLst>
          </p:cNvPr>
          <p:cNvSpPr txBox="1"/>
          <p:nvPr/>
        </p:nvSpPr>
        <p:spPr>
          <a:xfrm>
            <a:off x="3277439" y="4220706"/>
            <a:ext cx="3370218" cy="276999"/>
          </a:xfrm>
          <a:prstGeom prst="rect">
            <a:avLst/>
          </a:prstGeom>
          <a:noFill/>
          <a:ln>
            <a:solidFill>
              <a:schemeClr val="accent5">
                <a:lumMod val="20000"/>
                <a:lumOff val="80000"/>
              </a:schemeClr>
            </a:solidFill>
          </a:ln>
          <a:effectLst>
            <a:glow rad="101600">
              <a:schemeClr val="accent3">
                <a:lumMod val="75000"/>
                <a:alpha val="40000"/>
              </a:schemeClr>
            </a:glow>
          </a:effectLst>
          <a:scene3d>
            <a:camera prst="orthographicFront"/>
            <a:lightRig rig="threePt" dir="t"/>
          </a:scene3d>
          <a:sp3d>
            <a:bevelT prst="angle"/>
          </a:sp3d>
        </p:spPr>
        <p:txBody>
          <a:bodyPr wrap="square" rtlCol="0">
            <a:spAutoFit/>
          </a:bodyPr>
          <a:lstStyle/>
          <a:p>
            <a:pPr algn="ctr"/>
            <a:r>
              <a:rPr lang="en-US" sz="1200" b="1">
                <a:latin typeface="Consolas" panose="020B0609020204030204" pitchFamily="49" charset="0"/>
                <a:cs typeface="Times New Roman" panose="02020603050405020304" pitchFamily="18" charset="0"/>
              </a:rPr>
              <a:t>CohortTimeline</a:t>
            </a:r>
          </a:p>
        </p:txBody>
      </p:sp>
      <p:cxnSp>
        <p:nvCxnSpPr>
          <p:cNvPr id="21" name="Straight Arrow Connector 20">
            <a:extLst>
              <a:ext uri="{FF2B5EF4-FFF2-40B4-BE49-F238E27FC236}">
                <a16:creationId xmlns:a16="http://schemas.microsoft.com/office/drawing/2014/main" id="{3BB40308-310F-207C-4FE8-A5BD6233DFBD}"/>
              </a:ext>
            </a:extLst>
          </p:cNvPr>
          <p:cNvCxnSpPr>
            <a:cxnSpLocks/>
            <a:stCxn id="15" idx="2"/>
            <a:endCxn id="20" idx="0"/>
          </p:cNvCxnSpPr>
          <p:nvPr/>
        </p:nvCxnSpPr>
        <p:spPr>
          <a:xfrm>
            <a:off x="2596586" y="2965764"/>
            <a:ext cx="2365962" cy="125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3B47C66-0487-9859-3199-F87BEFAD3818}"/>
              </a:ext>
            </a:extLst>
          </p:cNvPr>
          <p:cNvSpPr txBox="1"/>
          <p:nvPr/>
        </p:nvSpPr>
        <p:spPr>
          <a:xfrm>
            <a:off x="3277439" y="4591790"/>
            <a:ext cx="3765550" cy="553998"/>
          </a:xfrm>
          <a:prstGeom prst="rect">
            <a:avLst/>
          </a:prstGeom>
          <a:noFill/>
        </p:spPr>
        <p:txBody>
          <a:bodyPr wrap="square">
            <a:spAutoFit/>
          </a:bodyPr>
          <a:lstStyle/>
          <a:p>
            <a:r>
              <a:rPr lang="en-US" sz="1000" b="1">
                <a:latin typeface="Times New Roman" panose="02020603050405020304" pitchFamily="18" charset="0"/>
                <a:cs typeface="Times New Roman" panose="02020603050405020304" pitchFamily="18" charset="0"/>
              </a:rPr>
              <a:t>CohortTimeline can be enriched</a:t>
            </a:r>
          </a:p>
          <a:p>
            <a:pPr marL="171450" indent="-171450">
              <a:buFont typeface="Arial" panose="020B0604020202020204" pitchFamily="34" charset="0"/>
              <a:buChar char="•"/>
            </a:pPr>
            <a:r>
              <a:rPr lang="en-US" sz="1000" i="1">
                <a:latin typeface="Times New Roman" panose="02020603050405020304" pitchFamily="18" charset="0"/>
                <a:cs typeface="Times New Roman" panose="02020603050405020304" pitchFamily="18" charset="0"/>
              </a:rPr>
              <a:t>It can be enriched progressively</a:t>
            </a:r>
          </a:p>
          <a:p>
            <a:pPr marL="171450" indent="-171450">
              <a:buFont typeface="Arial" panose="020B0604020202020204" pitchFamily="34" charset="0"/>
              <a:buChar char="•"/>
            </a:pPr>
            <a:r>
              <a:rPr lang="en-US" sz="1000" i="1">
                <a:latin typeface="Times New Roman" panose="02020603050405020304" pitchFamily="18" charset="0"/>
                <a:cs typeface="Times New Roman" panose="02020603050405020304" pitchFamily="18" charset="0"/>
              </a:rPr>
              <a:t>The enriched object can produce structured summaries</a:t>
            </a:r>
          </a:p>
        </p:txBody>
      </p:sp>
      <p:pic>
        <p:nvPicPr>
          <p:cNvPr id="36" name="Picture 35">
            <a:extLst>
              <a:ext uri="{FF2B5EF4-FFF2-40B4-BE49-F238E27FC236}">
                <a16:creationId xmlns:a16="http://schemas.microsoft.com/office/drawing/2014/main" id="{206087C9-7788-1093-CFE9-E7952A133B13}"/>
              </a:ext>
            </a:extLst>
          </p:cNvPr>
          <p:cNvPicPr>
            <a:picLocks noChangeAspect="1"/>
          </p:cNvPicPr>
          <p:nvPr/>
        </p:nvPicPr>
        <p:blipFill>
          <a:blip r:embed="rId2"/>
          <a:stretch>
            <a:fillRect/>
          </a:stretch>
        </p:blipFill>
        <p:spPr>
          <a:xfrm>
            <a:off x="289943" y="3637074"/>
            <a:ext cx="2178937" cy="1397972"/>
          </a:xfrm>
          <a:prstGeom prst="rect">
            <a:avLst/>
          </a:prstGeom>
        </p:spPr>
      </p:pic>
      <p:cxnSp>
        <p:nvCxnSpPr>
          <p:cNvPr id="37" name="Straight Arrow Connector 36">
            <a:extLst>
              <a:ext uri="{FF2B5EF4-FFF2-40B4-BE49-F238E27FC236}">
                <a16:creationId xmlns:a16="http://schemas.microsoft.com/office/drawing/2014/main" id="{3A04A1B3-51A4-4132-BEB4-2A3CE77F398A}"/>
              </a:ext>
            </a:extLst>
          </p:cNvPr>
          <p:cNvCxnSpPr>
            <a:cxnSpLocks/>
            <a:stCxn id="15" idx="2"/>
            <a:endCxn id="36" idx="0"/>
          </p:cNvCxnSpPr>
          <p:nvPr/>
        </p:nvCxnSpPr>
        <p:spPr>
          <a:xfrm flipH="1">
            <a:off x="1379412" y="2965764"/>
            <a:ext cx="1217174" cy="671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12981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C77ED-2DA9-3D5E-F42B-21C1EF9EC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92C8EA-F560-BA89-9DD1-1559CC8FC990}"/>
              </a:ext>
            </a:extLst>
          </p:cNvPr>
          <p:cNvSpPr>
            <a:spLocks noGrp="1"/>
          </p:cNvSpPr>
          <p:nvPr>
            <p:ph type="ctrTitle"/>
          </p:nvPr>
        </p:nvSpPr>
        <p:spPr/>
        <p:txBody>
          <a:bodyPr/>
          <a:lstStyle/>
          <a:p>
            <a:r>
              <a:rPr lang="en-US"/>
              <a:t>Vignette 5</a:t>
            </a:r>
          </a:p>
        </p:txBody>
      </p:sp>
      <p:sp>
        <p:nvSpPr>
          <p:cNvPr id="5" name="Subtitle 4">
            <a:extLst>
              <a:ext uri="{FF2B5EF4-FFF2-40B4-BE49-F238E27FC236}">
                <a16:creationId xmlns:a16="http://schemas.microsoft.com/office/drawing/2014/main" id="{CAEDE07F-0D53-7CF8-7F9B-5217ADFE32AE}"/>
              </a:ext>
            </a:extLst>
          </p:cNvPr>
          <p:cNvSpPr>
            <a:spLocks noGrp="1"/>
          </p:cNvSpPr>
          <p:nvPr>
            <p:ph type="subTitle" idx="1"/>
          </p:nvPr>
        </p:nvSpPr>
        <p:spPr/>
        <p:txBody>
          <a:bodyPr/>
          <a:lstStyle/>
          <a:p>
            <a:r>
              <a:rPr lang="en-US"/>
              <a:t>Visualizing events within observation periods</a:t>
            </a:r>
          </a:p>
        </p:txBody>
      </p:sp>
    </p:spTree>
    <p:extLst>
      <p:ext uri="{BB962C8B-B14F-4D97-AF65-F5344CB8AC3E}">
        <p14:creationId xmlns:p14="http://schemas.microsoft.com/office/powerpoint/2010/main" val="1210976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3A0A-1598-692F-01E4-D75AD10669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16CF18F-9CC1-209A-89A5-F51A6ADBB31F}"/>
              </a:ext>
            </a:extLst>
          </p:cNvPr>
          <p:cNvSpPr txBox="1"/>
          <p:nvPr/>
        </p:nvSpPr>
        <p:spPr>
          <a:xfrm>
            <a:off x="53340" y="114300"/>
            <a:ext cx="8831580" cy="5047536"/>
          </a:xfrm>
          <a:prstGeom prst="rect">
            <a:avLst/>
          </a:prstGeom>
          <a:noFill/>
        </p:spPr>
        <p:txBody>
          <a:bodyPr wrap="square" rtlCol="0">
            <a:spAutoFit/>
          </a:bodyPr>
          <a:lstStyle/>
          <a:p>
            <a:r>
              <a:rPr lang="en-US" sz="1400" b="1" dirty="0"/>
              <a:t>Vignette </a:t>
            </a:r>
            <a:r>
              <a:rPr lang="en-US" sz="1400" b="1"/>
              <a:t># 5:</a:t>
            </a:r>
            <a:endParaRPr lang="en-US" sz="1400" b="1" dirty="0"/>
          </a:p>
          <a:p>
            <a:r>
              <a:rPr lang="en-US" sz="1400"/>
              <a:t>You know from Chapter 4 that 13.6% of members had no Medicaidcoverage during their 18-25 window, that only 3.5% were continuouslycovered for the full seven years, and that 31.9% had gaps. A table of statistics tells you what happened. It cannot show you the pattern. Which members had gaps early in their window? Which had gaps late? Which were barely enrolled at all? Which had fragmented coverageacross the full seven years? A stacked timeline answers all of these at once — one bar per member, colored by coverage status. </a:t>
            </a:r>
          </a:p>
          <a:p>
            <a:endParaRPr lang="en-US" sz="1400" dirty="0"/>
          </a:p>
          <a:p>
            <a:r>
              <a:rPr lang="en-US" sz="1400" b="1"/>
              <a:t>Problem 1 — Each member has a different observation window.</a:t>
            </a:r>
            <a:r>
              <a:rPr lang="en-US" sz="1400"/>
              <a:t> In a standard time series plot, every row shares the same x-axis. Here, one member's bar spans 2001-2008 (ages 18-25), another's spans 2006-2013, another's spans 2018-2025. A single shared x-axis cannot represent this correctly. The bars need to be aligned to each member's personal window, not to a calendar.</a:t>
            </a:r>
            <a:r>
              <a:rPr lang="en-US" sz="1400" b="1"/>
              <a:t> </a:t>
            </a:r>
          </a:p>
          <a:p>
            <a:r>
              <a:rPr lang="en-US" sz="1400" b="1"/>
              <a:t>Problem 2 — Four segment types require consistent color coding.</a:t>
            </a:r>
            <a:r>
              <a:rPr lang="en-US" sz="1400"/>
              <a:t> Each bar has up to four segments: days before the first coverage period, active coverage periods, gaps between coverage periods, and days after the last coverage period. These color decisions are scientific choices — the gap color signals a lapse, the before/after color signals out-of-window time. If these colors are hardcoded in a script, they are invisible to any collaborator reading the output.</a:t>
            </a:r>
          </a:p>
          <a:p>
            <a:r>
              <a:rPr lang="en-US" sz="1400" b="1"/>
              <a:t>Problem 3 — Plotting 500 members produces an unreadable figure.</a:t>
            </a:r>
            <a:r>
              <a:rPr lang="en-US" sz="1400"/>
              <a:t> The full cohort has 500 members. A meaningful visualization needs a representative sample. Which 50? With what seed? That is a reproducibility decision. A script that samples with </a:t>
            </a:r>
            <a:r>
              <a:rPr lang="en-US" sz="1200" i="1"/>
              <a:t>random.sample() </a:t>
            </a:r>
            <a:r>
              <a:rPr lang="en-US" sz="1400"/>
              <a:t>on line 47 has made that decision silently.</a:t>
            </a:r>
            <a:endParaRPr lang="en-US" sz="1400" b="1"/>
          </a:p>
          <a:p>
            <a:r>
              <a:rPr lang="en-US" sz="1400" b="1"/>
              <a:t>Problem 4 — Every visual decision is buried in the script.</a:t>
            </a:r>
            <a:r>
              <a:rPr lang="en-US" sz="1400"/>
              <a:t> Colors, font sizes, tick intervals, sample size, random seed — all hardcoded across dozens of lines. When a collaborator asks for a different color scheme, you hunt. When a reviewer asks for monthly ticks instead of quarterly, you edit and hope nothing else breaks. When you rerun the analysis six months later — are you using the same colors? The same sample? If those decisions live in your script, the answer is "probably, unless someone edited it."</a:t>
            </a:r>
            <a:endParaRPr lang="en-US" sz="1400" b="1"/>
          </a:p>
        </p:txBody>
      </p:sp>
    </p:spTree>
    <p:extLst>
      <p:ext uri="{BB962C8B-B14F-4D97-AF65-F5344CB8AC3E}">
        <p14:creationId xmlns:p14="http://schemas.microsoft.com/office/powerpoint/2010/main" val="236005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72300-8D8D-F5CF-9AAC-BD4FD69BC2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A8E367C-E830-CD5D-9AB3-111DF0B07417}"/>
              </a:ext>
            </a:extLst>
          </p:cNvPr>
          <p:cNvSpPr txBox="1"/>
          <p:nvPr/>
        </p:nvSpPr>
        <p:spPr>
          <a:xfrm>
            <a:off x="-34290" y="-8405"/>
            <a:ext cx="4606290" cy="369332"/>
          </a:xfrm>
          <a:prstGeom prst="rect">
            <a:avLst/>
          </a:prstGeom>
          <a:noFill/>
        </p:spPr>
        <p:txBody>
          <a:bodyPr wrap="square">
            <a:spAutoFit/>
          </a:bodyPr>
          <a:lstStyle/>
          <a:p>
            <a:r>
              <a:rPr lang="en-US" sz="1800" b="1">
                <a:latin typeface="Times New Roman" panose="02020603050405020304" pitchFamily="18" charset="0"/>
                <a:cs typeface="Times New Roman" panose="02020603050405020304" pitchFamily="18" charset="0"/>
              </a:rPr>
              <a:t>With Eventus:</a:t>
            </a:r>
          </a:p>
        </p:txBody>
      </p:sp>
      <p:sp>
        <p:nvSpPr>
          <p:cNvPr id="46" name="TextBox 45">
            <a:extLst>
              <a:ext uri="{FF2B5EF4-FFF2-40B4-BE49-F238E27FC236}">
                <a16:creationId xmlns:a16="http://schemas.microsoft.com/office/drawing/2014/main" id="{E4F71AAE-D4AD-F56E-0025-475A58E0B596}"/>
              </a:ext>
            </a:extLst>
          </p:cNvPr>
          <p:cNvSpPr txBox="1"/>
          <p:nvPr/>
        </p:nvSpPr>
        <p:spPr>
          <a:xfrm>
            <a:off x="-331216" y="394182"/>
            <a:ext cx="1634424" cy="307777"/>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Code</a:t>
            </a:r>
          </a:p>
        </p:txBody>
      </p:sp>
      <p:pic>
        <p:nvPicPr>
          <p:cNvPr id="5" name="Picture 4">
            <a:extLst>
              <a:ext uri="{FF2B5EF4-FFF2-40B4-BE49-F238E27FC236}">
                <a16:creationId xmlns:a16="http://schemas.microsoft.com/office/drawing/2014/main" id="{2AD0D4E3-F9ED-8E31-5C1E-701F95B48346}"/>
              </a:ext>
            </a:extLst>
          </p:cNvPr>
          <p:cNvPicPr>
            <a:picLocks noChangeAspect="1"/>
          </p:cNvPicPr>
          <p:nvPr/>
        </p:nvPicPr>
        <p:blipFill>
          <a:blip r:embed="rId2"/>
          <a:stretch>
            <a:fillRect/>
          </a:stretch>
        </p:blipFill>
        <p:spPr>
          <a:xfrm>
            <a:off x="60909" y="701959"/>
            <a:ext cx="3391865" cy="2284381"/>
          </a:xfrm>
          <a:prstGeom prst="rect">
            <a:avLst/>
          </a:prstGeom>
        </p:spPr>
      </p:pic>
      <p:pic>
        <p:nvPicPr>
          <p:cNvPr id="7" name="Picture 6">
            <a:extLst>
              <a:ext uri="{FF2B5EF4-FFF2-40B4-BE49-F238E27FC236}">
                <a16:creationId xmlns:a16="http://schemas.microsoft.com/office/drawing/2014/main" id="{3AD2FE03-4FC1-1ECB-C0DB-1AED576DEFC4}"/>
              </a:ext>
            </a:extLst>
          </p:cNvPr>
          <p:cNvPicPr>
            <a:picLocks noChangeAspect="1"/>
          </p:cNvPicPr>
          <p:nvPr/>
        </p:nvPicPr>
        <p:blipFill>
          <a:blip r:embed="rId3"/>
          <a:stretch>
            <a:fillRect/>
          </a:stretch>
        </p:blipFill>
        <p:spPr>
          <a:xfrm>
            <a:off x="6129334" y="64747"/>
            <a:ext cx="1697126" cy="2805521"/>
          </a:xfrm>
          <a:prstGeom prst="rect">
            <a:avLst/>
          </a:prstGeom>
        </p:spPr>
      </p:pic>
      <p:sp>
        <p:nvSpPr>
          <p:cNvPr id="8" name="TextBox 7">
            <a:extLst>
              <a:ext uri="{FF2B5EF4-FFF2-40B4-BE49-F238E27FC236}">
                <a16:creationId xmlns:a16="http://schemas.microsoft.com/office/drawing/2014/main" id="{03451C5F-D710-D4A4-9461-E08B53F06BB2}"/>
              </a:ext>
            </a:extLst>
          </p:cNvPr>
          <p:cNvSpPr txBox="1"/>
          <p:nvPr/>
        </p:nvSpPr>
        <p:spPr>
          <a:xfrm>
            <a:off x="4715035" y="194897"/>
            <a:ext cx="1317540" cy="523220"/>
          </a:xfrm>
          <a:prstGeom prst="rect">
            <a:avLst/>
          </a:prstGeom>
          <a:noFill/>
        </p:spPr>
        <p:txBody>
          <a:bodyPr wrap="square">
            <a:spAutoFit/>
          </a:bodyPr>
          <a:lstStyle/>
          <a:p>
            <a:pPr algn="ctr"/>
            <a:r>
              <a:rPr lang="en-US" sz="1400">
                <a:latin typeface="Montserrat" panose="00000500000000000000" pitchFamily="2" charset="0"/>
                <a:ea typeface="Roboto" panose="02000000000000000000" pitchFamily="2" charset="0"/>
                <a:cs typeface="Roboto" panose="02000000000000000000" pitchFamily="2" charset="0"/>
              </a:rPr>
              <a:t>Visualization </a:t>
            </a:r>
          </a:p>
          <a:p>
            <a:pPr algn="ctr"/>
            <a:r>
              <a:rPr lang="en-US" sz="1400">
                <a:latin typeface="Montserrat" panose="00000500000000000000" pitchFamily="2" charset="0"/>
                <a:ea typeface="Roboto" panose="02000000000000000000" pitchFamily="2" charset="0"/>
                <a:cs typeface="Roboto" panose="02000000000000000000" pitchFamily="2" charset="0"/>
              </a:rPr>
              <a:t>Config</a:t>
            </a:r>
          </a:p>
        </p:txBody>
      </p:sp>
      <p:pic>
        <p:nvPicPr>
          <p:cNvPr id="10" name="Picture 9">
            <a:extLst>
              <a:ext uri="{FF2B5EF4-FFF2-40B4-BE49-F238E27FC236}">
                <a16:creationId xmlns:a16="http://schemas.microsoft.com/office/drawing/2014/main" id="{705B1EBB-6644-9D6D-18C9-A56AC6BA7A3B}"/>
              </a:ext>
            </a:extLst>
          </p:cNvPr>
          <p:cNvPicPr>
            <a:picLocks noChangeAspect="1"/>
          </p:cNvPicPr>
          <p:nvPr/>
        </p:nvPicPr>
        <p:blipFill>
          <a:blip r:embed="rId4"/>
          <a:stretch>
            <a:fillRect/>
          </a:stretch>
        </p:blipFill>
        <p:spPr>
          <a:xfrm>
            <a:off x="3718647" y="3343251"/>
            <a:ext cx="3623286" cy="1800249"/>
          </a:xfrm>
          <a:prstGeom prst="rect">
            <a:avLst/>
          </a:prstGeom>
        </p:spPr>
      </p:pic>
    </p:spTree>
    <p:extLst>
      <p:ext uri="{BB962C8B-B14F-4D97-AF65-F5344CB8AC3E}">
        <p14:creationId xmlns:p14="http://schemas.microsoft.com/office/powerpoint/2010/main" val="37973457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BE46B4-7CDF-6E18-AC92-78ACB1F5F73E}"/>
              </a:ext>
            </a:extLst>
          </p:cNvPr>
          <p:cNvSpPr txBox="1"/>
          <p:nvPr/>
        </p:nvSpPr>
        <p:spPr>
          <a:xfrm>
            <a:off x="3058433" y="2584554"/>
            <a:ext cx="3307081" cy="276999"/>
          </a:xfrm>
          <a:prstGeom prst="rect">
            <a:avLst/>
          </a:prstGeom>
          <a:ln>
            <a:solidFill>
              <a:schemeClr val="accent1"/>
            </a:solidFill>
          </a:ln>
          <a:effectLst>
            <a:glow rad="101600">
              <a:srgbClr val="7030A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StackedTimelinePlotter</a:t>
            </a:r>
          </a:p>
        </p:txBody>
      </p:sp>
      <p:sp>
        <p:nvSpPr>
          <p:cNvPr id="5" name="TextBox 4">
            <a:extLst>
              <a:ext uri="{FF2B5EF4-FFF2-40B4-BE49-F238E27FC236}">
                <a16:creationId xmlns:a16="http://schemas.microsoft.com/office/drawing/2014/main" id="{3F4EB2F3-61B5-646A-32A6-E16476058EE4}"/>
              </a:ext>
            </a:extLst>
          </p:cNvPr>
          <p:cNvSpPr txBox="1"/>
          <p:nvPr/>
        </p:nvSpPr>
        <p:spPr>
          <a:xfrm>
            <a:off x="117458" y="368796"/>
            <a:ext cx="2468881" cy="276999"/>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ObsPeriodPerEntity</a:t>
            </a:r>
          </a:p>
        </p:txBody>
      </p:sp>
      <p:sp>
        <p:nvSpPr>
          <p:cNvPr id="6" name="TextBox 5">
            <a:extLst>
              <a:ext uri="{FF2B5EF4-FFF2-40B4-BE49-F238E27FC236}">
                <a16:creationId xmlns:a16="http://schemas.microsoft.com/office/drawing/2014/main" id="{74C9C1BC-3B50-3123-B257-1CC1E40B4BBA}"/>
              </a:ext>
            </a:extLst>
          </p:cNvPr>
          <p:cNvSpPr txBox="1"/>
          <p:nvPr/>
        </p:nvSpPr>
        <p:spPr>
          <a:xfrm>
            <a:off x="3080132" y="368796"/>
            <a:ext cx="2468881" cy="276999"/>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p>
        </p:txBody>
      </p:sp>
      <p:cxnSp>
        <p:nvCxnSpPr>
          <p:cNvPr id="8" name="Straight Arrow Connector 7">
            <a:extLst>
              <a:ext uri="{FF2B5EF4-FFF2-40B4-BE49-F238E27FC236}">
                <a16:creationId xmlns:a16="http://schemas.microsoft.com/office/drawing/2014/main" id="{4A6E6722-F9F6-1612-071F-860C6FD40DB9}"/>
              </a:ext>
            </a:extLst>
          </p:cNvPr>
          <p:cNvCxnSpPr>
            <a:cxnSpLocks/>
            <a:stCxn id="5" idx="2"/>
            <a:endCxn id="18" idx="0"/>
          </p:cNvCxnSpPr>
          <p:nvPr/>
        </p:nvCxnSpPr>
        <p:spPr>
          <a:xfrm>
            <a:off x="1351899" y="645795"/>
            <a:ext cx="1277564" cy="741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DC635C6-59CE-4E2B-8AB5-674C77E9E799}"/>
              </a:ext>
            </a:extLst>
          </p:cNvPr>
          <p:cNvCxnSpPr>
            <a:cxnSpLocks/>
            <a:stCxn id="6" idx="2"/>
            <a:endCxn id="18" idx="0"/>
          </p:cNvCxnSpPr>
          <p:nvPr/>
        </p:nvCxnSpPr>
        <p:spPr>
          <a:xfrm flipH="1">
            <a:off x="2629463" y="645795"/>
            <a:ext cx="1685110" cy="741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F671101-1F7D-1A17-001F-117A53F70A0F}"/>
              </a:ext>
            </a:extLst>
          </p:cNvPr>
          <p:cNvCxnSpPr>
            <a:cxnSpLocks/>
            <a:stCxn id="18" idx="2"/>
            <a:endCxn id="4" idx="0"/>
          </p:cNvCxnSpPr>
          <p:nvPr/>
        </p:nvCxnSpPr>
        <p:spPr>
          <a:xfrm>
            <a:off x="2629463" y="1664408"/>
            <a:ext cx="2082511" cy="920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DB89892-2425-D76C-D1E8-BAD56461ADBE}"/>
              </a:ext>
            </a:extLst>
          </p:cNvPr>
          <p:cNvSpPr txBox="1"/>
          <p:nvPr/>
        </p:nvSpPr>
        <p:spPr>
          <a:xfrm>
            <a:off x="5484042" y="1337223"/>
            <a:ext cx="3307081" cy="276999"/>
          </a:xfrm>
          <a:prstGeom prst="rect">
            <a:avLst/>
          </a:prstGeom>
          <a:ln w="38100">
            <a:solidFill>
              <a:schemeClr val="tx1"/>
            </a:solidFill>
          </a:ln>
          <a:effectLst>
            <a:glow rad="139700">
              <a:schemeClr val="accent2">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StackedTimelinePlotConfig</a:t>
            </a:r>
          </a:p>
        </p:txBody>
      </p:sp>
      <p:sp>
        <p:nvSpPr>
          <p:cNvPr id="18" name="TextBox 17">
            <a:extLst>
              <a:ext uri="{FF2B5EF4-FFF2-40B4-BE49-F238E27FC236}">
                <a16:creationId xmlns:a16="http://schemas.microsoft.com/office/drawing/2014/main" id="{614C70C8-BAE1-FFE5-5FAB-83664C534FF3}"/>
              </a:ext>
            </a:extLst>
          </p:cNvPr>
          <p:cNvSpPr txBox="1"/>
          <p:nvPr/>
        </p:nvSpPr>
        <p:spPr>
          <a:xfrm>
            <a:off x="944354" y="1387409"/>
            <a:ext cx="3370218" cy="276999"/>
          </a:xfrm>
          <a:prstGeom prst="rect">
            <a:avLst/>
          </a:prstGeom>
          <a:noFill/>
          <a:ln>
            <a:solidFill>
              <a:schemeClr val="accent5">
                <a:lumMod val="20000"/>
                <a:lumOff val="80000"/>
              </a:schemeClr>
            </a:solidFill>
          </a:ln>
          <a:effectLst>
            <a:glow rad="101600">
              <a:schemeClr val="accent3">
                <a:lumMod val="75000"/>
                <a:alpha val="40000"/>
              </a:schemeClr>
            </a:glow>
          </a:effectLst>
          <a:scene3d>
            <a:camera prst="orthographicFront"/>
            <a:lightRig rig="threePt" dir="t"/>
          </a:scene3d>
          <a:sp3d>
            <a:bevelT prst="angle"/>
          </a:sp3d>
        </p:spPr>
        <p:txBody>
          <a:bodyPr wrap="square" rtlCol="0">
            <a:spAutoFit/>
          </a:bodyPr>
          <a:lstStyle/>
          <a:p>
            <a:pPr algn="ctr"/>
            <a:r>
              <a:rPr lang="en-US" sz="1200" b="1">
                <a:latin typeface="Consolas" panose="020B0609020204030204" pitchFamily="49" charset="0"/>
                <a:cs typeface="Times New Roman" panose="02020603050405020304" pitchFamily="18" charset="0"/>
              </a:rPr>
              <a:t>CohortTimeline</a:t>
            </a:r>
          </a:p>
        </p:txBody>
      </p:sp>
      <p:cxnSp>
        <p:nvCxnSpPr>
          <p:cNvPr id="20" name="Straight Arrow Connector 19">
            <a:extLst>
              <a:ext uri="{FF2B5EF4-FFF2-40B4-BE49-F238E27FC236}">
                <a16:creationId xmlns:a16="http://schemas.microsoft.com/office/drawing/2014/main" id="{6A162C3E-5749-5535-1D27-03D6C0F4EBCC}"/>
              </a:ext>
            </a:extLst>
          </p:cNvPr>
          <p:cNvCxnSpPr>
            <a:cxnSpLocks/>
            <a:stCxn id="17" idx="2"/>
            <a:endCxn id="4" idx="0"/>
          </p:cNvCxnSpPr>
          <p:nvPr/>
        </p:nvCxnSpPr>
        <p:spPr>
          <a:xfrm flipH="1">
            <a:off x="4711974" y="1614222"/>
            <a:ext cx="2425609" cy="970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C102807B-636A-AC3E-D69D-44B36D60A21B}"/>
              </a:ext>
            </a:extLst>
          </p:cNvPr>
          <p:cNvPicPr>
            <a:picLocks noChangeAspect="1"/>
          </p:cNvPicPr>
          <p:nvPr/>
        </p:nvPicPr>
        <p:blipFill>
          <a:blip r:embed="rId2"/>
          <a:stretch>
            <a:fillRect/>
          </a:stretch>
        </p:blipFill>
        <p:spPr>
          <a:xfrm>
            <a:off x="3058433" y="3343251"/>
            <a:ext cx="3623286" cy="1800249"/>
          </a:xfrm>
          <a:prstGeom prst="rect">
            <a:avLst/>
          </a:prstGeom>
        </p:spPr>
      </p:pic>
    </p:spTree>
    <p:extLst>
      <p:ext uri="{BB962C8B-B14F-4D97-AF65-F5344CB8AC3E}">
        <p14:creationId xmlns:p14="http://schemas.microsoft.com/office/powerpoint/2010/main" val="2103601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E14F-4DAF-C95A-9EFE-067E297D6BA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A08DB7-8224-D9CA-AAA5-E14A4344F29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382516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402DB-7E52-0492-2938-44E9B7CA17FE}"/>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9BDB26F-DBF3-4863-E3FA-A1E7BC2D11B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01675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770A8A-B0CC-C65A-74B2-AC7976D9778D}"/>
              </a:ext>
            </a:extLst>
          </p:cNvPr>
          <p:cNvSpPr txBox="1"/>
          <p:nvPr/>
        </p:nvSpPr>
        <p:spPr>
          <a:xfrm>
            <a:off x="236220" y="286822"/>
            <a:ext cx="6240780" cy="1569660"/>
          </a:xfrm>
          <a:prstGeom prst="rect">
            <a:avLst/>
          </a:prstGeom>
          <a:noFill/>
        </p:spPr>
        <p:txBody>
          <a:bodyPr wrap="square">
            <a:spAutoFit/>
          </a:bodyPr>
          <a:lstStyle/>
          <a:p>
            <a:pPr>
              <a:buNone/>
            </a:pPr>
            <a:r>
              <a:rPr lang="en-US" sz="1200">
                <a:latin typeface="Times New Roman" panose="02020603050405020304" pitchFamily="18" charset="0"/>
                <a:cs typeface="Times New Roman" panose="02020603050405020304" pitchFamily="18" charset="0"/>
              </a:rPr>
              <a:t>We asked Claude to write code to visualize hospitalization timelines for a cohort of patients over a fixed calendar year. The data was already clean. We asked for one horizontal bar per patient, with different colors for inactive time before the first hospitalization, gaps between hospitalizations, inactive time after the last hospitalization, and patients with no hospitalizations at all. Patients were sorted by total active days.</a:t>
            </a:r>
          </a:p>
          <a:p>
            <a:pPr>
              <a:buNone/>
            </a:pPr>
            <a:endParaRPr lang="en-US" sz="1200" b="1">
              <a:latin typeface="Times New Roman" panose="02020603050405020304" pitchFamily="18" charset="0"/>
              <a:cs typeface="Times New Roman" panose="02020603050405020304" pitchFamily="18" charset="0"/>
            </a:endParaRPr>
          </a:p>
          <a:p>
            <a:pPr>
              <a:buNone/>
            </a:pPr>
            <a:r>
              <a:rPr lang="en-US" sz="1200" b="1">
                <a:latin typeface="Times New Roman" panose="02020603050405020304" pitchFamily="18" charset="0"/>
                <a:cs typeface="Times New Roman" panose="02020603050405020304" pitchFamily="18" charset="0"/>
              </a:rPr>
              <a:t>Result: 142 total lines, 105 lines of actual code</a:t>
            </a:r>
            <a:endParaRPr lang="en-US" sz="1200">
              <a:latin typeface="Times New Roman" panose="02020603050405020304" pitchFamily="18" charset="0"/>
              <a:cs typeface="Times New Roman" panose="02020603050405020304" pitchFamily="18" charset="0"/>
            </a:endParaRPr>
          </a:p>
          <a:p>
            <a:pPr>
              <a:buNone/>
            </a:pPr>
            <a:endParaRPr lang="en-US" sz="1200" b="1">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AF11DC0-F7B8-1B90-B660-D13781FB1BC9}"/>
              </a:ext>
            </a:extLst>
          </p:cNvPr>
          <p:cNvPicPr>
            <a:picLocks noChangeAspect="1"/>
          </p:cNvPicPr>
          <p:nvPr/>
        </p:nvPicPr>
        <p:blipFill>
          <a:blip r:embed="rId2"/>
          <a:stretch>
            <a:fillRect/>
          </a:stretch>
        </p:blipFill>
        <p:spPr>
          <a:xfrm>
            <a:off x="3484207" y="1637063"/>
            <a:ext cx="5016758" cy="3219615"/>
          </a:xfrm>
          <a:prstGeom prst="rect">
            <a:avLst/>
          </a:prstGeom>
        </p:spPr>
      </p:pic>
    </p:spTree>
    <p:extLst>
      <p:ext uri="{BB962C8B-B14F-4D97-AF65-F5344CB8AC3E}">
        <p14:creationId xmlns:p14="http://schemas.microsoft.com/office/powerpoint/2010/main" val="2266194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AF6FA-7CF5-8FF4-408A-9438DBF769EB}"/>
            </a:ext>
          </a:extLst>
        </p:cNvPr>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0843A37A-6ECE-2C33-21E9-7C6FD8107779}"/>
              </a:ext>
            </a:extLst>
          </p:cNvPr>
          <p:cNvCxnSpPr>
            <a:cxnSpLocks/>
            <a:stCxn id="19" idx="2"/>
          </p:cNvCxnSpPr>
          <p:nvPr/>
        </p:nvCxnSpPr>
        <p:spPr>
          <a:xfrm>
            <a:off x="3674010" y="423289"/>
            <a:ext cx="796069" cy="1629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FA717E8-BEF6-C591-76AF-8F7C3000BFA4}"/>
              </a:ext>
            </a:extLst>
          </p:cNvPr>
          <p:cNvSpPr txBox="1"/>
          <p:nvPr/>
        </p:nvSpPr>
        <p:spPr>
          <a:xfrm>
            <a:off x="5390245" y="851919"/>
            <a:ext cx="3307081" cy="276999"/>
          </a:xfrm>
          <a:prstGeom prst="rect">
            <a:avLst/>
          </a:prstGeom>
          <a:ln w="38100">
            <a:solidFill>
              <a:schemeClr val="tx1"/>
            </a:solidFill>
          </a:ln>
          <a:effectLst>
            <a:glow rad="139700">
              <a:schemeClr val="accent2">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StackedTimelineConfig</a:t>
            </a:r>
          </a:p>
        </p:txBody>
      </p:sp>
      <p:sp>
        <p:nvSpPr>
          <p:cNvPr id="8" name="TextBox 7">
            <a:extLst>
              <a:ext uri="{FF2B5EF4-FFF2-40B4-BE49-F238E27FC236}">
                <a16:creationId xmlns:a16="http://schemas.microsoft.com/office/drawing/2014/main" id="{B604AC13-207C-4CFE-FBEC-B13EF0CCEB90}"/>
              </a:ext>
            </a:extLst>
          </p:cNvPr>
          <p:cNvSpPr txBox="1"/>
          <p:nvPr/>
        </p:nvSpPr>
        <p:spPr>
          <a:xfrm>
            <a:off x="248458" y="160474"/>
            <a:ext cx="1946102" cy="276999"/>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p>
        </p:txBody>
      </p:sp>
      <p:sp>
        <p:nvSpPr>
          <p:cNvPr id="10" name="TextBox 9">
            <a:extLst>
              <a:ext uri="{FF2B5EF4-FFF2-40B4-BE49-F238E27FC236}">
                <a16:creationId xmlns:a16="http://schemas.microsoft.com/office/drawing/2014/main" id="{C23733EF-B725-48BE-AF55-8302B268DE28}"/>
              </a:ext>
            </a:extLst>
          </p:cNvPr>
          <p:cNvSpPr txBox="1"/>
          <p:nvPr/>
        </p:nvSpPr>
        <p:spPr>
          <a:xfrm>
            <a:off x="2918459" y="2111545"/>
            <a:ext cx="3307081" cy="276999"/>
          </a:xfrm>
          <a:prstGeom prst="rect">
            <a:avLst/>
          </a:prstGeom>
          <a:ln>
            <a:solidFill>
              <a:schemeClr val="accent1"/>
            </a:solidFill>
          </a:ln>
          <a:effectLst>
            <a:glow rad="101600">
              <a:srgbClr val="7030A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StackedTimeLinePlotter</a:t>
            </a:r>
          </a:p>
        </p:txBody>
      </p:sp>
      <p:cxnSp>
        <p:nvCxnSpPr>
          <p:cNvPr id="11" name="Straight Arrow Connector 10">
            <a:extLst>
              <a:ext uri="{FF2B5EF4-FFF2-40B4-BE49-F238E27FC236}">
                <a16:creationId xmlns:a16="http://schemas.microsoft.com/office/drawing/2014/main" id="{F3D5CB14-2045-6A61-71CF-CF7E22571BB4}"/>
              </a:ext>
            </a:extLst>
          </p:cNvPr>
          <p:cNvCxnSpPr>
            <a:cxnSpLocks/>
            <a:stCxn id="7" idx="2"/>
            <a:endCxn id="10" idx="0"/>
          </p:cNvCxnSpPr>
          <p:nvPr/>
        </p:nvCxnSpPr>
        <p:spPr>
          <a:xfrm flipH="1">
            <a:off x="4572000" y="1128918"/>
            <a:ext cx="2471786" cy="9826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3D694C-289B-ECB9-D3B5-749363085936}"/>
              </a:ext>
            </a:extLst>
          </p:cNvPr>
          <p:cNvCxnSpPr>
            <a:cxnSpLocks/>
            <a:stCxn id="8" idx="2"/>
          </p:cNvCxnSpPr>
          <p:nvPr/>
        </p:nvCxnSpPr>
        <p:spPr>
          <a:xfrm>
            <a:off x="1221509" y="437473"/>
            <a:ext cx="3219862" cy="1619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DB900F6-DFE8-1302-5300-5463E2C24D5B}"/>
              </a:ext>
            </a:extLst>
          </p:cNvPr>
          <p:cNvCxnSpPr>
            <a:cxnSpLocks/>
            <a:stCxn id="10" idx="2"/>
          </p:cNvCxnSpPr>
          <p:nvPr/>
        </p:nvCxnSpPr>
        <p:spPr>
          <a:xfrm>
            <a:off x="4572000" y="2388544"/>
            <a:ext cx="0" cy="478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8FBE2C7-B409-0C95-58A0-18E7BEE3D486}"/>
              </a:ext>
            </a:extLst>
          </p:cNvPr>
          <p:cNvSpPr txBox="1"/>
          <p:nvPr/>
        </p:nvSpPr>
        <p:spPr>
          <a:xfrm>
            <a:off x="2700959" y="146290"/>
            <a:ext cx="1946102" cy="276999"/>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ObsPeriodPerEntity</a:t>
            </a:r>
          </a:p>
        </p:txBody>
      </p:sp>
      <p:sp>
        <p:nvSpPr>
          <p:cNvPr id="27" name="TextBox 26">
            <a:extLst>
              <a:ext uri="{FF2B5EF4-FFF2-40B4-BE49-F238E27FC236}">
                <a16:creationId xmlns:a16="http://schemas.microsoft.com/office/drawing/2014/main" id="{A4A07D8E-C57F-57DE-2602-BB3153A29FFD}"/>
              </a:ext>
            </a:extLst>
          </p:cNvPr>
          <p:cNvSpPr txBox="1"/>
          <p:nvPr/>
        </p:nvSpPr>
        <p:spPr>
          <a:xfrm>
            <a:off x="6413863" y="237495"/>
            <a:ext cx="1574074" cy="261610"/>
          </a:xfrm>
          <a:prstGeom prst="rect">
            <a:avLst/>
          </a:prstGeom>
          <a:noFill/>
        </p:spPr>
        <p:txBody>
          <a:bodyPr wrap="square" rtlCol="0">
            <a:spAutoFit/>
          </a:bodyPr>
          <a:lstStyle/>
          <a:p>
            <a:r>
              <a:rPr lang="en-US" sz="1100">
                <a:latin typeface="Times New Roman" panose="02020603050405020304" pitchFamily="18" charset="0"/>
                <a:cs typeface="Times New Roman" panose="02020603050405020304" pitchFamily="18" charset="0"/>
              </a:rPr>
              <a:t>configuration YAML</a:t>
            </a:r>
          </a:p>
        </p:txBody>
      </p:sp>
      <p:cxnSp>
        <p:nvCxnSpPr>
          <p:cNvPr id="29" name="Straight Arrow Connector 28">
            <a:extLst>
              <a:ext uri="{FF2B5EF4-FFF2-40B4-BE49-F238E27FC236}">
                <a16:creationId xmlns:a16="http://schemas.microsoft.com/office/drawing/2014/main" id="{0E5AEE5E-7CF9-2ABE-96CA-CCE6B5147448}"/>
              </a:ext>
            </a:extLst>
          </p:cNvPr>
          <p:cNvCxnSpPr>
            <a:cxnSpLocks/>
            <a:stCxn id="27" idx="2"/>
          </p:cNvCxnSpPr>
          <p:nvPr/>
        </p:nvCxnSpPr>
        <p:spPr>
          <a:xfrm>
            <a:off x="7200900" y="499105"/>
            <a:ext cx="0" cy="1932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A10E481-B3A3-4B50-4608-0D138C343F90}"/>
              </a:ext>
            </a:extLst>
          </p:cNvPr>
          <p:cNvSpPr txBox="1"/>
          <p:nvPr/>
        </p:nvSpPr>
        <p:spPr>
          <a:xfrm>
            <a:off x="6733903" y="1696046"/>
            <a:ext cx="2168434" cy="1384995"/>
          </a:xfrm>
          <a:prstGeom prst="rect">
            <a:avLst/>
          </a:prstGeom>
          <a:noFill/>
        </p:spPr>
        <p:txBody>
          <a:bodyPr wrap="square" rtlCol="0">
            <a:spAutoFit/>
          </a:bodyPr>
          <a:lstStyle/>
          <a:p>
            <a:r>
              <a:rPr lang="en-US" sz="1200"/>
              <a:t>Objects are designed as concepts:</a:t>
            </a:r>
          </a:p>
          <a:p>
            <a:r>
              <a:rPr lang="en-US" sz="1200" i="1"/>
              <a:t>To exist I need:</a:t>
            </a:r>
          </a:p>
          <a:p>
            <a:r>
              <a:rPr lang="en-US" sz="1200" i="1"/>
              <a:t>1) events to plot</a:t>
            </a:r>
            <a:br>
              <a:rPr lang="en-US" sz="1200" i="1"/>
            </a:br>
            <a:r>
              <a:rPr lang="en-US" sz="1200" i="1"/>
              <a:t>2) period of interest to plot</a:t>
            </a:r>
            <a:br>
              <a:rPr lang="en-US" sz="1200" i="1"/>
            </a:br>
            <a:r>
              <a:rPr lang="en-US" sz="1200" i="1"/>
              <a:t>3) what colors and styles, how are events identified, ...</a:t>
            </a:r>
            <a:endParaRPr lang="en-US" sz="1200"/>
          </a:p>
        </p:txBody>
      </p:sp>
      <p:pic>
        <p:nvPicPr>
          <p:cNvPr id="46" name="Picture 45">
            <a:extLst>
              <a:ext uri="{FF2B5EF4-FFF2-40B4-BE49-F238E27FC236}">
                <a16:creationId xmlns:a16="http://schemas.microsoft.com/office/drawing/2014/main" id="{BE4058A9-1E6A-9C5F-114F-26E121BD7268}"/>
              </a:ext>
            </a:extLst>
          </p:cNvPr>
          <p:cNvPicPr>
            <a:picLocks noChangeAspect="1"/>
          </p:cNvPicPr>
          <p:nvPr/>
        </p:nvPicPr>
        <p:blipFill>
          <a:blip r:embed="rId2"/>
          <a:stretch>
            <a:fillRect/>
          </a:stretch>
        </p:blipFill>
        <p:spPr>
          <a:xfrm>
            <a:off x="3389955" y="3081041"/>
            <a:ext cx="2514212" cy="2008314"/>
          </a:xfrm>
          <a:prstGeom prst="rect">
            <a:avLst/>
          </a:prstGeom>
        </p:spPr>
      </p:pic>
      <p:sp>
        <p:nvSpPr>
          <p:cNvPr id="47" name="TextBox 46">
            <a:extLst>
              <a:ext uri="{FF2B5EF4-FFF2-40B4-BE49-F238E27FC236}">
                <a16:creationId xmlns:a16="http://schemas.microsoft.com/office/drawing/2014/main" id="{8CCF15DD-93C3-0DD8-47A6-774C0E02C485}"/>
              </a:ext>
            </a:extLst>
          </p:cNvPr>
          <p:cNvSpPr txBox="1"/>
          <p:nvPr/>
        </p:nvSpPr>
        <p:spPr>
          <a:xfrm>
            <a:off x="691647" y="3656088"/>
            <a:ext cx="2841171" cy="1223412"/>
          </a:xfrm>
          <a:prstGeom prst="rect">
            <a:avLst/>
          </a:prstGeom>
          <a:noFill/>
        </p:spPr>
        <p:txBody>
          <a:bodyPr wrap="square" rtlCol="0">
            <a:spAutoFit/>
          </a:bodyPr>
          <a:lstStyle/>
          <a:p>
            <a:r>
              <a:rPr lang="en-US" sz="1050">
                <a:latin typeface="Times New Roman" panose="02020603050405020304" pitchFamily="18" charset="0"/>
                <a:cs typeface="Times New Roman" panose="02020603050405020304" pitchFamily="18" charset="0"/>
              </a:rPr>
              <a:t>With different colors you can see</a:t>
            </a:r>
          </a:p>
          <a:p>
            <a:r>
              <a:rPr lang="en-US" sz="1050">
                <a:latin typeface="Times New Roman" panose="02020603050405020304" pitchFamily="18" charset="0"/>
                <a:cs typeface="Times New Roman" panose="02020603050405020304" pitchFamily="18" charset="0"/>
              </a:rPr>
              <a:t>- Time before first hospitalization</a:t>
            </a:r>
          </a:p>
          <a:p>
            <a:r>
              <a:rPr lang="en-US" sz="1050">
                <a:latin typeface="Times New Roman" panose="02020603050405020304" pitchFamily="18" charset="0"/>
                <a:cs typeface="Times New Roman" panose="02020603050405020304" pitchFamily="18" charset="0"/>
              </a:rPr>
              <a:t>- Time between hospitalizations</a:t>
            </a:r>
          </a:p>
          <a:p>
            <a:r>
              <a:rPr lang="en-US" sz="1050">
                <a:latin typeface="Times New Roman" panose="02020603050405020304" pitchFamily="18" charset="0"/>
                <a:cs typeface="Times New Roman" panose="02020603050405020304" pitchFamily="18" charset="0"/>
              </a:rPr>
              <a:t>- Time after last hosp</a:t>
            </a:r>
            <a:br>
              <a:rPr lang="en-US" sz="1050">
                <a:latin typeface="Times New Roman" panose="02020603050405020304" pitchFamily="18" charset="0"/>
                <a:cs typeface="Times New Roman" panose="02020603050405020304" pitchFamily="18" charset="0"/>
              </a:rPr>
            </a:br>
            <a:endParaRPr lang="en-US" sz="1050">
              <a:latin typeface="Times New Roman" panose="02020603050405020304" pitchFamily="18" charset="0"/>
              <a:cs typeface="Times New Roman" panose="02020603050405020304" pitchFamily="18" charset="0"/>
            </a:endParaRPr>
          </a:p>
          <a:p>
            <a:r>
              <a:rPr lang="en-US" sz="1050">
                <a:latin typeface="Times New Roman" panose="02020603050405020304" pitchFamily="18" charset="0"/>
                <a:cs typeface="Times New Roman" panose="02020603050405020304" pitchFamily="18" charset="0"/>
              </a:rPr>
              <a:t>You also have the option of sorting by total duration of events, first event, etc...</a:t>
            </a:r>
          </a:p>
        </p:txBody>
      </p:sp>
    </p:spTree>
    <p:extLst>
      <p:ext uri="{BB962C8B-B14F-4D97-AF65-F5344CB8AC3E}">
        <p14:creationId xmlns:p14="http://schemas.microsoft.com/office/powerpoint/2010/main" val="3104478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1E599-7112-CEFA-92E6-B9C15E8DEC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FC4B06-B7C9-F69A-EA5F-0D6873B5AF74}"/>
              </a:ext>
            </a:extLst>
          </p:cNvPr>
          <p:cNvSpPr txBox="1"/>
          <p:nvPr/>
        </p:nvSpPr>
        <p:spPr>
          <a:xfrm>
            <a:off x="312420" y="371147"/>
            <a:ext cx="8831580" cy="3539430"/>
          </a:xfrm>
          <a:prstGeom prst="rect">
            <a:avLst/>
          </a:prstGeom>
          <a:noFill/>
        </p:spPr>
        <p:txBody>
          <a:bodyPr wrap="square" rtlCol="0">
            <a:spAutoFit/>
          </a:bodyPr>
          <a:lstStyle/>
          <a:p>
            <a:r>
              <a:rPr lang="en-US" sz="1400" b="1"/>
              <a:t>Vignette #3B</a:t>
            </a:r>
          </a:p>
          <a:p>
            <a:r>
              <a:rPr lang="en-US" sz="1400"/>
              <a:t>Your collaborator asks: "Can we look at the year following each patient's 65th birthday instead?" This sounds like a one-line change. It is not.</a:t>
            </a:r>
          </a:p>
          <a:p>
            <a:r>
              <a:rPr lang="en-US" sz="1400" b="1"/>
              <a:t>Problem 1</a:t>
            </a:r>
            <a:r>
              <a:rPr lang="en-US" sz="1400"/>
              <a:t> — Every patient has a different observation window: Age windows mean patient A's window is 1957-03-14 → 1958-03-14 and patient B's is 1959-11-02 → 1960-11-02. Every downstream calculation now operates on a different time range per patient.</a:t>
            </a:r>
          </a:p>
          <a:p>
            <a:r>
              <a:rPr lang="en-US" sz="1400" b="1"/>
              <a:t>Problem 2</a:t>
            </a:r>
            <a:r>
              <a:rPr lang="en-US" sz="1400"/>
              <a:t> — Date of birth arithmetic is treacherous: Adding one year to a date sounds trivial. A patient born February 29 exposes your convention immediately. pd.DateOffset(years=65) and timedelta(days=365*65) give different answers. Neither documents which is right.</a:t>
            </a:r>
          </a:p>
          <a:p>
            <a:r>
              <a:rPr lang="en-US" sz="1400" b="1"/>
              <a:t>Problem 3</a:t>
            </a:r>
            <a:r>
              <a:rPr lang="en-US" sz="1400"/>
              <a:t> — The x-axis in your matplotlib is no longer shared: Day 0 now means "the day the patient turned 65" — not a calendar date. A script that hardcodes calendar ticks produces a misleading plot.</a:t>
            </a:r>
          </a:p>
          <a:p>
            <a:r>
              <a:rPr lang="en-US" sz="1400" b="1"/>
              <a:t>Problem 4</a:t>
            </a:r>
            <a:r>
              <a:rPr lang="en-US" sz="1400"/>
              <a:t> — Clipping is now patient-specific: The two global constants OBS_START and OBS_END from vignette 3A no longer exist. Every clip is now a per-row operation against two columns that vary by patient.</a:t>
            </a:r>
          </a:p>
          <a:p>
            <a:r>
              <a:rPr lang="en-US" sz="1400" b="1"/>
              <a:t>Problem 5</a:t>
            </a:r>
            <a:r>
              <a:rPr lang="en-US" sz="1400"/>
              <a:t> — The demographics file is now load-bearing: You need date of birth for every patient — including those with no hospitalizations. A script that reads demographics only for patients in the hospitalization file silently drops zero-hospitalization patients. Again.</a:t>
            </a:r>
          </a:p>
        </p:txBody>
      </p:sp>
    </p:spTree>
    <p:extLst>
      <p:ext uri="{BB962C8B-B14F-4D97-AF65-F5344CB8AC3E}">
        <p14:creationId xmlns:p14="http://schemas.microsoft.com/office/powerpoint/2010/main" val="24127580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95C80-3555-2BEA-76DB-0D66AE39F9C7}"/>
              </a:ext>
            </a:extLst>
          </p:cNvPr>
          <p:cNvPicPr>
            <a:picLocks noChangeAspect="1"/>
          </p:cNvPicPr>
          <p:nvPr/>
        </p:nvPicPr>
        <p:blipFill>
          <a:blip r:embed="rId2"/>
          <a:stretch>
            <a:fillRect/>
          </a:stretch>
        </p:blipFill>
        <p:spPr>
          <a:xfrm>
            <a:off x="464675" y="240548"/>
            <a:ext cx="5639090" cy="4540483"/>
          </a:xfrm>
          <a:prstGeom prst="rect">
            <a:avLst/>
          </a:prstGeom>
        </p:spPr>
      </p:pic>
    </p:spTree>
    <p:extLst>
      <p:ext uri="{BB962C8B-B14F-4D97-AF65-F5344CB8AC3E}">
        <p14:creationId xmlns:p14="http://schemas.microsoft.com/office/powerpoint/2010/main" val="1949958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32A115-75E2-0893-F410-73930A572485}"/>
              </a:ext>
            </a:extLst>
          </p:cNvPr>
          <p:cNvSpPr txBox="1"/>
          <p:nvPr/>
        </p:nvSpPr>
        <p:spPr>
          <a:xfrm>
            <a:off x="109945" y="378370"/>
            <a:ext cx="2922815" cy="830997"/>
          </a:xfrm>
          <a:custGeom>
            <a:avLst/>
            <a:gdLst>
              <a:gd name="csX0" fmla="*/ 0 w 2922815"/>
              <a:gd name="csY0" fmla="*/ 0 h 830997"/>
              <a:gd name="csX1" fmla="*/ 2922815 w 2922815"/>
              <a:gd name="csY1" fmla="*/ 0 h 830997"/>
              <a:gd name="csX2" fmla="*/ 2922815 w 2922815"/>
              <a:gd name="csY2" fmla="*/ 830997 h 830997"/>
              <a:gd name="csX3" fmla="*/ 0 w 2922815"/>
              <a:gd name="csY3" fmla="*/ 830997 h 830997"/>
              <a:gd name="csX4" fmla="*/ 0 w 2922815"/>
              <a:gd name="csY4" fmla="*/ 0 h 830997"/>
            </a:gdLst>
            <a:ahLst/>
            <a:cxnLst>
              <a:cxn ang="0">
                <a:pos x="csX0" y="csY0"/>
              </a:cxn>
              <a:cxn ang="0">
                <a:pos x="csX1" y="csY1"/>
              </a:cxn>
              <a:cxn ang="0">
                <a:pos x="csX2" y="csY2"/>
              </a:cxn>
              <a:cxn ang="0">
                <a:pos x="csX3" y="csY3"/>
              </a:cxn>
              <a:cxn ang="0">
                <a:pos x="csX4" y="csY4"/>
              </a:cxn>
            </a:cxnLst>
            <a:rect l="l" t="t" r="r" b="b"/>
            <a:pathLst>
              <a:path w="2922815" h="830997" fill="none" extrusionOk="0">
                <a:moveTo>
                  <a:pt x="0" y="0"/>
                </a:moveTo>
                <a:cubicBezTo>
                  <a:pt x="355566" y="-130955"/>
                  <a:pt x="1815757" y="60629"/>
                  <a:pt x="2922815" y="0"/>
                </a:cubicBezTo>
                <a:cubicBezTo>
                  <a:pt x="2917705" y="121524"/>
                  <a:pt x="2862889" y="451653"/>
                  <a:pt x="2922815" y="830997"/>
                </a:cubicBezTo>
                <a:cubicBezTo>
                  <a:pt x="2415729" y="798166"/>
                  <a:pt x="508035" y="741353"/>
                  <a:pt x="0" y="830997"/>
                </a:cubicBezTo>
                <a:cubicBezTo>
                  <a:pt x="41085" y="721302"/>
                  <a:pt x="11105" y="326204"/>
                  <a:pt x="0" y="0"/>
                </a:cubicBezTo>
                <a:close/>
              </a:path>
              <a:path w="2922815" h="830997" stroke="0" extrusionOk="0">
                <a:moveTo>
                  <a:pt x="0" y="0"/>
                </a:moveTo>
                <a:cubicBezTo>
                  <a:pt x="1326380" y="-145685"/>
                  <a:pt x="1476772" y="120332"/>
                  <a:pt x="2922815" y="0"/>
                </a:cubicBezTo>
                <a:cubicBezTo>
                  <a:pt x="2979401" y="341217"/>
                  <a:pt x="2883799" y="468452"/>
                  <a:pt x="2922815" y="830997"/>
                </a:cubicBezTo>
                <a:cubicBezTo>
                  <a:pt x="2105533" y="688498"/>
                  <a:pt x="437425" y="981975"/>
                  <a:pt x="0" y="830997"/>
                </a:cubicBezTo>
                <a:cubicBezTo>
                  <a:pt x="6173" y="664514"/>
                  <a:pt x="-16538" y="379586"/>
                  <a:pt x="0" y="0"/>
                </a:cubicBezTo>
                <a:close/>
              </a:path>
            </a:pathLst>
          </a:custGeom>
          <a:solidFill>
            <a:schemeClr val="bg1"/>
          </a:solidFill>
          <a:ln>
            <a:solidFill>
              <a:schemeClr val="bg1"/>
            </a:solidFill>
            <a:extLst>
              <a:ext uri="{C807C97D-BFC1-408E-A445-0C87EB9F89A2}">
                <ask:lineSketchStyleProps xmlns:ask="http://schemas.microsoft.com/office/drawing/2018/sketchyshapes" sd="1730981762">
                  <a:prstGeom prst="rect">
                    <a:avLst/>
                  </a:prstGeom>
                  <ask:type>
                    <ask:lineSketchCurved/>
                  </ask:type>
                </ask:lineSketchStyleProps>
              </a:ext>
            </a:extLst>
          </a:ln>
          <a:effectLst>
            <a:glow rad="101600">
              <a:srgbClr val="C00000">
                <a:alpha val="60000"/>
              </a:srgb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200" b="1">
                <a:latin typeface="Consolas" panose="020B0609020204030204" pitchFamily="49" charset="0"/>
                <a:cs typeface="Times New Roman" panose="02020603050405020304" pitchFamily="18" charset="0"/>
              </a:rPr>
              <a:t>EventsWithinObsPeriodsAnalyzer</a:t>
            </a:r>
          </a:p>
          <a:p>
            <a:pPr algn="ctr"/>
            <a:r>
              <a:rPr lang="en-US" sz="1200">
                <a:latin typeface="Consolas" panose="020B0609020204030204" pitchFamily="49" charset="0"/>
                <a:cs typeface="Times New Roman" panose="02020603050405020304" pitchFamily="18" charset="0"/>
              </a:rPr>
              <a:t>events: Events</a:t>
            </a:r>
          </a:p>
          <a:p>
            <a:pPr algn="ctr"/>
            <a:r>
              <a:rPr lang="en-US" sz="1200">
                <a:latin typeface="Consolas" panose="020B0609020204030204" pitchFamily="49" charset="0"/>
                <a:cs typeface="Times New Roman" panose="02020603050405020304" pitchFamily="18" charset="0"/>
              </a:rPr>
              <a:t>obs_period: ObsPeriodPerEntity</a:t>
            </a:r>
          </a:p>
          <a:p>
            <a:pPr algn="ctr"/>
            <a:r>
              <a:rPr lang="en-US" sz="1200">
                <a:latin typeface="Consolas" panose="020B0609020204030204" pitchFamily="49" charset="0"/>
                <a:cs typeface="Times New Roman" panose="02020603050405020304" pitchFamily="18" charset="0"/>
              </a:rPr>
              <a:t>entity_col: str | None</a:t>
            </a:r>
          </a:p>
        </p:txBody>
      </p:sp>
      <p:sp>
        <p:nvSpPr>
          <p:cNvPr id="3" name="TextBox 2">
            <a:extLst>
              <a:ext uri="{FF2B5EF4-FFF2-40B4-BE49-F238E27FC236}">
                <a16:creationId xmlns:a16="http://schemas.microsoft.com/office/drawing/2014/main" id="{6C50AC7A-5CFF-9ED0-06DF-EE0A9EA00600}"/>
              </a:ext>
            </a:extLst>
          </p:cNvPr>
          <p:cNvSpPr txBox="1"/>
          <p:nvPr/>
        </p:nvSpPr>
        <p:spPr>
          <a:xfrm>
            <a:off x="3424646" y="272582"/>
            <a:ext cx="5882640" cy="1200329"/>
          </a:xfrm>
          <a:prstGeom prst="rect">
            <a:avLst/>
          </a:prstGeom>
          <a:noFill/>
        </p:spPr>
        <p:txBody>
          <a:bodyPr wrap="square" rtlCol="0">
            <a:spAutoFit/>
          </a:bodyPr>
          <a:lstStyle/>
          <a:p>
            <a:r>
              <a:rPr lang="en-US" sz="1200" b="1">
                <a:latin typeface="Consolas" panose="020B0609020204030204" pitchFamily="49" charset="0"/>
              </a:rPr>
              <a:t>Constructor</a:t>
            </a:r>
          </a:p>
          <a:p>
            <a:r>
              <a:rPr lang="en-US" sz="1200" i="1">
                <a:latin typeface="Consolas" panose="020B0609020204030204" pitchFamily="49" charset="0"/>
              </a:rPr>
              <a:t>__init__</a:t>
            </a:r>
            <a:r>
              <a:rPr lang="en-US" sz="1200">
                <a:latin typeface="Consolas" panose="020B0609020204030204" pitchFamily="49" charset="0"/>
              </a:rPr>
              <a:t>(events, obs_period, entity_col)</a:t>
            </a:r>
            <a:r>
              <a:rPr lang="en-US" sz="1200" i="1">
                <a:latin typeface="Consolas" panose="020B0609020204030204" pitchFamily="49" charset="0"/>
              </a:rPr>
              <a:t> </a:t>
            </a:r>
          </a:p>
          <a:p>
            <a:endParaRPr lang="en-US" sz="1200" i="1">
              <a:latin typeface="Consolas" panose="020B0609020204030204" pitchFamily="49" charset="0"/>
            </a:endParaRPr>
          </a:p>
          <a:p>
            <a:r>
              <a:rPr lang="en-US" sz="1200" b="1">
                <a:latin typeface="Consolas" panose="020B0609020204030204" pitchFamily="49" charset="0"/>
              </a:rPr>
              <a:t>Methods</a:t>
            </a:r>
          </a:p>
          <a:p>
            <a:r>
              <a:rPr lang="en-US" sz="1200" i="1">
                <a:latin typeface="Consolas" panose="020B0609020204030204" pitchFamily="49" charset="0"/>
              </a:rPr>
              <a:t>compute_event_coverage</a:t>
            </a:r>
            <a:r>
              <a:rPr lang="en-US" sz="1200">
                <a:latin typeface="Consolas" panose="020B0609020204030204" pitchFamily="49" charset="0"/>
              </a:rPr>
              <a:t>() -&gt; PipeDelimitedIntermediateEvents</a:t>
            </a:r>
          </a:p>
          <a:p>
            <a:endParaRPr lang="en-US" sz="1200">
              <a:latin typeface="Consolas" panose="020B0609020204030204" pitchFamily="49" charset="0"/>
            </a:endParaRPr>
          </a:p>
        </p:txBody>
      </p:sp>
    </p:spTree>
    <p:extLst>
      <p:ext uri="{BB962C8B-B14F-4D97-AF65-F5344CB8AC3E}">
        <p14:creationId xmlns:p14="http://schemas.microsoft.com/office/powerpoint/2010/main" val="19023658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32DC2-A38D-B0F2-61A7-64C1606F0D2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4D16C12-2501-2053-3805-73082E4CE9E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154259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5994F-8B95-604B-44B1-1A5604ECC7A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DC9AD83-C8A6-73C6-38A7-E050B0F6A05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712859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885B-67B4-212F-0B3D-EB24CC0139F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FC9D08A-5BE9-CEAA-1EDD-451FD8D58F2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202565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0D98-71F3-6341-F5A9-F483778E88B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4029D321-E375-9999-F03D-E701DE6B67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131604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16045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1915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F31E6C-6343-C599-499C-7C985D1DC1FA}"/>
              </a:ext>
            </a:extLst>
          </p:cNvPr>
          <p:cNvSpPr txBox="1"/>
          <p:nvPr/>
        </p:nvSpPr>
        <p:spPr>
          <a:xfrm>
            <a:off x="2727960" y="3771346"/>
            <a:ext cx="6187440" cy="1200329"/>
          </a:xfrm>
          <a:prstGeom prst="rect">
            <a:avLst/>
          </a:prstGeom>
          <a:noFill/>
        </p:spPr>
        <p:txBody>
          <a:bodyPr wrap="square">
            <a:spAutoFit/>
          </a:bodyPr>
          <a:lstStyle/>
          <a:p>
            <a:r>
              <a:rPr lang="en-US" sz="1200"/>
              <a:t>No configuration files. No specific error messages — a wrong column name gives you a KeyError, a bad date gives you a silent NaN, a logic error gives you wrong numbers with no warning. The meaningful gap is hardcoded. </a:t>
            </a:r>
          </a:p>
          <a:p>
            <a:endParaRPr lang="en-US" sz="1200"/>
          </a:p>
          <a:p>
            <a:r>
              <a:rPr lang="en-US" sz="1200"/>
              <a:t>The eventus version is 6 lines of code, two YAML files, and specific errors that tell you exactly what went wrong.</a:t>
            </a:r>
            <a:endParaRPr lang="en-US" sz="1200" i="1"/>
          </a:p>
        </p:txBody>
      </p:sp>
      <p:pic>
        <p:nvPicPr>
          <p:cNvPr id="8" name="Picture 7">
            <a:extLst>
              <a:ext uri="{FF2B5EF4-FFF2-40B4-BE49-F238E27FC236}">
                <a16:creationId xmlns:a16="http://schemas.microsoft.com/office/drawing/2014/main" id="{6A1AEF2B-E7B4-9BA0-B09C-E25CF08B102D}"/>
              </a:ext>
            </a:extLst>
          </p:cNvPr>
          <p:cNvPicPr>
            <a:picLocks noChangeAspect="1"/>
          </p:cNvPicPr>
          <p:nvPr/>
        </p:nvPicPr>
        <p:blipFill>
          <a:blip r:embed="rId2"/>
          <a:stretch>
            <a:fillRect/>
          </a:stretch>
        </p:blipFill>
        <p:spPr>
          <a:xfrm>
            <a:off x="603975" y="413763"/>
            <a:ext cx="7086964" cy="3124361"/>
          </a:xfrm>
          <a:prstGeom prst="rect">
            <a:avLst/>
          </a:prstGeom>
        </p:spPr>
      </p:pic>
    </p:spTree>
    <p:extLst>
      <p:ext uri="{BB962C8B-B14F-4D97-AF65-F5344CB8AC3E}">
        <p14:creationId xmlns:p14="http://schemas.microsoft.com/office/powerpoint/2010/main" val="23876806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780410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8E370-2D86-267B-C161-050A9525F1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3A2609B-A8FE-52AB-94BD-9EA64CC875B8}"/>
              </a:ext>
            </a:extLst>
          </p:cNvPr>
          <p:cNvSpPr txBox="1"/>
          <p:nvPr/>
        </p:nvSpPr>
        <p:spPr>
          <a:xfrm>
            <a:off x="53340" y="175260"/>
            <a:ext cx="8831580" cy="4401205"/>
          </a:xfrm>
          <a:prstGeom prst="rect">
            <a:avLst/>
          </a:prstGeom>
          <a:noFill/>
        </p:spPr>
        <p:txBody>
          <a:bodyPr wrap="square" rtlCol="0">
            <a:spAutoFit/>
          </a:bodyPr>
          <a:lstStyle/>
          <a:p>
            <a:r>
              <a:rPr lang="en-US" sz="1400" b="1"/>
              <a:t>Vignette #4:</a:t>
            </a:r>
          </a:p>
          <a:p>
            <a:r>
              <a:rPr lang="en-US" sz="1400"/>
              <a:t>You have cleaned your Medicaid coverage data. Each row represents one continuous coverage episode — a span of days during which a senior was enrolled. Now you want to understand the structure of coverage gaps across your cohort from age 65 to 70.Before running any statistical models, you want to do something simple first: look at a sample of the data. Then you want to understand the distribution of coverage gaps — not just how many days patients were uncovered, but where in their five-year window those gaps fell</a:t>
            </a:r>
          </a:p>
          <a:p>
            <a:r>
              <a:rPr lang="en-US" sz="1400" b="1"/>
              <a:t>Problem 1</a:t>
            </a:r>
            <a:r>
              <a:rPr lang="en-US" sz="1400"/>
              <a:t> — Coverage gaps are not one thing: A patient uncovered for 90 days before their first coverage episode is scientifically different from a patient uncovered for 90 days between two episodes. The first may reflect delayed enrollment. The second may reflect a lapse. A script that computes inactive_days as a single number destroys this distinction.</a:t>
            </a:r>
          </a:p>
          <a:p>
            <a:r>
              <a:rPr lang="en-US" sz="1400" b="1"/>
              <a:t>Problem 2</a:t>
            </a:r>
            <a:r>
              <a:rPr lang="en-US" sz="1400"/>
              <a:t> — The denominator changes for each question: "Days before first coverage" only applies to patients whose coverage started after age 65. "Gap between coverage episodes" only applies to patients with ≥ 2 episodes. A script that computes these without tracking the denominator produces misleading statistics.</a:t>
            </a:r>
          </a:p>
          <a:p>
            <a:r>
              <a:rPr lang="en-US" sz="1400" b="1"/>
              <a:t>Problem 3</a:t>
            </a:r>
            <a:r>
              <a:rPr lang="en-US" sz="1400"/>
              <a:t> — Problem 3 — The distributions are only comparable if the denominators are visible: If 800 patients had any gap but only 200 had gaps between episodes, percentiles are only understandable if you know what fraction of the cohort each violin represents. A plot where both violins appear the same width implies equal denominators — and is actively misleading.</a:t>
            </a:r>
          </a:p>
          <a:p>
            <a:r>
              <a:rPr lang="en-US" sz="1400" b="1"/>
              <a:t>Problem 4</a:t>
            </a:r>
            <a:r>
              <a:rPr lang="en-US" sz="1400"/>
              <a:t> — The observation period is age-derived: Each patient's window runs from their 65th to their 70th birthday — a different calendar range for every patient. A script that hardcodes a fixed calendar period assigns the wrong observation window to every patient.</a:t>
            </a:r>
          </a:p>
        </p:txBody>
      </p:sp>
    </p:spTree>
    <p:extLst>
      <p:ext uri="{BB962C8B-B14F-4D97-AF65-F5344CB8AC3E}">
        <p14:creationId xmlns:p14="http://schemas.microsoft.com/office/powerpoint/2010/main" val="21553842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353574-C264-E6FD-62B9-69AA6733C57B}"/>
              </a:ext>
            </a:extLst>
          </p:cNvPr>
          <p:cNvPicPr>
            <a:picLocks noChangeAspect="1"/>
          </p:cNvPicPr>
          <p:nvPr/>
        </p:nvPicPr>
        <p:blipFill>
          <a:blip r:embed="rId2"/>
          <a:stretch>
            <a:fillRect/>
          </a:stretch>
        </p:blipFill>
        <p:spPr>
          <a:xfrm>
            <a:off x="4279417" y="132234"/>
            <a:ext cx="4673840" cy="4578585"/>
          </a:xfrm>
          <a:prstGeom prst="rect">
            <a:avLst/>
          </a:prstGeom>
        </p:spPr>
      </p:pic>
    </p:spTree>
    <p:extLst>
      <p:ext uri="{BB962C8B-B14F-4D97-AF65-F5344CB8AC3E}">
        <p14:creationId xmlns:p14="http://schemas.microsoft.com/office/powerpoint/2010/main" val="19965169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BD98FE-2ECA-29F0-CBC6-27CDFF0C634B}"/>
              </a:ext>
            </a:extLst>
          </p:cNvPr>
          <p:cNvSpPr txBox="1"/>
          <p:nvPr/>
        </p:nvSpPr>
        <p:spPr>
          <a:xfrm>
            <a:off x="169817" y="634526"/>
            <a:ext cx="2468881" cy="461665"/>
          </a:xfrm>
          <a:prstGeom prst="rect">
            <a:avLst/>
          </a:prstGeom>
          <a:noFill/>
          <a:ln>
            <a:solidFill>
              <a:schemeClr val="accent1"/>
            </a:solidFill>
          </a:ln>
        </p:spPr>
        <p:txBody>
          <a:bodyPr wrap="square" rtlCol="0">
            <a:spAutoFit/>
          </a:bodyPr>
          <a:lstStyle/>
          <a:p>
            <a:pPr algn="ctr"/>
            <a:r>
              <a:rPr lang="en-US" sz="1200">
                <a:latin typeface="Times New Roman" panose="02020603050405020304" pitchFamily="18" charset="0"/>
                <a:cs typeface="Times New Roman" panose="02020603050405020304" pitchFamily="18" charset="0"/>
              </a:rPr>
              <a:t>Semantics</a:t>
            </a:r>
          </a:p>
          <a:p>
            <a:pPr algn="ctr"/>
            <a:r>
              <a:rPr lang="en-US" sz="1200">
                <a:latin typeface="Times New Roman" panose="02020603050405020304" pitchFamily="18" charset="0"/>
                <a:cs typeface="Times New Roman" panose="02020603050405020304" pitchFamily="18" charset="0"/>
              </a:rPr>
              <a:t>"I know what columns mean"</a:t>
            </a:r>
          </a:p>
        </p:txBody>
      </p:sp>
      <p:sp>
        <p:nvSpPr>
          <p:cNvPr id="4" name="TextBox 3">
            <a:extLst>
              <a:ext uri="{FF2B5EF4-FFF2-40B4-BE49-F238E27FC236}">
                <a16:creationId xmlns:a16="http://schemas.microsoft.com/office/drawing/2014/main" id="{60D0BECE-032C-B05E-8016-6B42864B4776}"/>
              </a:ext>
            </a:extLst>
          </p:cNvPr>
          <p:cNvSpPr txBox="1"/>
          <p:nvPr/>
        </p:nvSpPr>
        <p:spPr>
          <a:xfrm>
            <a:off x="169816" y="1329034"/>
            <a:ext cx="2468881" cy="461665"/>
          </a:xfrm>
          <a:prstGeom prst="rect">
            <a:avLst/>
          </a:prstGeom>
          <a:noFill/>
          <a:ln>
            <a:solidFill>
              <a:schemeClr val="accent1"/>
            </a:solidFill>
          </a:ln>
        </p:spPr>
        <p:txBody>
          <a:bodyPr wrap="square" rtlCol="0">
            <a:spAutoFit/>
          </a:bodyPr>
          <a:lstStyle/>
          <a:p>
            <a:pPr algn="ctr"/>
            <a:r>
              <a:rPr lang="en-US" sz="1200">
                <a:latin typeface="Times New Roman" panose="02020603050405020304" pitchFamily="18" charset="0"/>
                <a:cs typeface="Times New Roman" panose="02020603050405020304" pitchFamily="18" charset="0"/>
              </a:rPr>
              <a:t>Data Objects</a:t>
            </a:r>
          </a:p>
          <a:p>
            <a:pPr algn="ctr"/>
            <a:r>
              <a:rPr lang="en-US" sz="1200">
                <a:latin typeface="Times New Roman" panose="02020603050405020304" pitchFamily="18" charset="0"/>
                <a:cs typeface="Times New Roman" panose="02020603050405020304" pitchFamily="18" charset="0"/>
              </a:rPr>
              <a:t>"I hold clean/validated data"</a:t>
            </a:r>
          </a:p>
        </p:txBody>
      </p:sp>
      <p:sp>
        <p:nvSpPr>
          <p:cNvPr id="5" name="TextBox 4">
            <a:extLst>
              <a:ext uri="{FF2B5EF4-FFF2-40B4-BE49-F238E27FC236}">
                <a16:creationId xmlns:a16="http://schemas.microsoft.com/office/drawing/2014/main" id="{AAD37947-6237-1437-B713-3D564F8E3ED7}"/>
              </a:ext>
            </a:extLst>
          </p:cNvPr>
          <p:cNvSpPr txBox="1"/>
          <p:nvPr/>
        </p:nvSpPr>
        <p:spPr>
          <a:xfrm>
            <a:off x="141515" y="2001237"/>
            <a:ext cx="2468881" cy="461665"/>
          </a:xfrm>
          <a:prstGeom prst="rect">
            <a:avLst/>
          </a:prstGeom>
          <a:noFill/>
          <a:ln>
            <a:solidFill>
              <a:schemeClr val="accent1"/>
            </a:solidFill>
          </a:ln>
        </p:spPr>
        <p:txBody>
          <a:bodyPr wrap="square" rtlCol="0">
            <a:spAutoFit/>
          </a:bodyPr>
          <a:lstStyle/>
          <a:p>
            <a:pPr algn="ctr"/>
            <a:r>
              <a:rPr lang="en-US" sz="1200">
                <a:latin typeface="Times New Roman" panose="02020603050405020304" pitchFamily="18" charset="0"/>
                <a:cs typeface="Times New Roman" panose="02020603050405020304" pitchFamily="18" charset="0"/>
              </a:rPr>
              <a:t>Analyzers</a:t>
            </a:r>
          </a:p>
          <a:p>
            <a:pPr algn="ctr"/>
            <a:r>
              <a:rPr lang="en-US" sz="1200">
                <a:latin typeface="Times New Roman" panose="02020603050405020304" pitchFamily="18" charset="0"/>
                <a:cs typeface="Times New Roman" panose="02020603050405020304" pitchFamily="18" charset="0"/>
              </a:rPr>
              <a:t>"I compute shareable stuff"</a:t>
            </a:r>
          </a:p>
        </p:txBody>
      </p:sp>
      <p:sp>
        <p:nvSpPr>
          <p:cNvPr id="6" name="TextBox 5">
            <a:extLst>
              <a:ext uri="{FF2B5EF4-FFF2-40B4-BE49-F238E27FC236}">
                <a16:creationId xmlns:a16="http://schemas.microsoft.com/office/drawing/2014/main" id="{F2F159B6-AAD1-8C7B-FB9A-D5654E8FD269}"/>
              </a:ext>
            </a:extLst>
          </p:cNvPr>
          <p:cNvSpPr txBox="1"/>
          <p:nvPr/>
        </p:nvSpPr>
        <p:spPr>
          <a:xfrm>
            <a:off x="169814" y="2676460"/>
            <a:ext cx="2468881" cy="461665"/>
          </a:xfrm>
          <a:prstGeom prst="rect">
            <a:avLst/>
          </a:prstGeom>
          <a:noFill/>
          <a:ln>
            <a:solidFill>
              <a:schemeClr val="accent1"/>
            </a:solidFill>
          </a:ln>
        </p:spPr>
        <p:txBody>
          <a:bodyPr wrap="square" rtlCol="0">
            <a:spAutoFit/>
          </a:bodyPr>
          <a:lstStyle/>
          <a:p>
            <a:pPr algn="ctr"/>
            <a:r>
              <a:rPr lang="en-US" sz="1200">
                <a:latin typeface="Times New Roman" panose="02020603050405020304" pitchFamily="18" charset="0"/>
                <a:cs typeface="Times New Roman" panose="02020603050405020304" pitchFamily="18" charset="0"/>
              </a:rPr>
              <a:t>Intermediates</a:t>
            </a:r>
          </a:p>
          <a:p>
            <a:pPr algn="ctr"/>
            <a:r>
              <a:rPr lang="en-US" sz="1200">
                <a:latin typeface="Times New Roman" panose="02020603050405020304" pitchFamily="18" charset="0"/>
                <a:cs typeface="Times New Roman" panose="02020603050405020304" pitchFamily="18" charset="0"/>
              </a:rPr>
              <a:t>"Pipe-delimited columnar contract"</a:t>
            </a:r>
          </a:p>
        </p:txBody>
      </p:sp>
      <p:sp>
        <p:nvSpPr>
          <p:cNvPr id="7" name="TextBox 6">
            <a:extLst>
              <a:ext uri="{FF2B5EF4-FFF2-40B4-BE49-F238E27FC236}">
                <a16:creationId xmlns:a16="http://schemas.microsoft.com/office/drawing/2014/main" id="{0798FD70-B53D-EFA2-F0F4-CE70E0B3D67C}"/>
              </a:ext>
            </a:extLst>
          </p:cNvPr>
          <p:cNvSpPr txBox="1"/>
          <p:nvPr/>
        </p:nvSpPr>
        <p:spPr>
          <a:xfrm>
            <a:off x="169817" y="3517334"/>
            <a:ext cx="2468881" cy="461665"/>
          </a:xfrm>
          <a:prstGeom prst="rect">
            <a:avLst/>
          </a:prstGeom>
          <a:noFill/>
          <a:ln>
            <a:solidFill>
              <a:schemeClr val="accent1"/>
            </a:solidFill>
          </a:ln>
        </p:spPr>
        <p:txBody>
          <a:bodyPr wrap="square" rtlCol="0">
            <a:spAutoFit/>
          </a:bodyPr>
          <a:lstStyle/>
          <a:p>
            <a:pPr algn="ctr"/>
            <a:r>
              <a:rPr lang="en-US" sz="1200">
                <a:latin typeface="Times New Roman" panose="02020603050405020304" pitchFamily="18" charset="0"/>
                <a:cs typeface="Times New Roman" panose="02020603050405020304" pitchFamily="18" charset="0"/>
              </a:rPr>
              <a:t>Visualizers</a:t>
            </a:r>
          </a:p>
          <a:p>
            <a:pPr algn="ctr"/>
            <a:r>
              <a:rPr lang="en-US" sz="1200">
                <a:latin typeface="Times New Roman" panose="02020603050405020304" pitchFamily="18" charset="0"/>
                <a:cs typeface="Times New Roman" panose="02020603050405020304" pitchFamily="18" charset="0"/>
              </a:rPr>
              <a:t>"I draw pictures"</a:t>
            </a:r>
          </a:p>
        </p:txBody>
      </p:sp>
      <p:sp>
        <p:nvSpPr>
          <p:cNvPr id="8" name="TextBox 7">
            <a:extLst>
              <a:ext uri="{FF2B5EF4-FFF2-40B4-BE49-F238E27FC236}">
                <a16:creationId xmlns:a16="http://schemas.microsoft.com/office/drawing/2014/main" id="{5D17D607-8AB3-D7CA-2898-CC19C4FAC22D}"/>
              </a:ext>
            </a:extLst>
          </p:cNvPr>
          <p:cNvSpPr txBox="1"/>
          <p:nvPr/>
        </p:nvSpPr>
        <p:spPr>
          <a:xfrm>
            <a:off x="2984862" y="726858"/>
            <a:ext cx="2847703" cy="461665"/>
          </a:xfrm>
          <a:prstGeom prst="rect">
            <a:avLst/>
          </a:prstGeom>
          <a:noFill/>
        </p:spPr>
        <p:txBody>
          <a:bodyPr wrap="square" rtlCol="0">
            <a:spAutoFit/>
          </a:bodyPr>
          <a:lstStyle/>
          <a:p>
            <a:r>
              <a:rPr lang="en-US" sz="1200">
                <a:latin typeface="Consolas" panose="020B0609020204030204" pitchFamily="49" charset="0"/>
                <a:cs typeface="Vrinda" panose="020B0502040204020203" pitchFamily="34" charset="0"/>
              </a:rPr>
              <a:t>EventSemantics, OccurrenceSemantics</a:t>
            </a:r>
          </a:p>
        </p:txBody>
      </p:sp>
      <p:sp>
        <p:nvSpPr>
          <p:cNvPr id="9" name="TextBox 8">
            <a:extLst>
              <a:ext uri="{FF2B5EF4-FFF2-40B4-BE49-F238E27FC236}">
                <a16:creationId xmlns:a16="http://schemas.microsoft.com/office/drawing/2014/main" id="{0FC39483-E1D0-FA0F-7227-A0A4E5CD4E10}"/>
              </a:ext>
            </a:extLst>
          </p:cNvPr>
          <p:cNvSpPr txBox="1"/>
          <p:nvPr/>
        </p:nvSpPr>
        <p:spPr>
          <a:xfrm>
            <a:off x="2984862" y="1421366"/>
            <a:ext cx="5225144" cy="461665"/>
          </a:xfrm>
          <a:prstGeom prst="rect">
            <a:avLst/>
          </a:prstGeom>
          <a:noFill/>
        </p:spPr>
        <p:txBody>
          <a:bodyPr wrap="square" rtlCol="0">
            <a:spAutoFit/>
          </a:bodyPr>
          <a:lstStyle/>
          <a:p>
            <a:r>
              <a:rPr lang="en-US" sz="1200">
                <a:latin typeface="Consolas" panose="020B0609020204030204" pitchFamily="49" charset="0"/>
                <a:cs typeface="Vrinda" panose="020B0502040204020203" pitchFamily="34" charset="0"/>
              </a:rPr>
              <a:t>Events, EventsPerEntity, Spans, Occurrences, OccurrencesPerEntity</a:t>
            </a:r>
          </a:p>
        </p:txBody>
      </p:sp>
      <p:sp>
        <p:nvSpPr>
          <p:cNvPr id="10" name="TextBox 9">
            <a:extLst>
              <a:ext uri="{FF2B5EF4-FFF2-40B4-BE49-F238E27FC236}">
                <a16:creationId xmlns:a16="http://schemas.microsoft.com/office/drawing/2014/main" id="{5AD248FF-441C-8730-A19A-C6709E01C765}"/>
              </a:ext>
            </a:extLst>
          </p:cNvPr>
          <p:cNvSpPr txBox="1"/>
          <p:nvPr/>
        </p:nvSpPr>
        <p:spPr>
          <a:xfrm>
            <a:off x="2984862" y="2001237"/>
            <a:ext cx="5989323" cy="461665"/>
          </a:xfrm>
          <a:prstGeom prst="rect">
            <a:avLst/>
          </a:prstGeom>
          <a:noFill/>
        </p:spPr>
        <p:txBody>
          <a:bodyPr wrap="square" rtlCol="0">
            <a:spAutoFit/>
          </a:bodyPr>
          <a:lstStyle/>
          <a:p>
            <a:r>
              <a:rPr lang="en-US" sz="1200">
                <a:latin typeface="Consolas" panose="020B0609020204030204" pitchFamily="49" charset="0"/>
                <a:cs typeface="Vrinda" panose="020B0502040204020203" pitchFamily="34" charset="0"/>
              </a:rPr>
              <a:t>EventsWithinSpanAnalyzer, OccurrencesWithinSpanAnalyzer, ***OccurrencesWithinEventsAnalyzer</a:t>
            </a:r>
          </a:p>
        </p:txBody>
      </p:sp>
      <p:sp>
        <p:nvSpPr>
          <p:cNvPr id="11" name="TextBox 10">
            <a:extLst>
              <a:ext uri="{FF2B5EF4-FFF2-40B4-BE49-F238E27FC236}">
                <a16:creationId xmlns:a16="http://schemas.microsoft.com/office/drawing/2014/main" id="{E9E67F2D-B886-0FA2-5EAB-6CE2D88D6F8A}"/>
              </a:ext>
            </a:extLst>
          </p:cNvPr>
          <p:cNvSpPr txBox="1"/>
          <p:nvPr/>
        </p:nvSpPr>
        <p:spPr>
          <a:xfrm>
            <a:off x="2984861" y="2692503"/>
            <a:ext cx="5989323" cy="461665"/>
          </a:xfrm>
          <a:prstGeom prst="rect">
            <a:avLst/>
          </a:prstGeom>
          <a:noFill/>
        </p:spPr>
        <p:txBody>
          <a:bodyPr wrap="square" rtlCol="0">
            <a:spAutoFit/>
          </a:bodyPr>
          <a:lstStyle/>
          <a:p>
            <a:r>
              <a:rPr lang="en-US" sz="1200">
                <a:latin typeface="Consolas" panose="020B0609020204030204" pitchFamily="49" charset="0"/>
                <a:cs typeface="Vrinda" panose="020B0502040204020203" pitchFamily="34" charset="0"/>
              </a:rPr>
              <a:t>PipeDelimitedIntermediate, PipeDelimitedIntermediateEvents, PipeDelimitedIntermediateOccurrences, ***EventsOccurrences</a:t>
            </a:r>
          </a:p>
        </p:txBody>
      </p:sp>
      <p:sp>
        <p:nvSpPr>
          <p:cNvPr id="12" name="TextBox 11">
            <a:extLst>
              <a:ext uri="{FF2B5EF4-FFF2-40B4-BE49-F238E27FC236}">
                <a16:creationId xmlns:a16="http://schemas.microsoft.com/office/drawing/2014/main" id="{5EF75954-011D-DEB2-35B2-808EF5106C86}"/>
              </a:ext>
            </a:extLst>
          </p:cNvPr>
          <p:cNvSpPr txBox="1"/>
          <p:nvPr/>
        </p:nvSpPr>
        <p:spPr>
          <a:xfrm>
            <a:off x="2984862" y="3562209"/>
            <a:ext cx="5989323" cy="461665"/>
          </a:xfrm>
          <a:prstGeom prst="rect">
            <a:avLst/>
          </a:prstGeom>
          <a:noFill/>
        </p:spPr>
        <p:txBody>
          <a:bodyPr wrap="square" rtlCol="0">
            <a:spAutoFit/>
          </a:bodyPr>
          <a:lstStyle/>
          <a:p>
            <a:r>
              <a:rPr lang="en-US" sz="1200">
                <a:latin typeface="Consolas" panose="020B0609020204030204" pitchFamily="49" charset="0"/>
                <a:cs typeface="Vrinda" panose="020B0502040204020203" pitchFamily="34" charset="0"/>
              </a:rPr>
              <a:t>StackedBarsPlotter(change name), ActivityOverTimePlotter, EventWithinSpanAnalysisHistogramPlotter</a:t>
            </a:r>
          </a:p>
        </p:txBody>
      </p:sp>
      <p:sp>
        <p:nvSpPr>
          <p:cNvPr id="13" name="TextBox 12">
            <a:extLst>
              <a:ext uri="{FF2B5EF4-FFF2-40B4-BE49-F238E27FC236}">
                <a16:creationId xmlns:a16="http://schemas.microsoft.com/office/drawing/2014/main" id="{9DE8C2BE-F953-734F-60AF-10A9420782FC}"/>
              </a:ext>
            </a:extLst>
          </p:cNvPr>
          <p:cNvSpPr txBox="1"/>
          <p:nvPr/>
        </p:nvSpPr>
        <p:spPr>
          <a:xfrm>
            <a:off x="6936377" y="102716"/>
            <a:ext cx="2207623" cy="646331"/>
          </a:xfrm>
          <a:prstGeom prst="rect">
            <a:avLst/>
          </a:prstGeom>
          <a:noFill/>
        </p:spPr>
        <p:txBody>
          <a:bodyPr wrap="square" rtlCol="0">
            <a:spAutoFit/>
          </a:bodyPr>
          <a:lstStyle/>
          <a:p>
            <a:r>
              <a:rPr lang="en-US"/>
              <a:t>Five Main Abstractions</a:t>
            </a:r>
          </a:p>
        </p:txBody>
      </p:sp>
    </p:spTree>
    <p:extLst>
      <p:ext uri="{BB962C8B-B14F-4D97-AF65-F5344CB8AC3E}">
        <p14:creationId xmlns:p14="http://schemas.microsoft.com/office/powerpoint/2010/main" val="42793111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D937A-300F-30EF-4A6F-28182B72BB3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11C7B0-179E-8736-5A7C-5D3487AA398D}"/>
              </a:ext>
            </a:extLst>
          </p:cNvPr>
          <p:cNvSpPr txBox="1"/>
          <p:nvPr/>
        </p:nvSpPr>
        <p:spPr>
          <a:xfrm>
            <a:off x="5695407" y="102716"/>
            <a:ext cx="3448594" cy="369332"/>
          </a:xfrm>
          <a:prstGeom prst="rect">
            <a:avLst/>
          </a:prstGeom>
          <a:noFill/>
        </p:spPr>
        <p:txBody>
          <a:bodyPr wrap="square" rtlCol="0">
            <a:spAutoFit/>
          </a:bodyPr>
          <a:lstStyle/>
          <a:p>
            <a:r>
              <a:rPr lang="en-US"/>
              <a:t>Anatomy of Objects</a:t>
            </a:r>
          </a:p>
        </p:txBody>
      </p:sp>
      <p:sp>
        <p:nvSpPr>
          <p:cNvPr id="6" name="TextBox 5">
            <a:extLst>
              <a:ext uri="{FF2B5EF4-FFF2-40B4-BE49-F238E27FC236}">
                <a16:creationId xmlns:a16="http://schemas.microsoft.com/office/drawing/2014/main" id="{1F14131F-7EF8-D00F-3F11-6BBAFDE3B920}"/>
              </a:ext>
            </a:extLst>
          </p:cNvPr>
          <p:cNvSpPr txBox="1"/>
          <p:nvPr/>
        </p:nvSpPr>
        <p:spPr>
          <a:xfrm>
            <a:off x="209005" y="1038815"/>
            <a:ext cx="2468881" cy="646331"/>
          </a:xfrm>
          <a:prstGeom prst="rect">
            <a:avLst/>
          </a:prstGeom>
          <a:noFill/>
          <a:ln>
            <a:solidFill>
              <a:srgbClr val="FFCCFF"/>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EventSemantics</a:t>
            </a:r>
          </a:p>
        </p:txBody>
      </p:sp>
      <mc:AlternateContent xmlns:mc="http://schemas.openxmlformats.org/markup-compatibility/2006" xmlns:p14="http://schemas.microsoft.com/office/powerpoint/2010/main">
        <mc:Choice Requires="p14">
          <p:contentPart p14:bwMode="auto" r:id="rId2">
            <p14:nvContentPartPr>
              <p14:cNvPr id="25" name="Ink 24">
                <a:extLst>
                  <a:ext uri="{FF2B5EF4-FFF2-40B4-BE49-F238E27FC236}">
                    <a16:creationId xmlns:a16="http://schemas.microsoft.com/office/drawing/2014/main" id="{C31E4B7A-5EDB-B9D0-27FE-4C337523B2E0}"/>
                  </a:ext>
                </a:extLst>
              </p14:cNvPr>
              <p14:cNvContentPartPr/>
              <p14:nvPr/>
            </p14:nvContentPartPr>
            <p14:xfrm>
              <a:off x="4036269" y="653091"/>
              <a:ext cx="360" cy="360"/>
            </p14:xfrm>
          </p:contentPart>
        </mc:Choice>
        <mc:Fallback xmlns="">
          <p:pic>
            <p:nvPicPr>
              <p:cNvPr id="25" name="Ink 24">
                <a:extLst>
                  <a:ext uri="{FF2B5EF4-FFF2-40B4-BE49-F238E27FC236}">
                    <a16:creationId xmlns:a16="http://schemas.microsoft.com/office/drawing/2014/main" id="{68DB5CBF-D701-D322-4416-C438505D842C}"/>
                  </a:ext>
                </a:extLst>
              </p:cNvPr>
              <p:cNvPicPr/>
              <p:nvPr/>
            </p:nvPicPr>
            <p:blipFill>
              <a:blip r:embed="rId23"/>
              <a:stretch>
                <a:fillRect/>
              </a:stretch>
            </p:blipFill>
            <p:spPr>
              <a:xfrm>
                <a:off x="4030149" y="646971"/>
                <a:ext cx="12600" cy="12600"/>
              </a:xfrm>
              <a:prstGeom prst="rect">
                <a:avLst/>
              </a:prstGeom>
            </p:spPr>
          </p:pic>
        </mc:Fallback>
      </mc:AlternateContent>
      <p:sp>
        <p:nvSpPr>
          <p:cNvPr id="10" name="TextBox 9">
            <a:extLst>
              <a:ext uri="{FF2B5EF4-FFF2-40B4-BE49-F238E27FC236}">
                <a16:creationId xmlns:a16="http://schemas.microsoft.com/office/drawing/2014/main" id="{3A7132C3-3A69-63CD-0CA0-2DA429CFB8C5}"/>
              </a:ext>
            </a:extLst>
          </p:cNvPr>
          <p:cNvSpPr txBox="1"/>
          <p:nvPr/>
        </p:nvSpPr>
        <p:spPr>
          <a:xfrm>
            <a:off x="6361610" y="1006972"/>
            <a:ext cx="2468881" cy="646331"/>
          </a:xfrm>
          <a:prstGeom prst="rect">
            <a:avLst/>
          </a:prstGeom>
          <a:noFill/>
          <a:ln>
            <a:solidFill>
              <a:schemeClr val="accent5">
                <a:lumMod val="20000"/>
                <a:lumOff val="80000"/>
              </a:schemeClr>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Ocurrences</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OccurrenceSemantics</a:t>
            </a:r>
          </a:p>
        </p:txBody>
      </p:sp>
      <p:pic>
        <p:nvPicPr>
          <p:cNvPr id="15" name="Picture 14">
            <a:extLst>
              <a:ext uri="{FF2B5EF4-FFF2-40B4-BE49-F238E27FC236}">
                <a16:creationId xmlns:a16="http://schemas.microsoft.com/office/drawing/2014/main" id="{B4F1E447-C2CE-960A-76D7-D94CD8D38FAC}"/>
              </a:ext>
            </a:extLst>
          </p:cNvPr>
          <p:cNvPicPr>
            <a:picLocks noChangeAspect="1"/>
          </p:cNvPicPr>
          <p:nvPr/>
        </p:nvPicPr>
        <p:blipFill>
          <a:blip r:embed="rId24"/>
          <a:stretch>
            <a:fillRect/>
          </a:stretch>
        </p:blipFill>
        <p:spPr>
          <a:xfrm>
            <a:off x="5107577" y="2478704"/>
            <a:ext cx="3892731" cy="957977"/>
          </a:xfrm>
          <a:prstGeom prst="rect">
            <a:avLst/>
          </a:prstGeom>
        </p:spPr>
      </p:pic>
      <p:pic>
        <p:nvPicPr>
          <p:cNvPr id="18" name="Picture 17">
            <a:extLst>
              <a:ext uri="{FF2B5EF4-FFF2-40B4-BE49-F238E27FC236}">
                <a16:creationId xmlns:a16="http://schemas.microsoft.com/office/drawing/2014/main" id="{FA1E84EE-6814-249E-33EA-3F6D2C0CD515}"/>
              </a:ext>
            </a:extLst>
          </p:cNvPr>
          <p:cNvPicPr>
            <a:picLocks noChangeAspect="1"/>
          </p:cNvPicPr>
          <p:nvPr/>
        </p:nvPicPr>
        <p:blipFill>
          <a:blip r:embed="rId25"/>
          <a:stretch>
            <a:fillRect/>
          </a:stretch>
        </p:blipFill>
        <p:spPr>
          <a:xfrm>
            <a:off x="5112784" y="3771961"/>
            <a:ext cx="3931976" cy="852351"/>
          </a:xfrm>
          <a:prstGeom prst="rect">
            <a:avLst/>
          </a:prstGeom>
        </p:spPr>
      </p:pic>
      <p:sp>
        <p:nvSpPr>
          <p:cNvPr id="19" name="TextBox 18">
            <a:extLst>
              <a:ext uri="{FF2B5EF4-FFF2-40B4-BE49-F238E27FC236}">
                <a16:creationId xmlns:a16="http://schemas.microsoft.com/office/drawing/2014/main" id="{EDC8C54C-4044-56A5-DF8A-572E64BE1462}"/>
              </a:ext>
            </a:extLst>
          </p:cNvPr>
          <p:cNvSpPr txBox="1"/>
          <p:nvPr/>
        </p:nvSpPr>
        <p:spPr>
          <a:xfrm>
            <a:off x="146958" y="102716"/>
            <a:ext cx="4914899" cy="646331"/>
          </a:xfrm>
          <a:prstGeom prst="rect">
            <a:avLst/>
          </a:prstGeom>
          <a:noFill/>
        </p:spPr>
        <p:txBody>
          <a:bodyPr wrap="square" rtlCol="0">
            <a:spAutoFit/>
          </a:bodyPr>
          <a:lstStyle/>
          <a:p>
            <a:r>
              <a:rPr lang="en-US" sz="1200" i="1">
                <a:latin typeface="Abadi" panose="020B0604020104020204" pitchFamily="34" charset="0"/>
              </a:rPr>
              <a:t>A DataFrame tells you what the numbers are. Semantics tells you what they mean. Every eventi data object carries both — so the pipeline never loses context.</a:t>
            </a:r>
          </a:p>
        </p:txBody>
      </p:sp>
      <p:sp>
        <p:nvSpPr>
          <p:cNvPr id="23" name="TextBox 22">
            <a:extLst>
              <a:ext uri="{FF2B5EF4-FFF2-40B4-BE49-F238E27FC236}">
                <a16:creationId xmlns:a16="http://schemas.microsoft.com/office/drawing/2014/main" id="{CC717DFC-1600-F853-E442-79A668F1DFD6}"/>
              </a:ext>
            </a:extLst>
          </p:cNvPr>
          <p:cNvSpPr txBox="1"/>
          <p:nvPr/>
        </p:nvSpPr>
        <p:spPr>
          <a:xfrm>
            <a:off x="318407" y="2812351"/>
            <a:ext cx="4572000" cy="1569660"/>
          </a:xfrm>
          <a:prstGeom prst="rect">
            <a:avLst/>
          </a:prstGeom>
          <a:noFill/>
        </p:spPr>
        <p:txBody>
          <a:bodyPr wrap="square">
            <a:spAutoFit/>
          </a:bodyPr>
          <a:lstStyle/>
          <a:p>
            <a:r>
              <a:rPr lang="en-US" sz="1200" i="1">
                <a:latin typeface="Abadi" panose="020B0604020104020204" pitchFamily="34" charset="0"/>
              </a:rPr>
              <a:t>Why this level of abstraction:</a:t>
            </a:r>
          </a:p>
          <a:p>
            <a:r>
              <a:rPr lang="en-US" sz="1200" i="1">
                <a:latin typeface="Abadi" panose="020B0604020104020204" pitchFamily="34" charset="0"/>
              </a:rPr>
              <a:t>The type is the guarantee.</a:t>
            </a:r>
          </a:p>
          <a:p>
            <a:r>
              <a:rPr lang="en-US" sz="1200" i="1">
                <a:latin typeface="Abadi" panose="020B0604020104020204" pitchFamily="34" charset="0"/>
              </a:rPr>
              <a:t>No checking if the column still exists. No asserting the dates parsed correctly. No confirming the entity ID is not null. No re-validating what you already validated three functions ago. No praying that whoever called your function remembered to clean the data first. </a:t>
            </a:r>
          </a:p>
          <a:p>
            <a:endParaRPr lang="en-US" sz="1200" i="1">
              <a:latin typeface="Abadi" panose="020B0604020104020204" pitchFamily="34" charset="0"/>
            </a:endParaRPr>
          </a:p>
          <a:p>
            <a:r>
              <a:rPr lang="en-US" sz="1200" i="1">
                <a:latin typeface="Abadi" panose="020B0604020104020204" pitchFamily="34" charset="0"/>
              </a:rPr>
              <a:t>If an Events object exists, it is clean</a:t>
            </a:r>
          </a:p>
        </p:txBody>
      </p:sp>
      <p:sp>
        <p:nvSpPr>
          <p:cNvPr id="24" name="TextBox 23">
            <a:extLst>
              <a:ext uri="{FF2B5EF4-FFF2-40B4-BE49-F238E27FC236}">
                <a16:creationId xmlns:a16="http://schemas.microsoft.com/office/drawing/2014/main" id="{A41FBD51-66A8-64BC-F1A6-7C135903A50A}"/>
              </a:ext>
            </a:extLst>
          </p:cNvPr>
          <p:cNvSpPr txBox="1"/>
          <p:nvPr/>
        </p:nvSpPr>
        <p:spPr>
          <a:xfrm>
            <a:off x="3226526" y="1020610"/>
            <a:ext cx="2468881" cy="646331"/>
          </a:xfrm>
          <a:prstGeom prst="rect">
            <a:avLst/>
          </a:prstGeom>
          <a:noFill/>
          <a:ln>
            <a:solidFill>
              <a:schemeClr val="accent5">
                <a:lumMod val="20000"/>
                <a:lumOff val="80000"/>
              </a:schemeClr>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ObsPeriodPerEntity</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EventSemantics</a:t>
            </a:r>
          </a:p>
        </p:txBody>
      </p:sp>
    </p:spTree>
    <p:extLst>
      <p:ext uri="{BB962C8B-B14F-4D97-AF65-F5344CB8AC3E}">
        <p14:creationId xmlns:p14="http://schemas.microsoft.com/office/powerpoint/2010/main" val="17628139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9F3A3-705C-8818-9704-E42DF21DF0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31F908-CF12-B013-507B-2119D7DB7F36}"/>
              </a:ext>
            </a:extLst>
          </p:cNvPr>
          <p:cNvSpPr txBox="1"/>
          <p:nvPr/>
        </p:nvSpPr>
        <p:spPr>
          <a:xfrm>
            <a:off x="5695407" y="102716"/>
            <a:ext cx="3448594" cy="369332"/>
          </a:xfrm>
          <a:prstGeom prst="rect">
            <a:avLst/>
          </a:prstGeom>
          <a:noFill/>
        </p:spPr>
        <p:txBody>
          <a:bodyPr wrap="square" rtlCol="0">
            <a:spAutoFit/>
          </a:bodyPr>
          <a:lstStyle/>
          <a:p>
            <a:r>
              <a:rPr lang="en-US"/>
              <a:t>Analyzers utilize object contracts</a:t>
            </a:r>
          </a:p>
        </p:txBody>
      </p:sp>
      <mc:AlternateContent xmlns:mc="http://schemas.openxmlformats.org/markup-compatibility/2006" xmlns:p14="http://schemas.microsoft.com/office/powerpoint/2010/main">
        <mc:Choice Requires="p14">
          <p:contentPart p14:bwMode="auto" r:id="rId2">
            <p14:nvContentPartPr>
              <p14:cNvPr id="25" name="Ink 24">
                <a:extLst>
                  <a:ext uri="{FF2B5EF4-FFF2-40B4-BE49-F238E27FC236}">
                    <a16:creationId xmlns:a16="http://schemas.microsoft.com/office/drawing/2014/main" id="{226DC564-6F22-77F7-B96C-7EE10959332A}"/>
                  </a:ext>
                </a:extLst>
              </p14:cNvPr>
              <p14:cNvContentPartPr/>
              <p14:nvPr/>
            </p14:nvContentPartPr>
            <p14:xfrm>
              <a:off x="4036269" y="653091"/>
              <a:ext cx="360" cy="360"/>
            </p14:xfrm>
          </p:contentPart>
        </mc:Choice>
        <mc:Fallback xmlns="">
          <p:pic>
            <p:nvPicPr>
              <p:cNvPr id="25" name="Ink 24">
                <a:extLst>
                  <a:ext uri="{FF2B5EF4-FFF2-40B4-BE49-F238E27FC236}">
                    <a16:creationId xmlns:a16="http://schemas.microsoft.com/office/drawing/2014/main" id="{68DB5CBF-D701-D322-4416-C438505D842C}"/>
                  </a:ext>
                </a:extLst>
              </p:cNvPr>
              <p:cNvPicPr/>
              <p:nvPr/>
            </p:nvPicPr>
            <p:blipFill>
              <a:blip r:embed="rId23"/>
              <a:stretch>
                <a:fillRect/>
              </a:stretch>
            </p:blipFill>
            <p:spPr>
              <a:xfrm>
                <a:off x="4030149" y="646971"/>
                <a:ext cx="12600" cy="12600"/>
              </a:xfrm>
              <a:prstGeom prst="rect">
                <a:avLst/>
              </a:prstGeom>
            </p:spPr>
          </p:pic>
        </mc:Fallback>
      </mc:AlternateContent>
      <p:sp>
        <p:nvSpPr>
          <p:cNvPr id="10" name="TextBox 9">
            <a:extLst>
              <a:ext uri="{FF2B5EF4-FFF2-40B4-BE49-F238E27FC236}">
                <a16:creationId xmlns:a16="http://schemas.microsoft.com/office/drawing/2014/main" id="{E3CDD131-78C9-CA9F-255D-BABD3B5ECA46}"/>
              </a:ext>
            </a:extLst>
          </p:cNvPr>
          <p:cNvSpPr txBox="1"/>
          <p:nvPr/>
        </p:nvSpPr>
        <p:spPr>
          <a:xfrm>
            <a:off x="501830" y="846952"/>
            <a:ext cx="2468881" cy="1015663"/>
          </a:xfrm>
          <a:prstGeom prst="rect">
            <a:avLst/>
          </a:prstGeom>
          <a:noFill/>
          <a:ln>
            <a:solidFill>
              <a:schemeClr val="accent5">
                <a:lumMod val="20000"/>
                <a:lumOff val="80000"/>
              </a:schemeClr>
            </a:solidFill>
          </a:ln>
          <a:effectLst>
            <a:glow rad="101600">
              <a:srgbClr val="FF0000">
                <a:alpha val="40000"/>
              </a:srgb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EventsWithinSpanAnalyzer</a:t>
            </a:r>
          </a:p>
          <a:p>
            <a:pPr algn="ctr"/>
            <a:r>
              <a:rPr lang="en-US" sz="1200">
                <a:latin typeface="Centaur" panose="02030504050205020304" pitchFamily="18" charset="0"/>
                <a:cs typeface="Times New Roman" panose="02020603050405020304" pitchFamily="18" charset="0"/>
              </a:rPr>
              <a:t>events: Events</a:t>
            </a:r>
          </a:p>
          <a:p>
            <a:pPr algn="ctr"/>
            <a:r>
              <a:rPr lang="en-US" sz="1200">
                <a:latin typeface="Centaur" panose="02030504050205020304" pitchFamily="18" charset="0"/>
                <a:cs typeface="Times New Roman" panose="02020603050405020304" pitchFamily="18" charset="0"/>
              </a:rPr>
              <a:t>spans: Spans</a:t>
            </a:r>
          </a:p>
          <a:p>
            <a:pPr algn="ctr"/>
            <a:r>
              <a:rPr lang="en-US" sz="1200">
                <a:latin typeface="Centaur" panose="02030504050205020304" pitchFamily="18" charset="0"/>
                <a:cs typeface="Times New Roman" panose="02020603050405020304" pitchFamily="18" charset="0"/>
              </a:rPr>
              <a:t>entity_col: str</a:t>
            </a:r>
          </a:p>
          <a:p>
            <a:pPr algn="ctr"/>
            <a:r>
              <a:rPr lang="en-US" sz="1200">
                <a:latin typeface="Centaur" panose="02030504050205020304" pitchFamily="18" charset="0"/>
                <a:cs typeface="Times New Roman" panose="02020603050405020304" pitchFamily="18" charset="0"/>
              </a:rPr>
              <a:t>meaningful_gap: int</a:t>
            </a:r>
          </a:p>
        </p:txBody>
      </p:sp>
      <p:pic>
        <p:nvPicPr>
          <p:cNvPr id="4" name="Picture 3">
            <a:extLst>
              <a:ext uri="{FF2B5EF4-FFF2-40B4-BE49-F238E27FC236}">
                <a16:creationId xmlns:a16="http://schemas.microsoft.com/office/drawing/2014/main" id="{A62CE5E8-39A3-71C1-E5A9-1A474F33078E}"/>
              </a:ext>
            </a:extLst>
          </p:cNvPr>
          <p:cNvPicPr>
            <a:picLocks noChangeAspect="1"/>
          </p:cNvPicPr>
          <p:nvPr/>
        </p:nvPicPr>
        <p:blipFill>
          <a:blip r:embed="rId24"/>
          <a:stretch>
            <a:fillRect/>
          </a:stretch>
        </p:blipFill>
        <p:spPr>
          <a:xfrm>
            <a:off x="4209796" y="846952"/>
            <a:ext cx="4934204" cy="990651"/>
          </a:xfrm>
          <a:prstGeom prst="rect">
            <a:avLst/>
          </a:prstGeom>
        </p:spPr>
      </p:pic>
      <p:pic>
        <p:nvPicPr>
          <p:cNvPr id="7" name="Picture 6">
            <a:extLst>
              <a:ext uri="{FF2B5EF4-FFF2-40B4-BE49-F238E27FC236}">
                <a16:creationId xmlns:a16="http://schemas.microsoft.com/office/drawing/2014/main" id="{0BCBA484-C3EC-9F64-37CD-309B4CC08A32}"/>
              </a:ext>
            </a:extLst>
          </p:cNvPr>
          <p:cNvPicPr>
            <a:picLocks noChangeAspect="1"/>
          </p:cNvPicPr>
          <p:nvPr/>
        </p:nvPicPr>
        <p:blipFill>
          <a:blip r:embed="rId25"/>
          <a:stretch>
            <a:fillRect/>
          </a:stretch>
        </p:blipFill>
        <p:spPr>
          <a:xfrm>
            <a:off x="4241549" y="2208697"/>
            <a:ext cx="4902452" cy="558829"/>
          </a:xfrm>
          <a:prstGeom prst="rect">
            <a:avLst/>
          </a:prstGeom>
        </p:spPr>
      </p:pic>
    </p:spTree>
    <p:extLst>
      <p:ext uri="{BB962C8B-B14F-4D97-AF65-F5344CB8AC3E}">
        <p14:creationId xmlns:p14="http://schemas.microsoft.com/office/powerpoint/2010/main" val="11707224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D58151-86B3-7A36-A1E3-A3FA01AC8F35}"/>
              </a:ext>
            </a:extLst>
          </p:cNvPr>
          <p:cNvSpPr txBox="1"/>
          <p:nvPr/>
        </p:nvSpPr>
        <p:spPr>
          <a:xfrm>
            <a:off x="5695407" y="102716"/>
            <a:ext cx="3448594" cy="369332"/>
          </a:xfrm>
          <a:prstGeom prst="rect">
            <a:avLst/>
          </a:prstGeom>
          <a:noFill/>
        </p:spPr>
        <p:txBody>
          <a:bodyPr wrap="square" rtlCol="0">
            <a:spAutoFit/>
          </a:bodyPr>
          <a:lstStyle/>
          <a:p>
            <a:r>
              <a:rPr lang="en-US"/>
              <a:t>Parallelism and Composability</a:t>
            </a:r>
          </a:p>
        </p:txBody>
      </p:sp>
      <p:sp>
        <p:nvSpPr>
          <p:cNvPr id="3" name="TextBox 2">
            <a:extLst>
              <a:ext uri="{FF2B5EF4-FFF2-40B4-BE49-F238E27FC236}">
                <a16:creationId xmlns:a16="http://schemas.microsoft.com/office/drawing/2014/main" id="{DCD8B5AC-0557-001C-8981-09F1DA2189B7}"/>
              </a:ext>
            </a:extLst>
          </p:cNvPr>
          <p:cNvSpPr txBox="1"/>
          <p:nvPr/>
        </p:nvSpPr>
        <p:spPr>
          <a:xfrm>
            <a:off x="5183776" y="945088"/>
            <a:ext cx="2468881" cy="461665"/>
          </a:xfrm>
          <a:prstGeom prst="rect">
            <a:avLst/>
          </a:prstGeom>
          <a:noFill/>
          <a:ln>
            <a:solidFill>
              <a:schemeClr val="accent5">
                <a:lumMod val="20000"/>
                <a:lumOff val="80000"/>
              </a:schemeClr>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Occurrences</a:t>
            </a:r>
          </a:p>
          <a:p>
            <a:pPr algn="ctr"/>
            <a:r>
              <a:rPr lang="en-US" sz="1200" b="1">
                <a:latin typeface="Consolas" panose="020B0609020204030204" pitchFamily="49" charset="0"/>
                <a:cs typeface="Times New Roman" panose="02020603050405020304" pitchFamily="18" charset="0"/>
              </a:rPr>
              <a:t>(i.e. ED day, vaccine day)</a:t>
            </a:r>
          </a:p>
        </p:txBody>
      </p:sp>
      <p:sp>
        <p:nvSpPr>
          <p:cNvPr id="4" name="TextBox 3">
            <a:extLst>
              <a:ext uri="{FF2B5EF4-FFF2-40B4-BE49-F238E27FC236}">
                <a16:creationId xmlns:a16="http://schemas.microsoft.com/office/drawing/2014/main" id="{CACCE28A-7E1F-6D48-7A0B-140873068F91}"/>
              </a:ext>
            </a:extLst>
          </p:cNvPr>
          <p:cNvSpPr txBox="1"/>
          <p:nvPr/>
        </p:nvSpPr>
        <p:spPr>
          <a:xfrm>
            <a:off x="4998719" y="1873376"/>
            <a:ext cx="2838996" cy="461665"/>
          </a:xfrm>
          <a:prstGeom prst="rect">
            <a:avLst/>
          </a:prstGeom>
          <a:noFill/>
          <a:ln>
            <a:solidFill>
              <a:schemeClr val="accent5">
                <a:lumMod val="20000"/>
                <a:lumOff val="80000"/>
              </a:schemeClr>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OccurrencesWithinSpanAnalyzer</a:t>
            </a:r>
          </a:p>
          <a:p>
            <a:pPr algn="ctr"/>
            <a:r>
              <a:rPr lang="en-US" sz="1200" b="1">
                <a:latin typeface="Consolas" panose="020B0609020204030204" pitchFamily="49" charset="0"/>
                <a:cs typeface="Times New Roman" panose="02020603050405020304" pitchFamily="18" charset="0"/>
              </a:rPr>
              <a:t>.calc()</a:t>
            </a:r>
          </a:p>
        </p:txBody>
      </p:sp>
      <p:sp>
        <p:nvSpPr>
          <p:cNvPr id="5" name="TextBox 4">
            <a:extLst>
              <a:ext uri="{FF2B5EF4-FFF2-40B4-BE49-F238E27FC236}">
                <a16:creationId xmlns:a16="http://schemas.microsoft.com/office/drawing/2014/main" id="{34D228A2-6AFB-7FA5-A05D-ED480ED00FC2}"/>
              </a:ext>
            </a:extLst>
          </p:cNvPr>
          <p:cNvSpPr txBox="1"/>
          <p:nvPr/>
        </p:nvSpPr>
        <p:spPr>
          <a:xfrm>
            <a:off x="4761411" y="2776571"/>
            <a:ext cx="3370218" cy="461665"/>
          </a:xfrm>
          <a:prstGeom prst="rect">
            <a:avLst/>
          </a:prstGeom>
          <a:noFill/>
          <a:ln>
            <a:solidFill>
              <a:schemeClr val="accent5">
                <a:lumMod val="20000"/>
                <a:lumOff val="80000"/>
              </a:schemeClr>
            </a:solidFill>
          </a:ln>
          <a:effectLst>
            <a:glow rad="101600">
              <a:schemeClr val="accent1">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PipeDelimitedIntermediateOccurences</a:t>
            </a:r>
          </a:p>
          <a:p>
            <a:pPr algn="ctr"/>
            <a:r>
              <a:rPr lang="en-US" sz="1200" b="1">
                <a:latin typeface="Consolas" panose="020B0609020204030204" pitchFamily="49" charset="0"/>
                <a:cs typeface="Times New Roman" panose="02020603050405020304" pitchFamily="18" charset="0"/>
              </a:rPr>
              <a:t>.self_analyze(), .print_summary()</a:t>
            </a:r>
          </a:p>
        </p:txBody>
      </p:sp>
      <p:sp>
        <p:nvSpPr>
          <p:cNvPr id="6" name="TextBox 5">
            <a:extLst>
              <a:ext uri="{FF2B5EF4-FFF2-40B4-BE49-F238E27FC236}">
                <a16:creationId xmlns:a16="http://schemas.microsoft.com/office/drawing/2014/main" id="{C79E06BB-A302-5214-11BE-E28285D805C5}"/>
              </a:ext>
            </a:extLst>
          </p:cNvPr>
          <p:cNvSpPr txBox="1"/>
          <p:nvPr/>
        </p:nvSpPr>
        <p:spPr>
          <a:xfrm>
            <a:off x="777239" y="945296"/>
            <a:ext cx="2468881" cy="461665"/>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br>
              <a:rPr lang="en-US" sz="1200" b="1">
                <a:latin typeface="Consolas" panose="020B0609020204030204" pitchFamily="49" charset="0"/>
                <a:cs typeface="Times New Roman" panose="02020603050405020304" pitchFamily="18" charset="0"/>
              </a:rPr>
            </a:br>
            <a:r>
              <a:rPr lang="en-US" sz="1200" b="1">
                <a:latin typeface="Consolas" panose="020B0609020204030204" pitchFamily="49" charset="0"/>
                <a:cs typeface="Times New Roman" panose="02020603050405020304" pitchFamily="18" charset="0"/>
              </a:rPr>
              <a:t>(i.e. insurance-coverage)</a:t>
            </a:r>
          </a:p>
        </p:txBody>
      </p:sp>
      <p:sp>
        <p:nvSpPr>
          <p:cNvPr id="7" name="TextBox 6">
            <a:extLst>
              <a:ext uri="{FF2B5EF4-FFF2-40B4-BE49-F238E27FC236}">
                <a16:creationId xmlns:a16="http://schemas.microsoft.com/office/drawing/2014/main" id="{7FB24CEA-30E5-5CBA-B6FD-8AD5009A90DA}"/>
              </a:ext>
            </a:extLst>
          </p:cNvPr>
          <p:cNvSpPr txBox="1"/>
          <p:nvPr/>
        </p:nvSpPr>
        <p:spPr>
          <a:xfrm>
            <a:off x="592182" y="1873584"/>
            <a:ext cx="2838996" cy="461665"/>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EventsWithinSpanAnalyzer</a:t>
            </a:r>
          </a:p>
          <a:p>
            <a:pPr algn="ctr"/>
            <a:r>
              <a:rPr lang="en-US" sz="1200" b="1">
                <a:latin typeface="Consolas" panose="020B0609020204030204" pitchFamily="49" charset="0"/>
                <a:cs typeface="Times New Roman" panose="02020603050405020304" pitchFamily="18" charset="0"/>
              </a:rPr>
              <a:t>.calc_active_vs_inactive()</a:t>
            </a:r>
          </a:p>
        </p:txBody>
      </p:sp>
      <p:sp>
        <p:nvSpPr>
          <p:cNvPr id="8" name="TextBox 7">
            <a:extLst>
              <a:ext uri="{FF2B5EF4-FFF2-40B4-BE49-F238E27FC236}">
                <a16:creationId xmlns:a16="http://schemas.microsoft.com/office/drawing/2014/main" id="{05E27686-F227-D7B9-185A-555BA080B570}"/>
              </a:ext>
            </a:extLst>
          </p:cNvPr>
          <p:cNvSpPr txBox="1"/>
          <p:nvPr/>
        </p:nvSpPr>
        <p:spPr>
          <a:xfrm>
            <a:off x="354874" y="2776779"/>
            <a:ext cx="3370218" cy="461665"/>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PipeDelimitedIntermediateEvents</a:t>
            </a:r>
          </a:p>
          <a:p>
            <a:pPr algn="ctr"/>
            <a:r>
              <a:rPr lang="en-US" sz="1200" b="1">
                <a:latin typeface="Consolas" panose="020B0609020204030204" pitchFamily="49" charset="0"/>
                <a:cs typeface="Times New Roman" panose="02020603050405020304" pitchFamily="18" charset="0"/>
              </a:rPr>
              <a:t>.self_analyze(), .tier1/2/3()</a:t>
            </a:r>
          </a:p>
        </p:txBody>
      </p:sp>
      <p:sp>
        <p:nvSpPr>
          <p:cNvPr id="9" name="TextBox 8">
            <a:extLst>
              <a:ext uri="{FF2B5EF4-FFF2-40B4-BE49-F238E27FC236}">
                <a16:creationId xmlns:a16="http://schemas.microsoft.com/office/drawing/2014/main" id="{E201D2B9-E328-98D6-72D3-A0C7AE802AC3}"/>
              </a:ext>
            </a:extLst>
          </p:cNvPr>
          <p:cNvSpPr txBox="1"/>
          <p:nvPr/>
        </p:nvSpPr>
        <p:spPr>
          <a:xfrm>
            <a:off x="3608614" y="3706284"/>
            <a:ext cx="1390105" cy="261610"/>
          </a:xfrm>
          <a:prstGeom prst="rect">
            <a:avLst/>
          </a:prstGeom>
          <a:noFill/>
          <a:ln>
            <a:solidFill>
              <a:schemeClr val="tx1"/>
            </a:solidFill>
            <a:prstDash val="sysDot"/>
          </a:ln>
        </p:spPr>
        <p:txBody>
          <a:bodyPr wrap="square" rtlCol="0">
            <a:spAutoFit/>
          </a:bodyPr>
          <a:lstStyle/>
          <a:p>
            <a:pPr algn="ctr"/>
            <a:r>
              <a:rPr lang="en-US" sz="1100">
                <a:latin typeface="Abadi" panose="020B0604020104020204" pitchFamily="34" charset="0"/>
              </a:rPr>
              <a:t>add objects</a:t>
            </a:r>
          </a:p>
        </p:txBody>
      </p:sp>
      <mc:AlternateContent xmlns:mc="http://schemas.openxmlformats.org/markup-compatibility/2006" xmlns:p14="http://schemas.microsoft.com/office/powerpoint/2010/main">
        <mc:Choice Requires="p14">
          <p:contentPart p14:bwMode="auto" r:id="rId2">
            <p14:nvContentPartPr>
              <p14:cNvPr id="25" name="Ink 24">
                <a:extLst>
                  <a:ext uri="{FF2B5EF4-FFF2-40B4-BE49-F238E27FC236}">
                    <a16:creationId xmlns:a16="http://schemas.microsoft.com/office/drawing/2014/main" id="{68DB5CBF-D701-D322-4416-C438505D842C}"/>
                  </a:ext>
                </a:extLst>
              </p14:cNvPr>
              <p14:cNvContentPartPr/>
              <p14:nvPr/>
            </p14:nvContentPartPr>
            <p14:xfrm>
              <a:off x="4036269" y="653091"/>
              <a:ext cx="360" cy="360"/>
            </p14:xfrm>
          </p:contentPart>
        </mc:Choice>
        <mc:Fallback xmlns="">
          <p:pic>
            <p:nvPicPr>
              <p:cNvPr id="25" name="Ink 24">
                <a:extLst>
                  <a:ext uri="{FF2B5EF4-FFF2-40B4-BE49-F238E27FC236}">
                    <a16:creationId xmlns:a16="http://schemas.microsoft.com/office/drawing/2014/main" id="{68DB5CBF-D701-D322-4416-C438505D842C}"/>
                  </a:ext>
                </a:extLst>
              </p:cNvPr>
              <p:cNvPicPr/>
              <p:nvPr/>
            </p:nvPicPr>
            <p:blipFill>
              <a:blip r:embed="rId23"/>
              <a:stretch>
                <a:fillRect/>
              </a:stretch>
            </p:blipFill>
            <p:spPr>
              <a:xfrm>
                <a:off x="4030149" y="646971"/>
                <a:ext cx="12600" cy="12600"/>
              </a:xfrm>
              <a:prstGeom prst="rect">
                <a:avLst/>
              </a:prstGeom>
            </p:spPr>
          </p:pic>
        </mc:Fallback>
      </mc:AlternateContent>
      <p:cxnSp>
        <p:nvCxnSpPr>
          <p:cNvPr id="20" name="Straight Arrow Connector 19">
            <a:extLst>
              <a:ext uri="{FF2B5EF4-FFF2-40B4-BE49-F238E27FC236}">
                <a16:creationId xmlns:a16="http://schemas.microsoft.com/office/drawing/2014/main" id="{05A859ED-E06B-274D-17CB-3FEA7780F090}"/>
              </a:ext>
            </a:extLst>
          </p:cNvPr>
          <p:cNvCxnSpPr>
            <a:stCxn id="8" idx="2"/>
            <a:endCxn id="9" idx="0"/>
          </p:cNvCxnSpPr>
          <p:nvPr/>
        </p:nvCxnSpPr>
        <p:spPr>
          <a:xfrm>
            <a:off x="2039983" y="3238444"/>
            <a:ext cx="2263684" cy="467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46575BD2-FB31-A170-A790-2AFEEA89FB6C}"/>
              </a:ext>
            </a:extLst>
          </p:cNvPr>
          <p:cNvCxnSpPr>
            <a:cxnSpLocks/>
            <a:stCxn id="5" idx="2"/>
            <a:endCxn id="9" idx="0"/>
          </p:cNvCxnSpPr>
          <p:nvPr/>
        </p:nvCxnSpPr>
        <p:spPr>
          <a:xfrm flipH="1">
            <a:off x="4303667" y="3238236"/>
            <a:ext cx="2142853" cy="4680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7BE384C-5999-6A35-D7ED-50B38B267B85}"/>
              </a:ext>
            </a:extLst>
          </p:cNvPr>
          <p:cNvCxnSpPr>
            <a:cxnSpLocks/>
            <a:stCxn id="5" idx="2"/>
          </p:cNvCxnSpPr>
          <p:nvPr/>
        </p:nvCxnSpPr>
        <p:spPr>
          <a:xfrm flipH="1">
            <a:off x="5375093" y="3238236"/>
            <a:ext cx="1071427" cy="11247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62B8F02-B538-3AF8-2F69-2D570ECB750D}"/>
              </a:ext>
            </a:extLst>
          </p:cNvPr>
          <p:cNvSpPr txBox="1"/>
          <p:nvPr/>
        </p:nvSpPr>
        <p:spPr>
          <a:xfrm>
            <a:off x="2618558" y="4408731"/>
            <a:ext cx="3370218" cy="276999"/>
          </a:xfrm>
          <a:prstGeom prst="rect">
            <a:avLst/>
          </a:prstGeom>
          <a:noFill/>
          <a:ln>
            <a:solidFill>
              <a:schemeClr val="accent5">
                <a:lumMod val="20000"/>
                <a:lumOff val="80000"/>
              </a:schemeClr>
            </a:solidFill>
          </a:ln>
          <a:effectLst>
            <a:glow rad="101600">
              <a:schemeClr val="accent4">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StackedBarsPlotter</a:t>
            </a:r>
          </a:p>
        </p:txBody>
      </p:sp>
      <p:cxnSp>
        <p:nvCxnSpPr>
          <p:cNvPr id="14" name="Straight Arrow Connector 13">
            <a:extLst>
              <a:ext uri="{FF2B5EF4-FFF2-40B4-BE49-F238E27FC236}">
                <a16:creationId xmlns:a16="http://schemas.microsoft.com/office/drawing/2014/main" id="{A6443675-EB6E-072E-E721-E90B1ED7F448}"/>
              </a:ext>
            </a:extLst>
          </p:cNvPr>
          <p:cNvCxnSpPr>
            <a:cxnSpLocks/>
            <a:stCxn id="8" idx="2"/>
          </p:cNvCxnSpPr>
          <p:nvPr/>
        </p:nvCxnSpPr>
        <p:spPr>
          <a:xfrm>
            <a:off x="2039983" y="3238444"/>
            <a:ext cx="1055642" cy="11702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B26C338-B9CF-64EE-5B48-270AF23AA4BE}"/>
              </a:ext>
            </a:extLst>
          </p:cNvPr>
          <p:cNvCxnSpPr>
            <a:cxnSpLocks/>
            <a:stCxn id="9" idx="2"/>
            <a:endCxn id="11" idx="0"/>
          </p:cNvCxnSpPr>
          <p:nvPr/>
        </p:nvCxnSpPr>
        <p:spPr>
          <a:xfrm>
            <a:off x="4303667" y="3967894"/>
            <a:ext cx="0" cy="440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78E5E55-A5DE-FE84-CBF1-8BA954AEF9AB}"/>
              </a:ext>
            </a:extLst>
          </p:cNvPr>
          <p:cNvSpPr txBox="1"/>
          <p:nvPr/>
        </p:nvSpPr>
        <p:spPr>
          <a:xfrm>
            <a:off x="6123215" y="3758505"/>
            <a:ext cx="2592977" cy="1384995"/>
          </a:xfrm>
          <a:prstGeom prst="rect">
            <a:avLst/>
          </a:prstGeom>
          <a:noFill/>
        </p:spPr>
        <p:txBody>
          <a:bodyPr wrap="square" rtlCol="0">
            <a:spAutoFit/>
          </a:bodyPr>
          <a:lstStyle/>
          <a:p>
            <a:r>
              <a:rPr lang="en-US" sz="1200" i="1"/>
              <a:t>Plotter can therefore plot either occurrences within an span; or events within a span; or both within a span.</a:t>
            </a:r>
            <a:br>
              <a:rPr lang="en-US" sz="1200" i="1"/>
            </a:br>
            <a:r>
              <a:rPr lang="en-US" sz="1200" i="1"/>
              <a:t>All orchestrated by a YAML that understands the objects.</a:t>
            </a:r>
          </a:p>
          <a:p>
            <a:r>
              <a:rPr lang="en-US" sz="1200" i="1"/>
              <a:t>The plotter does not care which path was taken.</a:t>
            </a:r>
          </a:p>
        </p:txBody>
      </p:sp>
    </p:spTree>
    <p:extLst>
      <p:ext uri="{BB962C8B-B14F-4D97-AF65-F5344CB8AC3E}">
        <p14:creationId xmlns:p14="http://schemas.microsoft.com/office/powerpoint/2010/main" val="23171894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E7D19C-B635-5DD0-8695-955AAAFDEE8B}"/>
              </a:ext>
            </a:extLst>
          </p:cNvPr>
          <p:cNvSpPr txBox="1"/>
          <p:nvPr/>
        </p:nvSpPr>
        <p:spPr>
          <a:xfrm>
            <a:off x="209004" y="159848"/>
            <a:ext cx="2468881" cy="646331"/>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EventSemantics</a:t>
            </a:r>
          </a:p>
        </p:txBody>
      </p:sp>
      <p:sp>
        <p:nvSpPr>
          <p:cNvPr id="4" name="TextBox 3">
            <a:extLst>
              <a:ext uri="{FF2B5EF4-FFF2-40B4-BE49-F238E27FC236}">
                <a16:creationId xmlns:a16="http://schemas.microsoft.com/office/drawing/2014/main" id="{5B7BC92F-7B27-B664-AE87-871394806226}"/>
              </a:ext>
            </a:extLst>
          </p:cNvPr>
          <p:cNvSpPr txBox="1"/>
          <p:nvPr/>
        </p:nvSpPr>
        <p:spPr>
          <a:xfrm>
            <a:off x="2868387" y="159848"/>
            <a:ext cx="5882640" cy="2292935"/>
          </a:xfrm>
          <a:prstGeom prst="rect">
            <a:avLst/>
          </a:prstGeom>
          <a:noFill/>
        </p:spPr>
        <p:txBody>
          <a:bodyPr wrap="square" rtlCol="0">
            <a:spAutoFit/>
          </a:bodyPr>
          <a:lstStyle/>
          <a:p>
            <a:r>
              <a:rPr lang="en-US" sz="1100" b="1">
                <a:latin typeface="Consolas" panose="020B0609020204030204" pitchFamily="49" charset="0"/>
              </a:rPr>
              <a:t>Constructor</a:t>
            </a:r>
          </a:p>
          <a:p>
            <a:r>
              <a:rPr lang="en-US" sz="1100" i="1">
                <a:latin typeface="Consolas" panose="020B0609020204030204" pitchFamily="49" charset="0"/>
              </a:rPr>
              <a:t>__init__</a:t>
            </a:r>
            <a:r>
              <a:rPr lang="en-US" sz="1100">
                <a:latin typeface="Consolas" panose="020B0609020204030204" pitchFamily="49" charset="0"/>
              </a:rPr>
              <a:t>(data, semantics) -&gt; Events</a:t>
            </a:r>
            <a:endParaRPr lang="en-US" sz="1100" i="1">
              <a:latin typeface="Consolas" panose="020B0609020204030204" pitchFamily="49" charset="0"/>
            </a:endParaRPr>
          </a:p>
          <a:p>
            <a:endParaRPr lang="en-US" sz="1100" i="1">
              <a:latin typeface="Consolas" panose="020B0609020204030204" pitchFamily="49" charset="0"/>
            </a:endParaRPr>
          </a:p>
          <a:p>
            <a:r>
              <a:rPr lang="en-US" sz="1100" b="1">
                <a:latin typeface="Consolas" panose="020B0609020204030204" pitchFamily="49" charset="0"/>
              </a:rPr>
              <a:t>Methods</a:t>
            </a:r>
          </a:p>
          <a:p>
            <a:r>
              <a:rPr lang="en-US" sz="1100" i="1">
                <a:latin typeface="Consolas" panose="020B0609020204030204" pitchFamily="49" charset="0"/>
              </a:rPr>
              <a:t>filter_by_entities</a:t>
            </a:r>
            <a:r>
              <a:rPr lang="en-US" sz="1100">
                <a:latin typeface="Consolas" panose="020B0609020204030204" pitchFamily="49" charset="0"/>
              </a:rPr>
              <a:t>(ids) -&gt; Events</a:t>
            </a:r>
          </a:p>
          <a:p>
            <a:r>
              <a:rPr lang="en-US" sz="1100" i="1">
                <a:latin typeface="Consolas" panose="020B0609020204030204" pitchFamily="49" charset="0"/>
              </a:rPr>
              <a:t>filter_by_dates</a:t>
            </a:r>
            <a:r>
              <a:rPr lang="en-US" sz="1100">
                <a:latin typeface="Consolas" panose="020B0609020204030204" pitchFamily="49" charset="0"/>
              </a:rPr>
              <a:t>(start, end) -&gt; Events</a:t>
            </a:r>
            <a:br>
              <a:rPr lang="en-US" sz="1100">
                <a:latin typeface="Consolas" panose="020B0609020204030204" pitchFamily="49" charset="0"/>
              </a:rPr>
            </a:br>
            <a:r>
              <a:rPr lang="en-US" sz="1100" i="1">
                <a:latin typeface="Consolas" panose="020B0609020204030204" pitchFamily="49" charset="0"/>
              </a:rPr>
              <a:t>copy</a:t>
            </a:r>
            <a:r>
              <a:rPr lang="en-US" sz="1100">
                <a:latin typeface="Consolas" panose="020B0609020204030204" pitchFamily="49" charset="0"/>
              </a:rPr>
              <a:t>() -&gt; Events</a:t>
            </a:r>
            <a:br>
              <a:rPr lang="en-US" sz="1100">
                <a:latin typeface="Consolas" panose="020B0609020204030204" pitchFamily="49" charset="0"/>
              </a:rPr>
            </a:br>
            <a:r>
              <a:rPr lang="en-US" sz="1100">
                <a:latin typeface="Consolas" panose="020B0609020204030204" pitchFamily="49" charset="0"/>
              </a:rPr>
              <a:t>build_</a:t>
            </a:r>
            <a:r>
              <a:rPr lang="en-US" sz="1100" i="1">
                <a:latin typeface="Consolas" panose="020B0609020204030204" pitchFamily="49" charset="0"/>
              </a:rPr>
              <a:t>summary</a:t>
            </a:r>
            <a:r>
              <a:rPr lang="en-US" sz="1100">
                <a:latin typeface="Consolas" panose="020B0609020204030204" pitchFamily="49" charset="0"/>
              </a:rPr>
              <a:t>() -&gt; dict</a:t>
            </a:r>
          </a:p>
          <a:p>
            <a:r>
              <a:rPr lang="en-US" sz="1100">
                <a:latin typeface="Consolas" panose="020B0609020204030204" pitchFamily="49" charset="0"/>
              </a:rPr>
              <a:t>print_summary() -&gt; None</a:t>
            </a:r>
          </a:p>
          <a:p>
            <a:endParaRPr lang="en-US" sz="1100" i="1">
              <a:latin typeface="Consolas" panose="020B0609020204030204" pitchFamily="49" charset="0"/>
            </a:endParaRPr>
          </a:p>
          <a:p>
            <a:r>
              <a:rPr lang="en-US" sz="1100" i="1">
                <a:latin typeface="Consolas" panose="020B0609020204030204" pitchFamily="49" charset="0"/>
              </a:rPr>
              <a:t>__len__ </a:t>
            </a:r>
            <a:r>
              <a:rPr lang="en-US" sz="1100">
                <a:latin typeface="Consolas" panose="020B0609020204030204" pitchFamily="49" charset="0"/>
              </a:rPr>
              <a:t>-&gt; int</a:t>
            </a:r>
          </a:p>
          <a:p>
            <a:r>
              <a:rPr lang="en-US" sz="1100" i="1">
                <a:latin typeface="Consolas" panose="020B0609020204030204" pitchFamily="49" charset="0"/>
              </a:rPr>
              <a:t>__repr__</a:t>
            </a:r>
            <a:r>
              <a:rPr lang="en-US" sz="1100">
                <a:latin typeface="Consolas" panose="020B0609020204030204" pitchFamily="49" charset="0"/>
              </a:rPr>
              <a:t> -&gt; str</a:t>
            </a:r>
          </a:p>
          <a:p>
            <a:endParaRPr lang="en-US" sz="1100">
              <a:latin typeface="Consolas" panose="020B0609020204030204" pitchFamily="49" charset="0"/>
            </a:endParaRPr>
          </a:p>
        </p:txBody>
      </p:sp>
      <p:sp>
        <p:nvSpPr>
          <p:cNvPr id="2" name="TextBox 1">
            <a:extLst>
              <a:ext uri="{FF2B5EF4-FFF2-40B4-BE49-F238E27FC236}">
                <a16:creationId xmlns:a16="http://schemas.microsoft.com/office/drawing/2014/main" id="{9566D439-2BCA-EA05-5D5C-1A5873516B6E}"/>
              </a:ext>
            </a:extLst>
          </p:cNvPr>
          <p:cNvSpPr txBox="1"/>
          <p:nvPr/>
        </p:nvSpPr>
        <p:spPr>
          <a:xfrm>
            <a:off x="209005" y="2530158"/>
            <a:ext cx="2468881" cy="646331"/>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EventsPerEntity</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EventSemantics</a:t>
            </a:r>
          </a:p>
        </p:txBody>
      </p:sp>
      <p:sp>
        <p:nvSpPr>
          <p:cNvPr id="5" name="TextBox 4">
            <a:extLst>
              <a:ext uri="{FF2B5EF4-FFF2-40B4-BE49-F238E27FC236}">
                <a16:creationId xmlns:a16="http://schemas.microsoft.com/office/drawing/2014/main" id="{519EBFA5-FF8F-8A12-912B-1E0CECAF5AE3}"/>
              </a:ext>
            </a:extLst>
          </p:cNvPr>
          <p:cNvSpPr txBox="1"/>
          <p:nvPr/>
        </p:nvSpPr>
        <p:spPr>
          <a:xfrm>
            <a:off x="2868387" y="2481626"/>
            <a:ext cx="5882640" cy="1107996"/>
          </a:xfrm>
          <a:prstGeom prst="rect">
            <a:avLst/>
          </a:prstGeom>
          <a:noFill/>
        </p:spPr>
        <p:txBody>
          <a:bodyPr wrap="square" rtlCol="0">
            <a:spAutoFit/>
          </a:bodyPr>
          <a:lstStyle/>
          <a:p>
            <a:r>
              <a:rPr lang="en-US" sz="1100" b="1">
                <a:latin typeface="Consolas" panose="020B0609020204030204" pitchFamily="49" charset="0"/>
              </a:rPr>
              <a:t>Constructor</a:t>
            </a:r>
          </a:p>
          <a:p>
            <a:r>
              <a:rPr lang="en-US" sz="1100" i="1">
                <a:latin typeface="Consolas" panose="020B0609020204030204" pitchFamily="49" charset="0"/>
              </a:rPr>
              <a:t>__init__</a:t>
            </a:r>
            <a:r>
              <a:rPr lang="en-US" sz="1100">
                <a:latin typeface="Consolas" panose="020B0609020204030204" pitchFamily="49" charset="0"/>
              </a:rPr>
              <a:t>(data, semantics)</a:t>
            </a:r>
            <a:br>
              <a:rPr lang="en-US" sz="1100">
                <a:latin typeface="Consolas" panose="020B0609020204030204" pitchFamily="49" charset="0"/>
              </a:rPr>
            </a:br>
            <a:br>
              <a:rPr lang="en-US" sz="1100">
                <a:latin typeface="Consolas" panose="020B0609020204030204" pitchFamily="49" charset="0"/>
              </a:rPr>
            </a:br>
            <a:r>
              <a:rPr lang="en-US" sz="1100" b="1">
                <a:latin typeface="Consolas" panose="020B0609020204030204" pitchFamily="49" charset="0"/>
              </a:rPr>
              <a:t>Methods</a:t>
            </a:r>
          </a:p>
          <a:p>
            <a:r>
              <a:rPr lang="en-US" sz="1100" i="1">
                <a:latin typeface="Consolas" panose="020B0609020204030204" pitchFamily="49" charset="0"/>
              </a:rPr>
              <a:t>return_as_obs_period</a:t>
            </a:r>
            <a:r>
              <a:rPr lang="en-US" sz="1100">
                <a:latin typeface="Consolas" panose="020B0609020204030204" pitchFamily="49" charset="0"/>
              </a:rPr>
              <a:t>() -&gt; ObsPeriodPerEntity</a:t>
            </a:r>
          </a:p>
          <a:p>
            <a:endParaRPr lang="en-US" sz="1100" b="1">
              <a:latin typeface="Consolas" panose="020B0609020204030204" pitchFamily="49" charset="0"/>
            </a:endParaRPr>
          </a:p>
        </p:txBody>
      </p:sp>
      <p:sp>
        <p:nvSpPr>
          <p:cNvPr id="6" name="TextBox 5">
            <a:extLst>
              <a:ext uri="{FF2B5EF4-FFF2-40B4-BE49-F238E27FC236}">
                <a16:creationId xmlns:a16="http://schemas.microsoft.com/office/drawing/2014/main" id="{27174356-EF4E-8A97-3F23-B5C67449DE89}"/>
              </a:ext>
            </a:extLst>
          </p:cNvPr>
          <p:cNvSpPr txBox="1"/>
          <p:nvPr/>
        </p:nvSpPr>
        <p:spPr>
          <a:xfrm>
            <a:off x="209005" y="3762873"/>
            <a:ext cx="2468881" cy="646331"/>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ObsPeriodPerEntity</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EventSemantics</a:t>
            </a:r>
          </a:p>
        </p:txBody>
      </p:sp>
      <p:sp>
        <p:nvSpPr>
          <p:cNvPr id="7" name="TextBox 6">
            <a:extLst>
              <a:ext uri="{FF2B5EF4-FFF2-40B4-BE49-F238E27FC236}">
                <a16:creationId xmlns:a16="http://schemas.microsoft.com/office/drawing/2014/main" id="{8298FAA9-3EF5-3BEC-415A-FBC202D14C9D}"/>
              </a:ext>
            </a:extLst>
          </p:cNvPr>
          <p:cNvSpPr txBox="1"/>
          <p:nvPr/>
        </p:nvSpPr>
        <p:spPr>
          <a:xfrm>
            <a:off x="2868387" y="3694293"/>
            <a:ext cx="6066608" cy="938719"/>
          </a:xfrm>
          <a:prstGeom prst="rect">
            <a:avLst/>
          </a:prstGeom>
          <a:noFill/>
        </p:spPr>
        <p:txBody>
          <a:bodyPr wrap="square" rtlCol="0">
            <a:spAutoFit/>
          </a:bodyPr>
          <a:lstStyle/>
          <a:p>
            <a:r>
              <a:rPr lang="en-US" sz="1100" b="1">
                <a:latin typeface="Consolas" panose="020B0609020204030204" pitchFamily="49" charset="0"/>
              </a:rPr>
              <a:t>Constructors as Class Methods</a:t>
            </a:r>
          </a:p>
          <a:p>
            <a:r>
              <a:rPr lang="en-US" sz="1100" i="1">
                <a:latin typeface="Consolas" panose="020B0609020204030204" pitchFamily="49" charset="0"/>
              </a:rPr>
              <a:t>construct_from_calendar</a:t>
            </a:r>
            <a:r>
              <a:rPr lang="en-US" sz="1100">
                <a:latin typeface="Consolas" panose="020B0609020204030204" pitchFamily="49" charset="0"/>
              </a:rPr>
              <a:t>(entity_ids, start, end, entity_col, identity|None)</a:t>
            </a:r>
            <a:endParaRPr lang="en-US" sz="1100" i="1">
              <a:latin typeface="Consolas" panose="020B0609020204030204" pitchFamily="49" charset="0"/>
            </a:endParaRPr>
          </a:p>
          <a:p>
            <a:r>
              <a:rPr lang="en-US" sz="1100" i="1">
                <a:latin typeface="Consolas" panose="020B0609020204030204" pitchFamily="49" charset="0"/>
              </a:rPr>
              <a:t>construct_from_age_window</a:t>
            </a:r>
            <a:r>
              <a:rPr lang="en-US" sz="1100">
                <a:latin typeface="Consolas" panose="020B0609020204030204" pitchFamily="49" charset="0"/>
              </a:rPr>
              <a:t>(entity_df, dob_col, age_start, age_end, entity_col, age_unit, identity)</a:t>
            </a:r>
            <a:endParaRPr lang="en-US" sz="1100" i="1">
              <a:latin typeface="Consolas" panose="020B0609020204030204" pitchFamily="49" charset="0"/>
            </a:endParaRPr>
          </a:p>
          <a:p>
            <a:r>
              <a:rPr lang="en-US" sz="1100" i="1">
                <a:latin typeface="Consolas" panose="020B0609020204030204" pitchFamily="49" charset="0"/>
              </a:rPr>
              <a:t>construct_from_events</a:t>
            </a:r>
            <a:r>
              <a:rPr lang="en-US" sz="1100">
                <a:latin typeface="Consolas" panose="020B0609020204030204" pitchFamily="49" charset="0"/>
              </a:rPr>
              <a:t>(events, identity|None)</a:t>
            </a:r>
          </a:p>
        </p:txBody>
      </p:sp>
      <p:cxnSp>
        <p:nvCxnSpPr>
          <p:cNvPr id="9" name="Straight Arrow Connector 8">
            <a:extLst>
              <a:ext uri="{FF2B5EF4-FFF2-40B4-BE49-F238E27FC236}">
                <a16:creationId xmlns:a16="http://schemas.microsoft.com/office/drawing/2014/main" id="{DBC00C26-1286-F564-EE74-358BD04EC0C1}"/>
              </a:ext>
            </a:extLst>
          </p:cNvPr>
          <p:cNvCxnSpPr/>
          <p:nvPr/>
        </p:nvCxnSpPr>
        <p:spPr>
          <a:xfrm>
            <a:off x="1574074" y="1012371"/>
            <a:ext cx="0" cy="1031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BE2040B0-EE5A-D588-3C97-762A395CD7B8}"/>
              </a:ext>
            </a:extLst>
          </p:cNvPr>
          <p:cNvCxnSpPr>
            <a:cxnSpLocks/>
          </p:cNvCxnSpPr>
          <p:nvPr/>
        </p:nvCxnSpPr>
        <p:spPr>
          <a:xfrm>
            <a:off x="1574074" y="3292929"/>
            <a:ext cx="0" cy="328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97309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EAAF7-3B65-D177-B93A-E43553E28F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C60447-FF59-8A11-315C-51AE0C47ABC2}"/>
              </a:ext>
            </a:extLst>
          </p:cNvPr>
          <p:cNvSpPr txBox="1"/>
          <p:nvPr/>
        </p:nvSpPr>
        <p:spPr>
          <a:xfrm>
            <a:off x="209004" y="159848"/>
            <a:ext cx="2468881" cy="646331"/>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Occurrences</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OccurrenceSemantics</a:t>
            </a:r>
          </a:p>
        </p:txBody>
      </p:sp>
      <p:sp>
        <p:nvSpPr>
          <p:cNvPr id="4" name="TextBox 3">
            <a:extLst>
              <a:ext uri="{FF2B5EF4-FFF2-40B4-BE49-F238E27FC236}">
                <a16:creationId xmlns:a16="http://schemas.microsoft.com/office/drawing/2014/main" id="{BAEA84C1-49A2-1C1C-5178-1AE5D20FA9F0}"/>
              </a:ext>
            </a:extLst>
          </p:cNvPr>
          <p:cNvSpPr txBox="1"/>
          <p:nvPr/>
        </p:nvSpPr>
        <p:spPr>
          <a:xfrm>
            <a:off x="2868387" y="159848"/>
            <a:ext cx="5882640" cy="2462213"/>
          </a:xfrm>
          <a:prstGeom prst="rect">
            <a:avLst/>
          </a:prstGeom>
          <a:noFill/>
        </p:spPr>
        <p:txBody>
          <a:bodyPr wrap="square" rtlCol="0">
            <a:spAutoFit/>
          </a:bodyPr>
          <a:lstStyle/>
          <a:p>
            <a:r>
              <a:rPr lang="en-US" sz="1100" b="1">
                <a:latin typeface="Consolas" panose="020B0609020204030204" pitchFamily="49" charset="0"/>
              </a:rPr>
              <a:t>Constructor</a:t>
            </a:r>
          </a:p>
          <a:p>
            <a:r>
              <a:rPr lang="en-US" sz="1100" i="1">
                <a:latin typeface="Consolas" panose="020B0609020204030204" pitchFamily="49" charset="0"/>
              </a:rPr>
              <a:t>__init__</a:t>
            </a:r>
            <a:r>
              <a:rPr lang="en-US" sz="1100">
                <a:latin typeface="Consolas" panose="020B0609020204030204" pitchFamily="49" charset="0"/>
              </a:rPr>
              <a:t>(data, semantics)</a:t>
            </a:r>
            <a:endParaRPr lang="en-US" sz="1100" i="1">
              <a:latin typeface="Consolas" panose="020B0609020204030204" pitchFamily="49" charset="0"/>
            </a:endParaRPr>
          </a:p>
          <a:p>
            <a:endParaRPr lang="en-US" sz="1100" i="1">
              <a:latin typeface="Consolas" panose="020B0609020204030204" pitchFamily="49" charset="0"/>
            </a:endParaRPr>
          </a:p>
          <a:p>
            <a:r>
              <a:rPr lang="en-US" sz="1100" b="1">
                <a:latin typeface="Consolas" panose="020B0609020204030204" pitchFamily="49" charset="0"/>
              </a:rPr>
              <a:t>Methods</a:t>
            </a:r>
          </a:p>
          <a:p>
            <a:r>
              <a:rPr lang="en-US" sz="1100" i="1">
                <a:latin typeface="Consolas" panose="020B0609020204030204" pitchFamily="49" charset="0"/>
              </a:rPr>
              <a:t>filter_by_entities</a:t>
            </a:r>
            <a:r>
              <a:rPr lang="en-US" sz="1100">
                <a:latin typeface="Consolas" panose="020B0609020204030204" pitchFamily="49" charset="0"/>
              </a:rPr>
              <a:t>(ids) -&gt; Occurrences</a:t>
            </a:r>
          </a:p>
          <a:p>
            <a:r>
              <a:rPr lang="en-US" sz="1100" i="1">
                <a:latin typeface="Consolas" panose="020B0609020204030204" pitchFamily="49" charset="0"/>
              </a:rPr>
              <a:t>filter_by_dates</a:t>
            </a:r>
            <a:r>
              <a:rPr lang="en-US" sz="1100">
                <a:latin typeface="Consolas" panose="020B0609020204030204" pitchFamily="49" charset="0"/>
              </a:rPr>
              <a:t>(start, end) -&gt; Occurrences</a:t>
            </a:r>
            <a:br>
              <a:rPr lang="en-US" sz="1100">
                <a:latin typeface="Consolas" panose="020B0609020204030204" pitchFamily="49" charset="0"/>
              </a:rPr>
            </a:br>
            <a:r>
              <a:rPr lang="en-US" sz="1100" i="1">
                <a:latin typeface="Consolas" panose="020B0609020204030204" pitchFamily="49" charset="0"/>
              </a:rPr>
              <a:t>count_per_entity</a:t>
            </a:r>
            <a:r>
              <a:rPr lang="en-US" sz="1100">
                <a:latin typeface="Consolas" panose="020B0609020204030204" pitchFamily="49" charset="0"/>
              </a:rPr>
              <a:t>() -&gt; pd.Series</a:t>
            </a:r>
          </a:p>
          <a:p>
            <a:r>
              <a:rPr lang="en-US" sz="1100" i="1">
                <a:latin typeface="Consolas" panose="020B0609020204030204" pitchFamily="49" charset="0"/>
              </a:rPr>
              <a:t>copy</a:t>
            </a:r>
            <a:r>
              <a:rPr lang="en-US" sz="1100">
                <a:latin typeface="Consolas" panose="020B0609020204030204" pitchFamily="49" charset="0"/>
              </a:rPr>
              <a:t>() -&gt; Occurrences</a:t>
            </a:r>
            <a:br>
              <a:rPr lang="en-US" sz="1100">
                <a:latin typeface="Consolas" panose="020B0609020204030204" pitchFamily="49" charset="0"/>
              </a:rPr>
            </a:br>
            <a:r>
              <a:rPr lang="en-US" sz="1100">
                <a:latin typeface="Consolas" panose="020B0609020204030204" pitchFamily="49" charset="0"/>
              </a:rPr>
              <a:t>build_</a:t>
            </a:r>
            <a:r>
              <a:rPr lang="en-US" sz="1100" i="1">
                <a:latin typeface="Consolas" panose="020B0609020204030204" pitchFamily="49" charset="0"/>
              </a:rPr>
              <a:t>summary</a:t>
            </a:r>
            <a:r>
              <a:rPr lang="en-US" sz="1100">
                <a:latin typeface="Consolas" panose="020B0609020204030204" pitchFamily="49" charset="0"/>
              </a:rPr>
              <a:t>() -&gt; dict</a:t>
            </a:r>
          </a:p>
          <a:p>
            <a:r>
              <a:rPr lang="en-US" sz="1100">
                <a:latin typeface="Consolas" panose="020B0609020204030204" pitchFamily="49" charset="0"/>
              </a:rPr>
              <a:t>print_summary() -&gt; None</a:t>
            </a:r>
          </a:p>
          <a:p>
            <a:endParaRPr lang="en-US" sz="1100" i="1">
              <a:latin typeface="Consolas" panose="020B0609020204030204" pitchFamily="49" charset="0"/>
            </a:endParaRPr>
          </a:p>
          <a:p>
            <a:r>
              <a:rPr lang="en-US" sz="1100" i="1">
                <a:latin typeface="Consolas" panose="020B0609020204030204" pitchFamily="49" charset="0"/>
              </a:rPr>
              <a:t>__len__ </a:t>
            </a:r>
            <a:r>
              <a:rPr lang="en-US" sz="1100">
                <a:latin typeface="Consolas" panose="020B0609020204030204" pitchFamily="49" charset="0"/>
              </a:rPr>
              <a:t>-&gt; int</a:t>
            </a:r>
          </a:p>
          <a:p>
            <a:r>
              <a:rPr lang="en-US" sz="1100" i="1">
                <a:latin typeface="Consolas" panose="020B0609020204030204" pitchFamily="49" charset="0"/>
              </a:rPr>
              <a:t>__repr__</a:t>
            </a:r>
            <a:r>
              <a:rPr lang="en-US" sz="1100">
                <a:latin typeface="Consolas" panose="020B0609020204030204" pitchFamily="49" charset="0"/>
              </a:rPr>
              <a:t> -&gt; str</a:t>
            </a:r>
          </a:p>
          <a:p>
            <a:endParaRPr lang="en-US" sz="1100">
              <a:latin typeface="Consolas" panose="020B0609020204030204" pitchFamily="49" charset="0"/>
            </a:endParaRPr>
          </a:p>
        </p:txBody>
      </p:sp>
      <p:sp>
        <p:nvSpPr>
          <p:cNvPr id="2" name="TextBox 1">
            <a:extLst>
              <a:ext uri="{FF2B5EF4-FFF2-40B4-BE49-F238E27FC236}">
                <a16:creationId xmlns:a16="http://schemas.microsoft.com/office/drawing/2014/main" id="{67E08284-8D1E-414D-07F5-3F1D9E3EE10B}"/>
              </a:ext>
            </a:extLst>
          </p:cNvPr>
          <p:cNvSpPr txBox="1"/>
          <p:nvPr/>
        </p:nvSpPr>
        <p:spPr>
          <a:xfrm>
            <a:off x="209005" y="2773998"/>
            <a:ext cx="2468881" cy="646331"/>
          </a:xfrm>
          <a:prstGeom prst="rect">
            <a:avLst/>
          </a:prstGeom>
          <a:noFill/>
          <a:ln>
            <a:solidFill>
              <a:schemeClr val="accent5">
                <a:lumMod val="20000"/>
                <a:lumOff val="80000"/>
              </a:schemeClr>
            </a:solidFill>
          </a:ln>
          <a:effectLst>
            <a:glow rad="101600">
              <a:schemeClr val="accent2">
                <a:satMod val="175000"/>
                <a:alpha val="40000"/>
              </a:schemeClr>
            </a:glow>
          </a:effectLst>
          <a:scene3d>
            <a:camera prst="orthographicFront"/>
            <a:lightRig rig="threePt" dir="t"/>
          </a:scene3d>
          <a:sp3d>
            <a:bevelT w="114300" prst="artDeco"/>
          </a:sp3d>
        </p:spPr>
        <p:txBody>
          <a:bodyPr wrap="square" rtlCol="0">
            <a:spAutoFit/>
          </a:bodyPr>
          <a:lstStyle/>
          <a:p>
            <a:pPr algn="ctr"/>
            <a:r>
              <a:rPr lang="en-US" sz="1200" b="1">
                <a:latin typeface="Consolas" panose="020B0609020204030204" pitchFamily="49" charset="0"/>
                <a:cs typeface="Times New Roman" panose="02020603050405020304" pitchFamily="18" charset="0"/>
              </a:rPr>
              <a:t>OccurrencesPerEntity</a:t>
            </a:r>
          </a:p>
          <a:p>
            <a:pPr algn="ctr"/>
            <a:r>
              <a:rPr lang="en-US" sz="1200">
                <a:latin typeface="Centaur" panose="02030504050205020304" pitchFamily="18" charset="0"/>
                <a:cs typeface="Times New Roman" panose="02020603050405020304" pitchFamily="18" charset="0"/>
              </a:rPr>
              <a:t>data: pd.Dataframe</a:t>
            </a:r>
          </a:p>
          <a:p>
            <a:pPr algn="ctr"/>
            <a:r>
              <a:rPr lang="en-US" sz="1200">
                <a:latin typeface="Centaur" panose="02030504050205020304" pitchFamily="18" charset="0"/>
                <a:cs typeface="Times New Roman" panose="02020603050405020304" pitchFamily="18" charset="0"/>
              </a:rPr>
              <a:t>semantics: EventSemantics</a:t>
            </a:r>
          </a:p>
        </p:txBody>
      </p:sp>
      <p:sp>
        <p:nvSpPr>
          <p:cNvPr id="5" name="TextBox 4">
            <a:extLst>
              <a:ext uri="{FF2B5EF4-FFF2-40B4-BE49-F238E27FC236}">
                <a16:creationId xmlns:a16="http://schemas.microsoft.com/office/drawing/2014/main" id="{7F8C5E50-F235-8397-C119-EB02DE6FCEA2}"/>
              </a:ext>
            </a:extLst>
          </p:cNvPr>
          <p:cNvSpPr txBox="1"/>
          <p:nvPr/>
        </p:nvSpPr>
        <p:spPr>
          <a:xfrm>
            <a:off x="2868387" y="2697054"/>
            <a:ext cx="5882640" cy="1277273"/>
          </a:xfrm>
          <a:prstGeom prst="rect">
            <a:avLst/>
          </a:prstGeom>
          <a:noFill/>
        </p:spPr>
        <p:txBody>
          <a:bodyPr wrap="square" rtlCol="0">
            <a:spAutoFit/>
          </a:bodyPr>
          <a:lstStyle/>
          <a:p>
            <a:r>
              <a:rPr lang="en-US" sz="1100" b="1">
                <a:latin typeface="Consolas" panose="020B0609020204030204" pitchFamily="49" charset="0"/>
              </a:rPr>
              <a:t>Constructor</a:t>
            </a:r>
          </a:p>
          <a:p>
            <a:r>
              <a:rPr lang="en-US" sz="1100" i="1">
                <a:latin typeface="Consolas" panose="020B0609020204030204" pitchFamily="49" charset="0"/>
              </a:rPr>
              <a:t>__init__</a:t>
            </a:r>
            <a:r>
              <a:rPr lang="en-US" sz="1100">
                <a:latin typeface="Consolas" panose="020B0609020204030204" pitchFamily="49" charset="0"/>
              </a:rPr>
              <a:t>(data, semantics)</a:t>
            </a:r>
            <a:br>
              <a:rPr lang="en-US" sz="1100">
                <a:latin typeface="Consolas" panose="020B0609020204030204" pitchFamily="49" charset="0"/>
              </a:rPr>
            </a:br>
            <a:br>
              <a:rPr lang="en-US" sz="1100">
                <a:latin typeface="Consolas" panose="020B0609020204030204" pitchFamily="49" charset="0"/>
              </a:rPr>
            </a:br>
            <a:r>
              <a:rPr lang="en-US" sz="1100" b="1">
                <a:latin typeface="Consolas" panose="020B0609020204030204" pitchFamily="49" charset="0"/>
              </a:rPr>
              <a:t>Methods</a:t>
            </a:r>
          </a:p>
          <a:p>
            <a:r>
              <a:rPr lang="en-US" sz="1100" i="1">
                <a:latin typeface="Consolas" panose="020B0609020204030204" pitchFamily="49" charset="0"/>
              </a:rPr>
              <a:t>filter_by_entities</a:t>
            </a:r>
            <a:r>
              <a:rPr lang="en-US" sz="1100">
                <a:latin typeface="Consolas" panose="020B0609020204030204" pitchFamily="49" charset="0"/>
              </a:rPr>
              <a:t>(ids) -&gt; OccurrencesPerEntity</a:t>
            </a:r>
          </a:p>
          <a:p>
            <a:r>
              <a:rPr lang="en-US" sz="1100" i="1">
                <a:latin typeface="Consolas" panose="020B0609020204030204" pitchFamily="49" charset="0"/>
              </a:rPr>
              <a:t>copy</a:t>
            </a:r>
            <a:r>
              <a:rPr lang="en-US" sz="1100">
                <a:latin typeface="Consolas" panose="020B0609020204030204" pitchFamily="49" charset="0"/>
              </a:rPr>
              <a:t>() -&gt; OccurrencesPerEntity</a:t>
            </a:r>
          </a:p>
          <a:p>
            <a:r>
              <a:rPr lang="en-US" sz="1100" i="1">
                <a:latin typeface="Consolas" panose="020B0609020204030204" pitchFamily="49" charset="0"/>
              </a:rPr>
              <a:t>build_obs_period</a:t>
            </a:r>
            <a:r>
              <a:rPr lang="en-US" sz="1100">
                <a:latin typeface="Consolas" panose="020B0609020204030204" pitchFamily="49" charset="0"/>
              </a:rPr>
              <a:t>(identity) -&gt; ObsPeriodPerEntity</a:t>
            </a:r>
          </a:p>
        </p:txBody>
      </p:sp>
      <p:cxnSp>
        <p:nvCxnSpPr>
          <p:cNvPr id="9" name="Straight Arrow Connector 8">
            <a:extLst>
              <a:ext uri="{FF2B5EF4-FFF2-40B4-BE49-F238E27FC236}">
                <a16:creationId xmlns:a16="http://schemas.microsoft.com/office/drawing/2014/main" id="{0A5D7157-F928-F497-117B-0D68CB795CF9}"/>
              </a:ext>
            </a:extLst>
          </p:cNvPr>
          <p:cNvCxnSpPr/>
          <p:nvPr/>
        </p:nvCxnSpPr>
        <p:spPr>
          <a:xfrm>
            <a:off x="1574074" y="1012371"/>
            <a:ext cx="0" cy="1031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4537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741CD-442A-48C1-FEBA-922C7337E4B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76CFAC5-166D-E319-06DE-99DAECA2E323}"/>
              </a:ext>
            </a:extLst>
          </p:cNvPr>
          <p:cNvSpPr txBox="1"/>
          <p:nvPr/>
        </p:nvSpPr>
        <p:spPr>
          <a:xfrm>
            <a:off x="3554965" y="90020"/>
            <a:ext cx="5882640" cy="1015663"/>
          </a:xfrm>
          <a:prstGeom prst="rect">
            <a:avLst/>
          </a:prstGeom>
          <a:noFill/>
        </p:spPr>
        <p:txBody>
          <a:bodyPr wrap="square" rtlCol="0">
            <a:spAutoFit/>
          </a:bodyPr>
          <a:lstStyle/>
          <a:p>
            <a:r>
              <a:rPr lang="en-US" sz="1200" b="1">
                <a:latin typeface="Consolas" panose="020B0609020204030204" pitchFamily="49" charset="0"/>
              </a:rPr>
              <a:t>Constructor</a:t>
            </a:r>
          </a:p>
          <a:p>
            <a:r>
              <a:rPr lang="en-US" sz="1200" i="1">
                <a:latin typeface="Consolas" panose="020B0609020204030204" pitchFamily="49" charset="0"/>
              </a:rPr>
              <a:t>__init__</a:t>
            </a:r>
            <a:r>
              <a:rPr lang="en-US" sz="1200">
                <a:latin typeface="Consolas" panose="020B0609020204030204" pitchFamily="49" charset="0"/>
              </a:rPr>
              <a:t>(events, obs_period, entity_col, meaningful_gap)</a:t>
            </a:r>
          </a:p>
          <a:p>
            <a:endParaRPr lang="en-US" sz="1200">
              <a:latin typeface="Consolas" panose="020B0609020204030204" pitchFamily="49" charset="0"/>
            </a:endParaRPr>
          </a:p>
          <a:p>
            <a:r>
              <a:rPr lang="en-US" sz="1200" b="1">
                <a:latin typeface="Consolas" panose="020B0609020204030204" pitchFamily="49" charset="0"/>
              </a:rPr>
              <a:t>Methods</a:t>
            </a:r>
          </a:p>
          <a:p>
            <a:r>
              <a:rPr lang="en-US" sz="1200">
                <a:latin typeface="Consolas" panose="020B0609020204030204" pitchFamily="49" charset="0"/>
              </a:rPr>
              <a:t>compute_event_coverage() -&gt; PipeDelimitedIntermediateEvents</a:t>
            </a:r>
          </a:p>
        </p:txBody>
      </p:sp>
      <p:sp>
        <p:nvSpPr>
          <p:cNvPr id="2" name="TextBox 1">
            <a:extLst>
              <a:ext uri="{FF2B5EF4-FFF2-40B4-BE49-F238E27FC236}">
                <a16:creationId xmlns:a16="http://schemas.microsoft.com/office/drawing/2014/main" id="{15A6BAD4-18E2-1E61-2416-BD0C516639CC}"/>
              </a:ext>
            </a:extLst>
          </p:cNvPr>
          <p:cNvSpPr txBox="1"/>
          <p:nvPr/>
        </p:nvSpPr>
        <p:spPr>
          <a:xfrm>
            <a:off x="182879" y="90020"/>
            <a:ext cx="3307081" cy="1107996"/>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100" b="1">
                <a:latin typeface="Consolas" panose="020B0609020204030204" pitchFamily="49" charset="0"/>
                <a:cs typeface="Times New Roman" panose="02020603050405020304" pitchFamily="18" charset="0"/>
              </a:rPr>
              <a:t>EventsWithinObsPeriodAnalyzer</a:t>
            </a:r>
          </a:p>
          <a:p>
            <a:pPr algn="ctr"/>
            <a:r>
              <a:rPr lang="en-US" sz="1100">
                <a:latin typeface="Consolas" panose="020B0609020204030204" pitchFamily="49" charset="0"/>
                <a:cs typeface="Times New Roman" panose="02020603050405020304" pitchFamily="18" charset="0"/>
              </a:rPr>
              <a:t>events: Events</a:t>
            </a:r>
          </a:p>
          <a:p>
            <a:pPr algn="ctr"/>
            <a:r>
              <a:rPr lang="en-US" sz="1100">
                <a:latin typeface="Consolas" panose="020B0609020204030204" pitchFamily="49" charset="0"/>
                <a:cs typeface="Times New Roman" panose="02020603050405020304" pitchFamily="18" charset="0"/>
              </a:rPr>
              <a:t>obs_period: ObsPeriodPerEntity</a:t>
            </a:r>
          </a:p>
          <a:p>
            <a:pPr algn="ctr"/>
            <a:r>
              <a:rPr lang="en-US" sz="1100">
                <a:latin typeface="Consolas" panose="020B0609020204030204" pitchFamily="49" charset="0"/>
                <a:cs typeface="Times New Roman" panose="02020603050405020304" pitchFamily="18" charset="0"/>
              </a:rPr>
              <a:t>entity_col: str | None</a:t>
            </a:r>
            <a:br>
              <a:rPr lang="en-US" sz="1100">
                <a:latin typeface="Consolas" panose="020B0609020204030204" pitchFamily="49" charset="0"/>
                <a:cs typeface="Times New Roman" panose="02020603050405020304" pitchFamily="18" charset="0"/>
              </a:rPr>
            </a:br>
            <a:r>
              <a:rPr lang="en-US" sz="1100">
                <a:latin typeface="Consolas" panose="020B0609020204030204" pitchFamily="49" charset="0"/>
                <a:cs typeface="Times New Roman" panose="02020603050405020304" pitchFamily="18" charset="0"/>
              </a:rPr>
              <a:t>meaningful_gap: int</a:t>
            </a:r>
          </a:p>
          <a:p>
            <a:pPr algn="ctr"/>
            <a:endParaRPr lang="en-US" sz="1100" b="1">
              <a:latin typeface="Consolas" panose="020B0609020204030204" pitchFamily="49" charset="0"/>
              <a:cs typeface="Times New Roman" panose="02020603050405020304" pitchFamily="18" charset="0"/>
            </a:endParaRPr>
          </a:p>
        </p:txBody>
      </p:sp>
      <p:sp>
        <p:nvSpPr>
          <p:cNvPr id="6" name="TextBox 5">
            <a:extLst>
              <a:ext uri="{FF2B5EF4-FFF2-40B4-BE49-F238E27FC236}">
                <a16:creationId xmlns:a16="http://schemas.microsoft.com/office/drawing/2014/main" id="{701E673B-A06A-9CD5-C4EC-D0BDECD5F542}"/>
              </a:ext>
            </a:extLst>
          </p:cNvPr>
          <p:cNvSpPr txBox="1"/>
          <p:nvPr/>
        </p:nvSpPr>
        <p:spPr>
          <a:xfrm>
            <a:off x="104503" y="1721667"/>
            <a:ext cx="3385457" cy="1446550"/>
          </a:xfrm>
          <a:prstGeom prst="rect">
            <a:avLst/>
          </a:prstGeom>
          <a:ln w="38100">
            <a:solidFill>
              <a:srgbClr val="7030A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100" b="1">
                <a:latin typeface="Consolas" panose="020B0609020204030204" pitchFamily="49" charset="0"/>
                <a:cs typeface="Times New Roman" panose="02020603050405020304" pitchFamily="18" charset="0"/>
              </a:rPr>
              <a:t>StackedTimelinePlotterConfig</a:t>
            </a:r>
          </a:p>
          <a:p>
            <a:pPr algn="ctr"/>
            <a:r>
              <a:rPr lang="en-US" sz="1100">
                <a:latin typeface="Consolas" panose="020B0609020204030204" pitchFamily="49" charset="0"/>
                <a:cs typeface="Times New Roman" panose="02020603050405020304" pitchFamily="18" charset="0"/>
              </a:rPr>
              <a:t>general: GeneralConfig</a:t>
            </a:r>
            <a:br>
              <a:rPr lang="en-US" sz="1100">
                <a:latin typeface="Consolas" panose="020B0609020204030204" pitchFamily="49" charset="0"/>
                <a:cs typeface="Times New Roman" panose="02020603050405020304" pitchFamily="18" charset="0"/>
              </a:rPr>
            </a:br>
            <a:r>
              <a:rPr lang="en-US" sz="1100">
                <a:latin typeface="Consolas" panose="020B0609020204030204" pitchFamily="49" charset="0"/>
                <a:cs typeface="Times New Roman" panose="02020603050405020304" pitchFamily="18" charset="0"/>
              </a:rPr>
              <a:t>span: SpanConfig</a:t>
            </a:r>
          </a:p>
          <a:p>
            <a:pPr algn="ctr"/>
            <a:r>
              <a:rPr lang="en-US" sz="1100">
                <a:latin typeface="Consolas" panose="020B0609020204030204" pitchFamily="49" charset="0"/>
                <a:cs typeface="Times New Roman" panose="02020603050405020304" pitchFamily="18" charset="0"/>
              </a:rPr>
              <a:t>event_settings: list[EventLayerConfig]</a:t>
            </a:r>
            <a:br>
              <a:rPr lang="en-US" sz="1100">
                <a:latin typeface="Consolas" panose="020B0609020204030204" pitchFamily="49" charset="0"/>
                <a:cs typeface="Times New Roman" panose="02020603050405020304" pitchFamily="18" charset="0"/>
              </a:rPr>
            </a:br>
            <a:r>
              <a:rPr lang="en-US" sz="1100">
                <a:latin typeface="Consolas" panose="020B0609020204030204" pitchFamily="49" charset="0"/>
                <a:cs typeface="Times New Roman" panose="02020603050405020304" pitchFamily="18" charset="0"/>
              </a:rPr>
              <a:t>occurrences_settings: list[OccLayerConfig]</a:t>
            </a:r>
          </a:p>
          <a:p>
            <a:pPr algn="ctr"/>
            <a:r>
              <a:rPr lang="en-US" sz="1100">
                <a:latin typeface="Consolas" panose="020B0609020204030204" pitchFamily="49" charset="0"/>
                <a:cs typeface="Times New Roman" panose="02020603050405020304" pitchFamily="18" charset="0"/>
              </a:rPr>
              <a:t>legend: LegendConfig</a:t>
            </a:r>
            <a:br>
              <a:rPr lang="en-US" sz="1100">
                <a:latin typeface="Consolas" panose="020B0609020204030204" pitchFamily="49" charset="0"/>
                <a:cs typeface="Times New Roman" panose="02020603050405020304" pitchFamily="18" charset="0"/>
              </a:rPr>
            </a:br>
            <a:r>
              <a:rPr lang="en-US" sz="1100">
                <a:latin typeface="Consolas" panose="020B0609020204030204" pitchFamily="49" charset="0"/>
                <a:cs typeface="Times New Roman" panose="02020603050405020304" pitchFamily="18" charset="0"/>
              </a:rPr>
              <a:t>x_axis_labels: XAxisConfig</a:t>
            </a:r>
          </a:p>
          <a:p>
            <a:pPr algn="ctr"/>
            <a:endParaRPr lang="en-US" sz="1100" b="1">
              <a:latin typeface="Consolas" panose="020B0609020204030204" pitchFamily="49" charset="0"/>
              <a:cs typeface="Times New Roman" panose="02020603050405020304" pitchFamily="18" charset="0"/>
            </a:endParaRPr>
          </a:p>
        </p:txBody>
      </p:sp>
      <p:sp>
        <p:nvSpPr>
          <p:cNvPr id="8" name="TextBox 7">
            <a:extLst>
              <a:ext uri="{FF2B5EF4-FFF2-40B4-BE49-F238E27FC236}">
                <a16:creationId xmlns:a16="http://schemas.microsoft.com/office/drawing/2014/main" id="{3A5A075B-09CE-4551-F0E3-09897A8521B2}"/>
              </a:ext>
            </a:extLst>
          </p:cNvPr>
          <p:cNvSpPr txBox="1"/>
          <p:nvPr/>
        </p:nvSpPr>
        <p:spPr>
          <a:xfrm>
            <a:off x="3699355" y="1721667"/>
            <a:ext cx="5882640" cy="276999"/>
          </a:xfrm>
          <a:prstGeom prst="rect">
            <a:avLst/>
          </a:prstGeom>
          <a:noFill/>
        </p:spPr>
        <p:txBody>
          <a:bodyPr wrap="square" rtlCol="0">
            <a:spAutoFit/>
          </a:bodyPr>
          <a:lstStyle/>
          <a:p>
            <a:r>
              <a:rPr lang="en-US" sz="1200" b="1">
                <a:latin typeface="Consolas" panose="020B0609020204030204" pitchFamily="49" charset="0"/>
              </a:rPr>
              <a:t>***</a:t>
            </a:r>
          </a:p>
        </p:txBody>
      </p:sp>
      <p:sp>
        <p:nvSpPr>
          <p:cNvPr id="3" name="TextBox 2">
            <a:extLst>
              <a:ext uri="{FF2B5EF4-FFF2-40B4-BE49-F238E27FC236}">
                <a16:creationId xmlns:a16="http://schemas.microsoft.com/office/drawing/2014/main" id="{669A410E-5A3A-20EC-7072-8850352B2A08}"/>
              </a:ext>
            </a:extLst>
          </p:cNvPr>
          <p:cNvSpPr txBox="1"/>
          <p:nvPr/>
        </p:nvSpPr>
        <p:spPr>
          <a:xfrm>
            <a:off x="104503" y="3832407"/>
            <a:ext cx="3385457" cy="769441"/>
          </a:xfrm>
          <a:prstGeom prst="rect">
            <a:avLst/>
          </a:prstGeom>
          <a:ln w="38100">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100" b="1">
                <a:latin typeface="Consolas" panose="020B0609020204030204" pitchFamily="49" charset="0"/>
                <a:cs typeface="Times New Roman" panose="02020603050405020304" pitchFamily="18" charset="0"/>
              </a:rPr>
              <a:t>StackedTimelinePlotter</a:t>
            </a:r>
          </a:p>
          <a:p>
            <a:pPr algn="ctr"/>
            <a:r>
              <a:rPr lang="en-US" sz="1100">
                <a:latin typeface="Consolas" panose="020B0609020204030204" pitchFamily="49" charset="0"/>
                <a:cs typeface="Times New Roman" panose="02020603050405020304" pitchFamily="18" charset="0"/>
              </a:rPr>
              <a:t>intermediate: PipeDelimitedIntermediate</a:t>
            </a:r>
          </a:p>
          <a:p>
            <a:pPr algn="ctr"/>
            <a:r>
              <a:rPr lang="en-US" sz="1100">
                <a:latin typeface="Consolas" panose="020B0609020204030204" pitchFamily="49" charset="0"/>
                <a:cs typeface="Times New Roman" panose="02020603050405020304" pitchFamily="18" charset="0"/>
              </a:rPr>
              <a:t>config: StackedTimelineConfig | None</a:t>
            </a:r>
          </a:p>
          <a:p>
            <a:pPr algn="ctr"/>
            <a:endParaRPr lang="en-US" sz="1100" b="1">
              <a:latin typeface="Consolas" panose="020B0609020204030204" pitchFamily="49" charset="0"/>
              <a:cs typeface="Times New Roman" panose="02020603050405020304" pitchFamily="18" charset="0"/>
            </a:endParaRPr>
          </a:p>
        </p:txBody>
      </p:sp>
      <p:sp>
        <p:nvSpPr>
          <p:cNvPr id="5" name="TextBox 4">
            <a:extLst>
              <a:ext uri="{FF2B5EF4-FFF2-40B4-BE49-F238E27FC236}">
                <a16:creationId xmlns:a16="http://schemas.microsoft.com/office/drawing/2014/main" id="{129EAA0A-E1D8-FF3B-96BF-9C626F925A40}"/>
              </a:ext>
            </a:extLst>
          </p:cNvPr>
          <p:cNvSpPr txBox="1"/>
          <p:nvPr/>
        </p:nvSpPr>
        <p:spPr>
          <a:xfrm>
            <a:off x="3707365" y="3762860"/>
            <a:ext cx="5882640" cy="938719"/>
          </a:xfrm>
          <a:prstGeom prst="rect">
            <a:avLst/>
          </a:prstGeom>
          <a:noFill/>
        </p:spPr>
        <p:txBody>
          <a:bodyPr wrap="square" rtlCol="0">
            <a:spAutoFit/>
          </a:bodyPr>
          <a:lstStyle/>
          <a:p>
            <a:r>
              <a:rPr lang="en-US" sz="1100" b="1">
                <a:latin typeface="Consolas" panose="020B0609020204030204" pitchFamily="49" charset="0"/>
              </a:rPr>
              <a:t>Constructor</a:t>
            </a:r>
          </a:p>
          <a:p>
            <a:r>
              <a:rPr lang="en-US" sz="1100" i="1">
                <a:latin typeface="Consolas" panose="020B0609020204030204" pitchFamily="49" charset="0"/>
              </a:rPr>
              <a:t>__init__</a:t>
            </a:r>
            <a:r>
              <a:rPr lang="en-US" sz="1100">
                <a:latin typeface="Consolas" panose="020B0609020204030204" pitchFamily="49" charset="0"/>
              </a:rPr>
              <a:t>(intermediate, config)</a:t>
            </a:r>
          </a:p>
          <a:p>
            <a:endParaRPr lang="en-US" sz="1100">
              <a:latin typeface="Consolas" panose="020B0609020204030204" pitchFamily="49" charset="0"/>
            </a:endParaRPr>
          </a:p>
          <a:p>
            <a:r>
              <a:rPr lang="en-US" sz="1100" b="1">
                <a:latin typeface="Consolas" panose="020B0609020204030204" pitchFamily="49" charset="0"/>
              </a:rPr>
              <a:t>Methods</a:t>
            </a:r>
          </a:p>
          <a:p>
            <a:r>
              <a:rPr lang="en-US" sz="1100">
                <a:latin typeface="Consolas" panose="020B0609020204030204" pitchFamily="49" charset="0"/>
              </a:rPr>
              <a:t>plot(path)</a:t>
            </a:r>
          </a:p>
        </p:txBody>
      </p:sp>
    </p:spTree>
    <p:extLst>
      <p:ext uri="{BB962C8B-B14F-4D97-AF65-F5344CB8AC3E}">
        <p14:creationId xmlns:p14="http://schemas.microsoft.com/office/powerpoint/2010/main" val="9343181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9809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243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8529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18629</TotalTime>
  <Words>4683</Words>
  <Application>Microsoft Office PowerPoint</Application>
  <PresentationFormat>On-screen Show (16:9)</PresentationFormat>
  <Paragraphs>412</Paragraphs>
  <Slides>65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Abadi</vt:lpstr>
      <vt:lpstr>Arial</vt:lpstr>
      <vt:lpstr>Centaur</vt:lpstr>
      <vt:lpstr>Consolas</vt:lpstr>
      <vt:lpstr>Montserrat</vt:lpstr>
      <vt:lpstr>Times New Roman</vt:lpstr>
      <vt:lpstr>Office Theme</vt:lpstr>
      <vt:lpstr>Vignette 1</vt:lpstr>
      <vt:lpstr>PowerPoint Presentation</vt:lpstr>
      <vt:lpstr>PowerPoint Presentation</vt:lpstr>
      <vt:lpstr>PowerPoint Presentation</vt:lpstr>
      <vt:lpstr>Bonus</vt:lpstr>
      <vt:lpstr>PowerPoint Presentation</vt:lpstr>
      <vt:lpstr>PowerPoint Presentation</vt:lpstr>
      <vt:lpstr>Architecture</vt:lpstr>
      <vt:lpstr>PowerPoint Presentation</vt:lpstr>
      <vt:lpstr>PowerPoint Presentation</vt:lpstr>
      <vt:lpstr>PowerPoint Presentation</vt:lpstr>
      <vt:lpstr>PowerPoint Presentation</vt:lpstr>
      <vt:lpstr>Vignette 2</vt:lpstr>
      <vt:lpstr>PowerPoint Presentation</vt:lpstr>
      <vt:lpstr>PowerPoint Presentation</vt:lpstr>
      <vt:lpstr>PowerPoint Presentation</vt:lpstr>
      <vt:lpstr>Vignette 3</vt:lpstr>
      <vt:lpstr>PowerPoint Presentation</vt:lpstr>
      <vt:lpstr>PowerPoint Presentation</vt:lpstr>
      <vt:lpstr>PowerPoint Presentation</vt:lpstr>
      <vt:lpstr>Stratification with Violin Plots</vt:lpstr>
      <vt:lpstr>PowerPoint Presentation</vt:lpstr>
      <vt:lpstr>PowerPoint Presentation</vt:lpstr>
      <vt:lpstr>Architecture: Object Honesty</vt:lpstr>
      <vt:lpstr>PowerPoint Presentation</vt:lpstr>
      <vt:lpstr>PowerPoint Presentation</vt:lpstr>
      <vt:lpstr>PowerPoint Presentation</vt:lpstr>
      <vt:lpstr>Vignette 4</vt:lpstr>
      <vt:lpstr>PowerPoint Presentation</vt:lpstr>
      <vt:lpstr>PowerPoint Presentation</vt:lpstr>
      <vt:lpstr>PowerPoint Presentation</vt:lpstr>
      <vt:lpstr>PowerPoint Presentation</vt:lpstr>
      <vt:lpstr>Architecture</vt:lpstr>
      <vt:lpstr>PowerPoint Presentation</vt:lpstr>
      <vt:lpstr>Vignette 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eventus: Architecture</dc:title>
  <dc:subject>PptxGenJS Presentation</dc:subject>
  <dc:creator>PptxGenJS</dc:creator>
  <cp:lastModifiedBy>Daniel Arenas</cp:lastModifiedBy>
  <cp:revision>54</cp:revision>
  <dcterms:created xsi:type="dcterms:W3CDTF">2026-04-01T00:19:55Z</dcterms:created>
  <dcterms:modified xsi:type="dcterms:W3CDTF">2026-05-19T19:28:29Z</dcterms:modified>
</cp:coreProperties>
</file>